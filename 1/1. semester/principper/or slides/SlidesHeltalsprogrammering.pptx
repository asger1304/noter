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715D-50B9-4BD0-4CAB-21B26B7F2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A9318-7F41-9FD7-44C7-46F1899F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18916-AA75-A185-2828-57E2F7B7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6C6F4-B1B3-3D46-75E2-E7BD2367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804B-B48F-D7DF-8695-A8ECC123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028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3FA1-604B-83FA-76A2-EC8727060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9F9D-8C16-EFCF-35BC-776864622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47BAB-20AF-0FE0-2575-9DDDE051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703D-860E-C56E-2FC3-D4E37DD8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423EF-05EF-C0CA-A311-020674EF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345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2FF7-F028-474B-E617-9296A7131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92B14-B85A-8323-4C6D-BCDFFB524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32463-C8A3-4552-07BB-981439CF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5D712-055A-ABDB-5A18-BB4278A1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D231B-01EF-A01E-22BF-D7B9FA1C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84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94D0-E73E-AB19-4D67-75301641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82621-925A-6EE9-29BB-42F9D1FF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B3188-9CB2-0170-8A4E-0C33F9FB2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559-A453-C024-14C0-FF47ABC1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A5352-433F-76C2-9473-9913C8A7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E4911-E474-ABE3-4F9D-55CBB28D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551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4B77-AA9B-D467-42FD-A38422AC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3DB98-AAFF-282B-AC7C-0BB49ACD1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80910-A4A0-9416-6FA6-233885CF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DD30A-40FE-ABC3-4260-B9E680C62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74195-98A2-15FE-C0C2-8F0E8BE16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AEAEC-8365-AF2A-259E-7A8D15A9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58652-1FBA-5157-6117-FADCFE28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CC1F94-DD48-116C-F901-7E66FEF3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94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8D75-51AB-8F30-EC66-1003CA80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AD223-0EF8-ED77-EDFF-31855B05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A2BB4-7086-EABF-F614-50E06C0B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D504B-2C6E-A24B-E9BE-7727CF08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43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725A4-E077-DFE5-B87B-09ED4967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2E17F-39EC-865B-8263-93B0BCCB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49519-8F4B-C12D-C057-D838BBA0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852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7D42-694D-93B7-E323-DB42BB39A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8271-272E-D82B-AADA-060377F82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2F064-3F2B-871F-81F2-F6BC067D2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03CAF-DB98-6501-BF6A-85E0D2AB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C017C-2D73-61BA-DC3E-354E699C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9BE50-051C-C673-5AE2-1F36580D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959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824C-392E-1435-3BEE-680E55BE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3B90F-FD5D-E950-DBB8-093B92226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F1D2B-CA61-C4FB-BC23-C7278F0E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42FFF-325B-BFD7-82A0-793420A4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0447B-4DCF-7D4A-D440-DFCAF85A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4D87A-5445-EDB8-BBB0-33A24816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577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4ADE-0F85-838F-9598-382E5041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D34DB-4882-A530-F56D-D9E4A9289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2104F-55A8-8910-6E4D-5A55890D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04B9-5C5C-C046-85C5-38473C48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7F41-9ACF-FEE7-28A5-3E97C6F2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143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34D05-7699-6A46-087C-624F265B6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79A56-43FD-10C6-EAD0-5FFF3E920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04912-B952-8A27-A97E-53F6DC72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4981-9D24-C66F-BB92-EB724ED9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30F6A-54F5-1F4E-C985-9E1331B7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172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87579-DB65-397C-556A-D2DA1817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E2E47-48D8-C713-7AE2-43CC2A0E1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57DD-CD52-FDAB-FBBD-4BAAFA7DD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2C383-6764-49E6-BCC7-4C001FFAB13E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619CF-CFC3-EF03-0D76-C44B3A66F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E8E25-39B6-5514-1AE6-5AA3C4163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E7438-416B-4D87-8D82-D61F34DB422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544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219C-230E-99A7-BCC5-29164D69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Heltalsprogrammering</a:t>
            </a:r>
            <a:r>
              <a:rPr lang="en-US" b="1" dirty="0"/>
              <a:t> (IP)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4B8AA-A61A-8AB0-680B-DE628B2A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Agenda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B050"/>
                </a:solidFill>
              </a:rPr>
              <a:t>Indledning</a:t>
            </a:r>
            <a:r>
              <a:rPr lang="en-US" dirty="0">
                <a:solidFill>
                  <a:srgbClr val="00B050"/>
                </a:solidFill>
              </a:rPr>
              <a:t> - motivation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70C0"/>
                </a:solidFill>
              </a:rPr>
              <a:t>Eksempler</a:t>
            </a:r>
            <a:r>
              <a:rPr lang="en-US" dirty="0">
                <a:solidFill>
                  <a:srgbClr val="0070C0"/>
                </a:solidFill>
              </a:rPr>
              <a:t> med </a:t>
            </a:r>
            <a:r>
              <a:rPr lang="en-US" dirty="0" err="1">
                <a:solidFill>
                  <a:srgbClr val="0070C0"/>
                </a:solidFill>
              </a:rPr>
              <a:t>med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enten-eller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beslutninger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FFC000"/>
                </a:solidFill>
              </a:rPr>
              <a:t>Hvordan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løser</a:t>
            </a:r>
            <a:r>
              <a:rPr lang="en-US" dirty="0">
                <a:solidFill>
                  <a:srgbClr val="FFC000"/>
                </a:solidFill>
              </a:rPr>
              <a:t> man et IP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7030A0"/>
                </a:solidFill>
              </a:rPr>
              <a:t>Hvorfor</a:t>
            </a:r>
            <a:r>
              <a:rPr lang="en-US" dirty="0">
                <a:solidFill>
                  <a:srgbClr val="7030A0"/>
                </a:solidFill>
              </a:rPr>
              <a:t> er IP </a:t>
            </a:r>
            <a:r>
              <a:rPr lang="en-US" dirty="0" err="1">
                <a:solidFill>
                  <a:srgbClr val="7030A0"/>
                </a:solidFill>
              </a:rPr>
              <a:t>svært</a:t>
            </a:r>
            <a:r>
              <a:rPr lang="en-US" dirty="0">
                <a:solidFill>
                  <a:srgbClr val="7030A0"/>
                </a:solidFill>
              </a:rPr>
              <a:t>? (utopia: </a:t>
            </a:r>
            <a:r>
              <a:rPr lang="en-US" dirty="0" err="1">
                <a:solidFill>
                  <a:srgbClr val="7030A0"/>
                </a:solidFill>
              </a:rPr>
              <a:t>gøre</a:t>
            </a:r>
            <a:r>
              <a:rPr lang="en-US" dirty="0">
                <a:solidFill>
                  <a:srgbClr val="7030A0"/>
                </a:solidFill>
              </a:rPr>
              <a:t> IP </a:t>
            </a:r>
            <a:r>
              <a:rPr lang="en-US" dirty="0" err="1">
                <a:solidFill>
                  <a:srgbClr val="7030A0"/>
                </a:solidFill>
              </a:rPr>
              <a:t>til</a:t>
            </a:r>
            <a:r>
              <a:rPr lang="en-US" dirty="0">
                <a:solidFill>
                  <a:srgbClr val="7030A0"/>
                </a:solidFill>
              </a:rPr>
              <a:t> et LP?)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TSP - Et </a:t>
            </a:r>
            <a:r>
              <a:rPr lang="en-US" dirty="0" err="1">
                <a:solidFill>
                  <a:srgbClr val="92D050"/>
                </a:solidFill>
              </a:rPr>
              <a:t>klassisk</a:t>
            </a:r>
            <a:r>
              <a:rPr lang="en-US" dirty="0">
                <a:solidFill>
                  <a:srgbClr val="92D050"/>
                </a:solidFill>
              </a:rPr>
              <a:t> IP der (</a:t>
            </a:r>
            <a:r>
              <a:rPr lang="en-US" dirty="0" err="1">
                <a:solidFill>
                  <a:srgbClr val="92D050"/>
                </a:solidFill>
              </a:rPr>
              <a:t>næsten</a:t>
            </a:r>
            <a:r>
              <a:rPr lang="en-US" dirty="0">
                <a:solidFill>
                  <a:srgbClr val="92D050"/>
                </a:solidFill>
              </a:rPr>
              <a:t>) </a:t>
            </a:r>
            <a:r>
              <a:rPr lang="en-US" dirty="0" err="1">
                <a:solidFill>
                  <a:srgbClr val="92D050"/>
                </a:solidFill>
              </a:rPr>
              <a:t>ikke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 err="1">
                <a:solidFill>
                  <a:srgbClr val="92D050"/>
                </a:solidFill>
              </a:rPr>
              <a:t>kan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 err="1">
                <a:solidFill>
                  <a:srgbClr val="92D050"/>
                </a:solidFill>
              </a:rPr>
              <a:t>formuleres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 err="1">
                <a:solidFill>
                  <a:srgbClr val="92D050"/>
                </a:solidFill>
              </a:rPr>
              <a:t>matematisk</a:t>
            </a:r>
            <a:endParaRPr lang="en-US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accent2"/>
                </a:solidFill>
              </a:rPr>
              <a:t>Brug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af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binære</a:t>
            </a:r>
            <a:r>
              <a:rPr lang="en-US" dirty="0">
                <a:solidFill>
                  <a:schemeClr val="accent2"/>
                </a:solidFill>
              </a:rPr>
              <a:t> variable at </a:t>
            </a:r>
            <a:r>
              <a:rPr lang="en-US" dirty="0" err="1">
                <a:solidFill>
                  <a:schemeClr val="accent2"/>
                </a:solidFill>
              </a:rPr>
              <a:t>håndtere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faste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omkostninger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og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opstillingstid</a:t>
            </a:r>
            <a:endParaRPr lang="da-DK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18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052736"/>
          </a:xfrm>
        </p:spPr>
        <p:txBody>
          <a:bodyPr/>
          <a:lstStyle/>
          <a:p>
            <a:r>
              <a:rPr lang="da-DK" b="1" dirty="0"/>
              <a:t>Hvorfor </a:t>
            </a:r>
            <a:r>
              <a:rPr lang="da-DK" b="1" dirty="0" err="1"/>
              <a:t>heltalsprogramering</a:t>
            </a:r>
            <a:r>
              <a:rPr lang="da-DK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736"/>
            <a:ext cx="12192000" cy="5805264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Mange variable kan i sagens natur kun være </a:t>
            </a:r>
            <a:r>
              <a:rPr lang="da-DK" b="1" dirty="0" err="1">
                <a:solidFill>
                  <a:srgbClr val="FF0000"/>
                </a:solidFill>
              </a:rPr>
              <a:t>heltallige</a:t>
            </a:r>
            <a:endParaRPr lang="da-DK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rgbClr val="92D050"/>
                </a:solidFill>
              </a:rPr>
              <a:t>Antal producerede biler i måned y</a:t>
            </a:r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</a:rPr>
              <a:t>Skal kunde besøges dag x ?</a:t>
            </a:r>
          </a:p>
          <a:p>
            <a:pPr marL="0" indent="0">
              <a:buNone/>
            </a:pPr>
            <a:r>
              <a:rPr lang="da-DK" dirty="0">
                <a:solidFill>
                  <a:srgbClr val="FFC000"/>
                </a:solidFill>
              </a:rPr>
              <a:t>Skal depot opføres i by z 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Det giver klart ikke mening at producere 267,6 biler (afrunde???)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De to sidste eksempler på </a:t>
            </a:r>
            <a:r>
              <a:rPr lang="da-DK" b="1" dirty="0">
                <a:solidFill>
                  <a:srgbClr val="7030A0"/>
                </a:solidFill>
              </a:rPr>
              <a:t>binære (0-1) variable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2526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052736"/>
          </a:xfrm>
        </p:spPr>
        <p:txBody>
          <a:bodyPr/>
          <a:lstStyle/>
          <a:p>
            <a:r>
              <a:rPr lang="da-DK" b="1" dirty="0"/>
              <a:t>Afrunding fra LP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10668000" cy="5589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Hvis man fra LP model (for et produktionsplanlægningsproblem) fik output: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b="1" dirty="0"/>
              <a:t>Produktionsplan</a:t>
            </a:r>
            <a:r>
              <a:rPr lang="da-DK" dirty="0"/>
              <a:t>:</a:t>
            </a:r>
          </a:p>
          <a:p>
            <a:pPr marL="0" indent="0">
              <a:buNone/>
            </a:pPr>
            <a:r>
              <a:rPr lang="da-DK" dirty="0"/>
              <a:t>producer</a:t>
            </a:r>
          </a:p>
          <a:p>
            <a:pPr marL="0" indent="0">
              <a:buNone/>
            </a:pPr>
            <a:r>
              <a:rPr lang="da-DK" dirty="0"/>
              <a:t>231,8 stk. af produkt 1</a:t>
            </a:r>
          </a:p>
          <a:p>
            <a:pPr marL="0" indent="0">
              <a:buNone/>
            </a:pPr>
            <a:r>
              <a:rPr lang="da-DK" dirty="0"/>
              <a:t>348,1 stk. af produkt 2</a:t>
            </a:r>
          </a:p>
          <a:p>
            <a:pPr marL="0" indent="0">
              <a:buNone/>
            </a:pPr>
            <a:r>
              <a:rPr lang="da-DK" dirty="0"/>
              <a:t>723,6 stk. af produkt 3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afrunde til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232</a:t>
            </a:r>
          </a:p>
          <a:p>
            <a:pPr marL="0" indent="0">
              <a:buNone/>
            </a:pPr>
            <a:r>
              <a:rPr lang="da-DK" dirty="0"/>
              <a:t>348</a:t>
            </a:r>
          </a:p>
          <a:p>
            <a:pPr marL="0" indent="0">
              <a:buNone/>
            </a:pPr>
            <a:r>
              <a:rPr lang="da-DK" dirty="0"/>
              <a:t>724</a:t>
            </a:r>
          </a:p>
        </p:txBody>
      </p:sp>
    </p:spTree>
    <p:extLst>
      <p:ext uri="{BB962C8B-B14F-4D97-AF65-F5344CB8AC3E}">
        <p14:creationId xmlns:p14="http://schemas.microsoft.com/office/powerpoint/2010/main" val="1831870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/>
          <a:lstStyle/>
          <a:p>
            <a:r>
              <a:rPr lang="da-DK" b="1" dirty="0"/>
              <a:t>Afrunding fra LP model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4744"/>
            <a:ext cx="12192000" cy="5733256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Der er selvfølgelig </a:t>
            </a:r>
            <a:r>
              <a:rPr lang="da-DK" b="1" dirty="0">
                <a:solidFill>
                  <a:srgbClr val="FF0000"/>
                </a:solidFill>
              </a:rPr>
              <a:t>principielle problemer </a:t>
            </a:r>
            <a:r>
              <a:rPr lang="da-DK" dirty="0"/>
              <a:t>ved dette (se næste figur)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rgbClr val="00B0F0"/>
                </a:solidFill>
              </a:rPr>
              <a:t>Den naturlige op/nedrunding kan give ikke-brugbar løsning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</a:rPr>
              <a:t>Den ”nærmeste” brugbare heltalsløsning ikke nødvendigvis optimal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For produktionsplanlægnings problemet, skitseret lige før, vil man typisk blot af/ned runde LP løsning (</a:t>
            </a:r>
            <a:r>
              <a:rPr lang="da-DK" b="1" dirty="0">
                <a:solidFill>
                  <a:srgbClr val="7030A0"/>
                </a:solidFill>
              </a:rPr>
              <a:t>overkill</a:t>
            </a:r>
            <a:r>
              <a:rPr lang="da-DK" dirty="0"/>
              <a:t> at bruge IP)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7330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08504" cy="1124744"/>
          </a:xfrm>
        </p:spPr>
        <p:txBody>
          <a:bodyPr/>
          <a:lstStyle/>
          <a:p>
            <a:r>
              <a:rPr lang="da-DK" b="1" dirty="0"/>
              <a:t>Afrunding fra LP model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86748">
            <a:off x="1347537" y="1825625"/>
            <a:ext cx="9482541" cy="503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91744" y="836713"/>
            <a:ext cx="67687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>
                <a:solidFill>
                  <a:srgbClr val="C00000"/>
                </a:solidFill>
              </a:rPr>
              <a:t>Et eksempel ”sakset” fra en anden lærebog Kriterie funktionen er max 600L + 700F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2095" y="251273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C00000"/>
                </a:solidFill>
              </a:rPr>
              <a:t>Optimal IP løsning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5D9869-A42D-C0EF-C18A-E7F806502ECB}"/>
              </a:ext>
            </a:extLst>
          </p:cNvPr>
          <p:cNvCxnSpPr/>
          <p:nvPr/>
        </p:nvCxnSpPr>
        <p:spPr>
          <a:xfrm>
            <a:off x="4243137" y="2895600"/>
            <a:ext cx="1291389" cy="202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37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151E-A61D-45BA-E6FC-0B45EB4E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Eksempler</a:t>
            </a:r>
            <a:r>
              <a:rPr lang="en-US" b="1" dirty="0"/>
              <a:t> med </a:t>
            </a:r>
            <a:r>
              <a:rPr lang="en-US" b="1" dirty="0" err="1"/>
              <a:t>med</a:t>
            </a:r>
            <a:r>
              <a:rPr lang="en-US" b="1" dirty="0"/>
              <a:t> </a:t>
            </a:r>
            <a:r>
              <a:rPr lang="en-US" b="1" dirty="0" err="1"/>
              <a:t>enten-eller</a:t>
            </a:r>
            <a:r>
              <a:rPr lang="en-US" b="1" dirty="0"/>
              <a:t> </a:t>
            </a:r>
            <a:r>
              <a:rPr lang="en-US" b="1" dirty="0" err="1"/>
              <a:t>beslutninger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8062-96CF-C277-1130-0FCD1E0D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Intro </a:t>
            </a:r>
            <a:r>
              <a:rPr lang="en-US" dirty="0" err="1">
                <a:solidFill>
                  <a:srgbClr val="FF0000"/>
                </a:solidFill>
              </a:rPr>
              <a:t>eksempel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fra</a:t>
            </a:r>
            <a:r>
              <a:rPr lang="en-US" dirty="0">
                <a:solidFill>
                  <a:srgbClr val="FF0000"/>
                </a:solidFill>
              </a:rPr>
              <a:t> HL: det </a:t>
            </a:r>
            <a:r>
              <a:rPr lang="en-US" dirty="0" err="1">
                <a:solidFill>
                  <a:srgbClr val="FF0000"/>
                </a:solidFill>
              </a:rPr>
              <a:t>såkaldte</a:t>
            </a:r>
            <a:r>
              <a:rPr lang="en-US" dirty="0">
                <a:solidFill>
                  <a:srgbClr val="FF0000"/>
                </a:solidFill>
              </a:rPr>
              <a:t> prototype </a:t>
            </a:r>
            <a:r>
              <a:rPr lang="en-US" dirty="0" err="1">
                <a:solidFill>
                  <a:srgbClr val="FF0000"/>
                </a:solidFill>
              </a:rPr>
              <a:t>eksempel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Set covering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7081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354-6483-75B4-7FBD-EA93D4DA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Prototype </a:t>
            </a:r>
            <a:r>
              <a:rPr lang="en-US" b="1" dirty="0" err="1"/>
              <a:t>eksempel</a:t>
            </a:r>
            <a:r>
              <a:rPr lang="en-US" b="1" dirty="0"/>
              <a:t> </a:t>
            </a:r>
            <a:r>
              <a:rPr lang="en-US" b="1" dirty="0" err="1"/>
              <a:t>fra</a:t>
            </a:r>
            <a:r>
              <a:rPr lang="en-US" b="1" dirty="0"/>
              <a:t> HL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5D956-7B56-026E-2CC5-1BC3FED1A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72" y="1571818"/>
            <a:ext cx="7198468" cy="20428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C180BA-6F46-4A21-620D-E83AE6FBB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01" y="3980214"/>
            <a:ext cx="7081736" cy="241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6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5EE7-1B10-6337-8A72-9D69641B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Prototype </a:t>
            </a:r>
            <a:r>
              <a:rPr lang="en-US" b="1" dirty="0" err="1"/>
              <a:t>eksempel</a:t>
            </a:r>
            <a:r>
              <a:rPr lang="en-US" b="1" dirty="0"/>
              <a:t> </a:t>
            </a:r>
            <a:r>
              <a:rPr lang="en-US" b="1" dirty="0" err="1"/>
              <a:t>fra</a:t>
            </a:r>
            <a:r>
              <a:rPr lang="en-US" b="1" dirty="0"/>
              <a:t> HL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AFA53F-CB45-619F-B09C-4C1FFADF7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652" y="2456865"/>
            <a:ext cx="8885961" cy="3657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354EA1-63B5-A568-3F1C-0477F0C30BC0}"/>
              </a:ext>
            </a:extLst>
          </p:cNvPr>
          <p:cNvSpPr txBox="1"/>
          <p:nvPr/>
        </p:nvSpPr>
        <p:spPr>
          <a:xfrm>
            <a:off x="9134613" y="1564106"/>
            <a:ext cx="21015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HL </a:t>
            </a:r>
            <a:r>
              <a:rPr lang="en-US" dirty="0" err="1">
                <a:solidFill>
                  <a:srgbClr val="FF0000"/>
                </a:solidFill>
              </a:rPr>
              <a:t>forsøger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putte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begrebsafklaring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</a:t>
            </a:r>
            <a:r>
              <a:rPr lang="en-US" dirty="0">
                <a:solidFill>
                  <a:srgbClr val="FF0000"/>
                </a:solidFill>
              </a:rPr>
              <a:t> over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denne</a:t>
            </a:r>
            <a:r>
              <a:rPr lang="en-US" dirty="0"/>
              <a:t> </a:t>
            </a:r>
            <a:r>
              <a:rPr lang="en-US" dirty="0" err="1"/>
              <a:t>kaldes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mutually exclusive alternative</a:t>
            </a:r>
          </a:p>
          <a:p>
            <a:endParaRPr lang="en-US" dirty="0"/>
          </a:p>
          <a:p>
            <a:r>
              <a:rPr lang="en-US" dirty="0"/>
              <a:t>Og </a:t>
            </a:r>
            <a:r>
              <a:rPr lang="en-US" dirty="0" err="1"/>
              <a:t>disse</a:t>
            </a:r>
            <a:r>
              <a:rPr lang="en-US" dirty="0"/>
              <a:t> </a:t>
            </a:r>
            <a:r>
              <a:rPr lang="en-US" dirty="0" err="1"/>
              <a:t>kaldes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contingent decisions</a:t>
            </a:r>
            <a:endParaRPr lang="da-DK" b="1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374666-163B-F618-1D52-E5AF54553A51}"/>
              </a:ext>
            </a:extLst>
          </p:cNvPr>
          <p:cNvCxnSpPr>
            <a:cxnSpLocks/>
          </p:cNvCxnSpPr>
          <p:nvPr/>
        </p:nvCxnSpPr>
        <p:spPr>
          <a:xfrm flipH="1">
            <a:off x="5125453" y="2919663"/>
            <a:ext cx="4539915" cy="70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2DA887-3760-295F-7258-C7C212FCB0A6}"/>
              </a:ext>
            </a:extLst>
          </p:cNvPr>
          <p:cNvCxnSpPr>
            <a:cxnSpLocks/>
          </p:cNvCxnSpPr>
          <p:nvPr/>
        </p:nvCxnSpPr>
        <p:spPr>
          <a:xfrm flipH="1" flipV="1">
            <a:off x="5236902" y="3913062"/>
            <a:ext cx="4427621" cy="13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AE0D98FE-1808-FB7C-2FD4-06E41DEAF3B4}"/>
              </a:ext>
            </a:extLst>
          </p:cNvPr>
          <p:cNvSpPr/>
          <p:nvPr/>
        </p:nvSpPr>
        <p:spPr>
          <a:xfrm>
            <a:off x="5125453" y="3753853"/>
            <a:ext cx="45719" cy="3344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2031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A731-DF01-3222-1A6E-96B3D10E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59831"/>
          </a:xfrm>
        </p:spPr>
        <p:txBody>
          <a:bodyPr/>
          <a:lstStyle/>
          <a:p>
            <a:pPr algn="ctr"/>
            <a:r>
              <a:rPr lang="en-US" b="1" dirty="0"/>
              <a:t>Set covering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4853DD-7990-D580-0AA3-8567D89F1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266" y="1571017"/>
            <a:ext cx="5041829" cy="238185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A18A8-0B05-468B-FD63-450C4499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615" y="1324241"/>
            <a:ext cx="5680953" cy="3054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C21626-294E-5290-75DB-0A21E8757FFF}"/>
              </a:ext>
            </a:extLst>
          </p:cNvPr>
          <p:cNvSpPr txBox="1"/>
          <p:nvPr/>
        </p:nvSpPr>
        <p:spPr>
          <a:xfrm>
            <a:off x="770021" y="4378726"/>
            <a:ext cx="36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1"/>
                </a:solidFill>
              </a:rPr>
              <a:t>Modellering</a:t>
            </a:r>
            <a:endParaRPr lang="da-DK" sz="24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5D0A7-DD71-1CA5-29E0-E6743F532B0B}"/>
              </a:ext>
            </a:extLst>
          </p:cNvPr>
          <p:cNvSpPr txBox="1"/>
          <p:nvPr/>
        </p:nvSpPr>
        <p:spPr>
          <a:xfrm>
            <a:off x="770021" y="1145166"/>
            <a:ext cx="1540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Input</a:t>
            </a:r>
            <a:endParaRPr lang="da-DK" sz="24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967A02-720F-B5F0-4D8E-1F8F12B64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32" y="5173909"/>
            <a:ext cx="3657600" cy="4474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9F7EA1-80CE-3A3A-5D47-3AE6201E6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726" y="4643751"/>
            <a:ext cx="5603132" cy="195526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DA3C84-34B8-CD34-6BCB-9D2E98818EA5}"/>
              </a:ext>
            </a:extLst>
          </p:cNvPr>
          <p:cNvCxnSpPr/>
          <p:nvPr/>
        </p:nvCxnSpPr>
        <p:spPr>
          <a:xfrm flipH="1">
            <a:off x="4275221" y="5743074"/>
            <a:ext cx="4090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3FB7B2-529B-762E-BB0E-4C7F6555ED71}"/>
              </a:ext>
            </a:extLst>
          </p:cNvPr>
          <p:cNvCxnSpPr/>
          <p:nvPr/>
        </p:nvCxnSpPr>
        <p:spPr>
          <a:xfrm flipV="1">
            <a:off x="4259179" y="4275221"/>
            <a:ext cx="208547" cy="1475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9B0CEC-20DC-8B04-5F79-84991A9F1368}"/>
              </a:ext>
            </a:extLst>
          </p:cNvPr>
          <p:cNvCxnSpPr/>
          <p:nvPr/>
        </p:nvCxnSpPr>
        <p:spPr>
          <a:xfrm flipV="1">
            <a:off x="4479758" y="3825455"/>
            <a:ext cx="1616242" cy="465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61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0D31-FDD1-E851-5B83-853D7CD4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22946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</a:t>
            </a:r>
            <a:r>
              <a:rPr lang="en-US" b="1" dirty="0" err="1"/>
              <a:t>løser</a:t>
            </a:r>
            <a:r>
              <a:rPr lang="en-US" b="1" dirty="0"/>
              <a:t> man et </a:t>
            </a:r>
            <a:r>
              <a:rPr lang="en-US" b="1" dirty="0" err="1"/>
              <a:t>heltalsproblem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6161-0CE7-9DC6-6751-8BAD89D0B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2947"/>
            <a:ext cx="12192000" cy="573505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Sætte</a:t>
            </a:r>
            <a:r>
              <a:rPr lang="en-US" dirty="0">
                <a:solidFill>
                  <a:srgbClr val="FF0000"/>
                </a:solidFill>
              </a:rPr>
              <a:t> op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Solveren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00B0F0"/>
                </a:solidFill>
              </a:rPr>
              <a:t>eller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andet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værktøj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håbe</a:t>
            </a:r>
            <a:r>
              <a:rPr lang="en-US" dirty="0">
                <a:solidFill>
                  <a:srgbClr val="FF0000"/>
                </a:solidFill>
              </a:rPr>
              <a:t> at den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knuse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problemet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49F9F-584F-0DF1-C225-F097EBAAF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2548"/>
            <a:ext cx="10972800" cy="51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0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3181-F85D-A1F3-DABC-6205EAD3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Løsning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prototype </a:t>
            </a:r>
            <a:r>
              <a:rPr lang="en-US" b="1" dirty="0" err="1"/>
              <a:t>eksempel</a:t>
            </a:r>
            <a:r>
              <a:rPr lang="en-US" b="1" dirty="0"/>
              <a:t> </a:t>
            </a:r>
            <a:r>
              <a:rPr lang="en-US" b="1" dirty="0" err="1"/>
              <a:t>vha</a:t>
            </a:r>
            <a:r>
              <a:rPr lang="en-US" b="1" dirty="0"/>
              <a:t> Solver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C0B292-9711-0E12-55B7-9C60D9C39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47" y="1825625"/>
            <a:ext cx="10539664" cy="5032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506DD-A651-47FE-5B32-3D1771DF4B97}"/>
              </a:ext>
            </a:extLst>
          </p:cNvPr>
          <p:cNvSpPr txBox="1"/>
          <p:nvPr/>
        </p:nvSpPr>
        <p:spPr>
          <a:xfrm>
            <a:off x="5743074" y="4307305"/>
            <a:ext cx="3392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Solveren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selvfølgelig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sagtens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løse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dette</a:t>
            </a:r>
            <a:r>
              <a:rPr lang="en-US" dirty="0">
                <a:solidFill>
                  <a:srgbClr val="FF0000"/>
                </a:solidFill>
              </a:rPr>
              <a:t> problem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71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BFF9-F2AC-32C8-6C3F-18FEAF96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Opsætning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setcovering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Solver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A2B33F-D1D0-1ABC-ECB7-3D3AC8EDF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116" y="1347788"/>
            <a:ext cx="10079053" cy="55102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5E9808-B7FC-3356-5470-C861BE688B81}"/>
              </a:ext>
            </a:extLst>
          </p:cNvPr>
          <p:cNvSpPr txBox="1"/>
          <p:nvPr/>
        </p:nvSpPr>
        <p:spPr>
          <a:xfrm>
            <a:off x="6192253" y="5021179"/>
            <a:ext cx="1933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Den </a:t>
            </a:r>
            <a:r>
              <a:rPr lang="en-US" dirty="0" err="1">
                <a:solidFill>
                  <a:srgbClr val="FF0000"/>
                </a:solidFill>
              </a:rPr>
              <a:t>sidste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ulighed</a:t>
            </a:r>
            <a:r>
              <a:rPr lang="en-US" dirty="0">
                <a:solidFill>
                  <a:srgbClr val="FF0000"/>
                </a:solidFill>
              </a:rPr>
              <a:t> er “</a:t>
            </a:r>
            <a:r>
              <a:rPr lang="en-US" dirty="0" err="1">
                <a:solidFill>
                  <a:srgbClr val="FF0000"/>
                </a:solidFill>
              </a:rPr>
              <a:t>vendt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omkring</a:t>
            </a:r>
            <a:r>
              <a:rPr lang="en-US" dirty="0">
                <a:solidFill>
                  <a:srgbClr val="FF0000"/>
                </a:solidFill>
              </a:rPr>
              <a:t>”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D723-2B87-3650-A0A6-F130A3CA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35241"/>
          </a:xfrm>
        </p:spPr>
        <p:txBody>
          <a:bodyPr/>
          <a:lstStyle/>
          <a:p>
            <a:pPr algn="ctr"/>
            <a:r>
              <a:rPr lang="en-US" b="1" dirty="0" err="1"/>
              <a:t>Løsning</a:t>
            </a:r>
            <a:r>
              <a:rPr lang="en-US" b="1" dirty="0"/>
              <a:t> </a:t>
            </a:r>
            <a:r>
              <a:rPr lang="en-US" b="1" dirty="0" err="1"/>
              <a:t>til</a:t>
            </a:r>
            <a:r>
              <a:rPr lang="en-US" b="1" dirty="0"/>
              <a:t> set covering </a:t>
            </a:r>
            <a:r>
              <a:rPr lang="en-US" b="1" dirty="0" err="1"/>
              <a:t>problemet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AACFF8-D122-CAEF-7020-42C3C5BE9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495" y="1235075"/>
            <a:ext cx="10024845" cy="56229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BF1193-C6F8-C429-0997-2F4AE9D8CA93}"/>
              </a:ext>
            </a:extLst>
          </p:cNvPr>
          <p:cNvSpPr txBox="1"/>
          <p:nvPr/>
        </p:nvSpPr>
        <p:spPr>
          <a:xfrm>
            <a:off x="3433011" y="5061284"/>
            <a:ext cx="4588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Alle </a:t>
            </a:r>
            <a:r>
              <a:rPr lang="en-US" dirty="0" err="1">
                <a:solidFill>
                  <a:srgbClr val="FF0000"/>
                </a:solidFill>
              </a:rPr>
              <a:t>mandskaber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arbejde</a:t>
            </a:r>
            <a:r>
              <a:rPr lang="en-US" dirty="0">
                <a:solidFill>
                  <a:srgbClr val="FF0000"/>
                </a:solidFill>
              </a:rPr>
              <a:t> hele </a:t>
            </a:r>
            <a:r>
              <a:rPr lang="en-US" dirty="0" err="1">
                <a:solidFill>
                  <a:srgbClr val="FF0000"/>
                </a:solidFill>
              </a:rPr>
              <a:t>tiden</a:t>
            </a:r>
            <a:r>
              <a:rPr lang="en-US" dirty="0">
                <a:solidFill>
                  <a:srgbClr val="FF0000"/>
                </a:solidFill>
              </a:rPr>
              <a:t>. Der </a:t>
            </a:r>
            <a:r>
              <a:rPr lang="en-US" dirty="0" err="1">
                <a:solidFill>
                  <a:srgbClr val="FF0000"/>
                </a:solidFill>
              </a:rPr>
              <a:t>kunne</a:t>
            </a:r>
            <a:r>
              <a:rPr lang="en-US" dirty="0">
                <a:solidFill>
                  <a:srgbClr val="FF0000"/>
                </a:solidFill>
              </a:rPr>
              <a:t> have </a:t>
            </a:r>
            <a:r>
              <a:rPr lang="en-US" dirty="0" err="1">
                <a:solidFill>
                  <a:srgbClr val="FF0000"/>
                </a:solidFill>
              </a:rPr>
              <a:t>været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mandskab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havde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siddet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lønmodtagene</a:t>
            </a:r>
            <a:r>
              <a:rPr lang="en-US" dirty="0">
                <a:solidFill>
                  <a:srgbClr val="FF0000"/>
                </a:solidFill>
              </a:rPr>
              <a:t> passage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et fly 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779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247E-F69C-967F-50E4-9AA889E2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</a:t>
            </a:r>
            <a:r>
              <a:rPr lang="en-US" b="1" dirty="0" err="1"/>
              <a:t>løser</a:t>
            </a:r>
            <a:r>
              <a:rPr lang="en-US" b="1" dirty="0"/>
              <a:t> </a:t>
            </a:r>
            <a:r>
              <a:rPr lang="en-US" b="1" dirty="0" err="1"/>
              <a:t>Solveren</a:t>
            </a:r>
            <a:r>
              <a:rPr lang="en-US" b="1" dirty="0"/>
              <a:t> IP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673D1-0F7D-23F2-8449-9023A1A7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74" y="1580147"/>
            <a:ext cx="12087726" cy="51976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Den </a:t>
            </a:r>
            <a:r>
              <a:rPr lang="en-US" dirty="0" err="1"/>
              <a:t>bruger</a:t>
            </a:r>
            <a:r>
              <a:rPr lang="en-US" dirty="0"/>
              <a:t> </a:t>
            </a:r>
            <a:r>
              <a:rPr lang="en-US" dirty="0" err="1"/>
              <a:t>sandsynligvis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Branch and Bound (BB) </a:t>
            </a:r>
            <a:r>
              <a:rPr lang="en-US" b="1" dirty="0" err="1">
                <a:solidFill>
                  <a:srgbClr val="FF0000"/>
                </a:solidFill>
              </a:rPr>
              <a:t>algoritmen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Men </a:t>
            </a:r>
            <a:r>
              <a:rPr lang="en-US" b="1" dirty="0">
                <a:solidFill>
                  <a:srgbClr val="00B0F0"/>
                </a:solidFill>
              </a:rPr>
              <a:t>BB er </a:t>
            </a:r>
            <a:r>
              <a:rPr lang="en-US" b="1" dirty="0" err="1">
                <a:solidFill>
                  <a:srgbClr val="00B0F0"/>
                </a:solidFill>
              </a:rPr>
              <a:t>ikke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 err="1">
                <a:solidFill>
                  <a:srgbClr val="00B0F0"/>
                </a:solidFill>
              </a:rPr>
              <a:t>nogen</a:t>
            </a:r>
            <a:r>
              <a:rPr lang="en-US" b="1" dirty="0">
                <a:solidFill>
                  <a:srgbClr val="00B0F0"/>
                </a:solidFill>
              </a:rPr>
              <a:t> smart </a:t>
            </a:r>
            <a:r>
              <a:rPr lang="en-US" b="1" dirty="0" err="1">
                <a:solidFill>
                  <a:srgbClr val="00B0F0"/>
                </a:solidFill>
              </a:rPr>
              <a:t>algoritme</a:t>
            </a:r>
            <a:r>
              <a:rPr lang="en-US" dirty="0"/>
              <a:t>. I </a:t>
            </a:r>
            <a:r>
              <a:rPr lang="en-US" dirty="0" err="1"/>
              <a:t>værste</a:t>
            </a:r>
            <a:r>
              <a:rPr lang="en-US" dirty="0"/>
              <a:t> </a:t>
            </a:r>
            <a:r>
              <a:rPr lang="en-US" dirty="0" err="1"/>
              <a:t>fald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alle </a:t>
            </a:r>
            <a:r>
              <a:rPr lang="en-US" dirty="0" err="1"/>
              <a:t>heltalsløsninger</a:t>
            </a:r>
            <a:r>
              <a:rPr lang="en-US" dirty="0"/>
              <a:t> </a:t>
            </a:r>
            <a:r>
              <a:rPr lang="en-US" dirty="0" err="1"/>
              <a:t>undersøges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C000"/>
                </a:solidFill>
              </a:rPr>
              <a:t>Så</a:t>
            </a:r>
            <a:r>
              <a:rPr lang="en-US" b="1" dirty="0">
                <a:solidFill>
                  <a:srgbClr val="FFC000"/>
                </a:solidFill>
              </a:rPr>
              <a:t> I </a:t>
            </a:r>
            <a:r>
              <a:rPr lang="en-US" b="1" dirty="0" err="1">
                <a:solidFill>
                  <a:srgbClr val="FFC000"/>
                </a:solidFill>
              </a:rPr>
              <a:t>kan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meget</a:t>
            </a:r>
            <a:r>
              <a:rPr lang="en-US" b="1" dirty="0">
                <a:solidFill>
                  <a:srgbClr val="FFC000"/>
                </a:solidFill>
              </a:rPr>
              <a:t> vel </a:t>
            </a:r>
            <a:r>
              <a:rPr lang="en-US" b="1" dirty="0" err="1">
                <a:solidFill>
                  <a:srgbClr val="FFC000"/>
                </a:solidFill>
              </a:rPr>
              <a:t>komme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til</a:t>
            </a:r>
            <a:r>
              <a:rPr lang="en-US" b="1" dirty="0">
                <a:solidFill>
                  <a:srgbClr val="FFC000"/>
                </a:solidFill>
              </a:rPr>
              <a:t> at “</a:t>
            </a:r>
            <a:r>
              <a:rPr lang="en-US" b="1" dirty="0" err="1">
                <a:solidFill>
                  <a:srgbClr val="FFC000"/>
                </a:solidFill>
              </a:rPr>
              <a:t>slå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jer</a:t>
            </a:r>
            <a:r>
              <a:rPr lang="en-US" b="1" dirty="0">
                <a:solidFill>
                  <a:srgbClr val="FFC000"/>
                </a:solidFill>
              </a:rPr>
              <a:t>” </a:t>
            </a:r>
            <a:r>
              <a:rPr lang="en-US" b="1" dirty="0" err="1">
                <a:solidFill>
                  <a:srgbClr val="FFC000"/>
                </a:solidFill>
              </a:rPr>
              <a:t>hvis</a:t>
            </a:r>
            <a:r>
              <a:rPr lang="en-US" b="1" dirty="0">
                <a:solidFill>
                  <a:srgbClr val="FFC000"/>
                </a:solidFill>
              </a:rPr>
              <a:t> I </a:t>
            </a:r>
            <a:r>
              <a:rPr lang="en-US" b="1" dirty="0" err="1">
                <a:solidFill>
                  <a:srgbClr val="FFC000"/>
                </a:solidFill>
              </a:rPr>
              <a:t>forsøger</a:t>
            </a:r>
            <a:r>
              <a:rPr lang="en-US" b="1" dirty="0">
                <a:solidFill>
                  <a:srgbClr val="FFC000"/>
                </a:solidFill>
              </a:rPr>
              <a:t> at </a:t>
            </a:r>
            <a:r>
              <a:rPr lang="en-US" b="1" dirty="0" err="1">
                <a:solidFill>
                  <a:srgbClr val="FFC000"/>
                </a:solidFill>
              </a:rPr>
              <a:t>løse</a:t>
            </a:r>
            <a:r>
              <a:rPr lang="en-US" b="1" dirty="0">
                <a:solidFill>
                  <a:srgbClr val="FFC000"/>
                </a:solidFill>
              </a:rPr>
              <a:t> et “</a:t>
            </a:r>
            <a:r>
              <a:rPr lang="en-US" b="1" dirty="0" err="1">
                <a:solidFill>
                  <a:srgbClr val="FFC000"/>
                </a:solidFill>
              </a:rPr>
              <a:t>halvstort</a:t>
            </a:r>
            <a:r>
              <a:rPr lang="en-US" b="1" dirty="0">
                <a:solidFill>
                  <a:srgbClr val="FFC000"/>
                </a:solidFill>
              </a:rPr>
              <a:t>” </a:t>
            </a:r>
            <a:r>
              <a:rPr lang="en-US" b="1" dirty="0" err="1">
                <a:solidFill>
                  <a:srgbClr val="FFC000"/>
                </a:solidFill>
              </a:rPr>
              <a:t>heltalsproblem</a:t>
            </a:r>
            <a:r>
              <a:rPr lang="en-US" b="1" dirty="0">
                <a:solidFill>
                  <a:srgbClr val="FFC000"/>
                </a:solidFill>
              </a:rPr>
              <a:t> med </a:t>
            </a:r>
            <a:r>
              <a:rPr lang="en-US" b="1" dirty="0" err="1">
                <a:solidFill>
                  <a:srgbClr val="FFC000"/>
                </a:solidFill>
              </a:rPr>
              <a:t>Solveren</a:t>
            </a:r>
            <a:r>
              <a:rPr lang="en-US" b="1" dirty="0">
                <a:solidFill>
                  <a:srgbClr val="FFC000"/>
                </a:solidFill>
              </a:rPr>
              <a:t> (</a:t>
            </a:r>
            <a:r>
              <a:rPr lang="en-US" b="1" dirty="0" err="1">
                <a:solidFill>
                  <a:srgbClr val="FFC000"/>
                </a:solidFill>
              </a:rPr>
              <a:t>og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lignende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værktøjer</a:t>
            </a:r>
            <a:r>
              <a:rPr lang="en-US" b="1" dirty="0">
                <a:solidFill>
                  <a:srgbClr val="FFC000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IP er “</a:t>
            </a:r>
            <a:r>
              <a:rPr lang="en-US" dirty="0" err="1">
                <a:solidFill>
                  <a:srgbClr val="C00000"/>
                </a:solidFill>
              </a:rPr>
              <a:t>svært</a:t>
            </a:r>
            <a:r>
              <a:rPr lang="en-US" dirty="0">
                <a:solidFill>
                  <a:srgbClr val="C00000"/>
                </a:solidFill>
              </a:rPr>
              <a:t>” </a:t>
            </a:r>
            <a:r>
              <a:rPr lang="en-US" dirty="0" err="1"/>
              <a:t>i</a:t>
            </a:r>
            <a:r>
              <a:rPr lang="en-US" dirty="0"/>
              <a:t> forhold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LP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 er “let”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21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73F2-8E62-F0FD-E3EB-C6BF0B5C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99410"/>
          </a:xfrm>
        </p:spPr>
        <p:txBody>
          <a:bodyPr/>
          <a:lstStyle/>
          <a:p>
            <a:pPr algn="ctr"/>
            <a:r>
              <a:rPr lang="en-US" b="1" dirty="0" err="1"/>
              <a:t>Løse</a:t>
            </a:r>
            <a:r>
              <a:rPr lang="en-US" b="1" dirty="0"/>
              <a:t> et IP </a:t>
            </a:r>
            <a:r>
              <a:rPr lang="en-US" b="1" dirty="0" err="1"/>
              <a:t>som</a:t>
            </a:r>
            <a:r>
              <a:rPr lang="en-US" b="1" dirty="0"/>
              <a:t> et LP?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D1DB-4B64-536C-D9A0-E967C7E9D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50222"/>
            <a:ext cx="12191999" cy="590777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Det </a:t>
            </a:r>
            <a:r>
              <a:rPr lang="en-US" dirty="0" err="1">
                <a:solidFill>
                  <a:srgbClr val="FFC000"/>
                </a:solidFill>
              </a:rPr>
              <a:t>konvekse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hylster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af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brugbarhedsområdet</a:t>
            </a:r>
            <a:r>
              <a:rPr lang="en-US" dirty="0">
                <a:solidFill>
                  <a:srgbClr val="FFC000"/>
                </a:solidFill>
              </a:rPr>
              <a:t> for et </a:t>
            </a:r>
            <a:r>
              <a:rPr lang="en-US" dirty="0" err="1">
                <a:solidFill>
                  <a:srgbClr val="FFC000"/>
                </a:solidFill>
              </a:rPr>
              <a:t>heltalsproblem</a:t>
            </a:r>
            <a:r>
              <a:rPr lang="en-US" dirty="0">
                <a:solidFill>
                  <a:srgbClr val="FFC000"/>
                </a:solidFill>
              </a:rPr>
              <a:t> er et </a:t>
            </a:r>
            <a:r>
              <a:rPr lang="en-US" dirty="0" err="1">
                <a:solidFill>
                  <a:srgbClr val="FFC000"/>
                </a:solidFill>
              </a:rPr>
              <a:t>polyder</a:t>
            </a:r>
            <a:r>
              <a:rPr lang="en-US" dirty="0">
                <a:solidFill>
                  <a:srgbClr val="FFC000"/>
                </a:solidFill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78A9B1-4C63-A65C-0969-CD257757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86748">
            <a:off x="1347537" y="1825625"/>
            <a:ext cx="9482541" cy="503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92C453-7A0F-E8C9-C3B8-91E4C06FF81A}"/>
              </a:ext>
            </a:extLst>
          </p:cNvPr>
          <p:cNvSpPr txBox="1"/>
          <p:nvPr/>
        </p:nvSpPr>
        <p:spPr>
          <a:xfrm>
            <a:off x="96254" y="1660461"/>
            <a:ext cx="15721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Den </a:t>
            </a:r>
            <a:r>
              <a:rPr lang="en-US" dirty="0" err="1">
                <a:solidFill>
                  <a:srgbClr val="FF0000"/>
                </a:solidFill>
              </a:rPr>
              <a:t>mindste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konvekse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mængde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omslutter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brugbare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heltalspunkter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bestemt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ulighederne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2L+ 3F&lt;=12</a:t>
            </a:r>
          </a:p>
          <a:p>
            <a:r>
              <a:rPr lang="en-US" dirty="0">
                <a:solidFill>
                  <a:srgbClr val="00B0F0"/>
                </a:solidFill>
              </a:rPr>
              <a:t>L + F &lt;=5</a:t>
            </a:r>
          </a:p>
          <a:p>
            <a:r>
              <a:rPr lang="en-US" dirty="0">
                <a:solidFill>
                  <a:srgbClr val="00B0F0"/>
                </a:solidFill>
              </a:rPr>
              <a:t>L,F &gt;=0</a:t>
            </a:r>
          </a:p>
          <a:p>
            <a:endParaRPr lang="en-US" dirty="0"/>
          </a:p>
          <a:p>
            <a:endParaRPr lang="da-D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06C747-DA8F-8564-849E-A0C7C3BB12A9}"/>
              </a:ext>
            </a:extLst>
          </p:cNvPr>
          <p:cNvCxnSpPr>
            <a:cxnSpLocks/>
          </p:cNvCxnSpPr>
          <p:nvPr/>
        </p:nvCxnSpPr>
        <p:spPr>
          <a:xfrm>
            <a:off x="4948989" y="4620126"/>
            <a:ext cx="3561348" cy="1949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C462E9-9219-A73B-8AAF-E31F5AA5C1AD}"/>
              </a:ext>
            </a:extLst>
          </p:cNvPr>
          <p:cNvSpPr txBox="1"/>
          <p:nvPr/>
        </p:nvSpPr>
        <p:spPr>
          <a:xfrm>
            <a:off x="9248274" y="3344779"/>
            <a:ext cx="157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Hvordan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finde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dette</a:t>
            </a:r>
            <a:r>
              <a:rPr lang="en-US" dirty="0">
                <a:solidFill>
                  <a:srgbClr val="00B050"/>
                </a:solidFill>
              </a:rPr>
              <a:t> snit?</a:t>
            </a:r>
            <a:endParaRPr lang="da-DK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3D45E8-45C7-47AA-9665-400D4FA2836A}"/>
              </a:ext>
            </a:extLst>
          </p:cNvPr>
          <p:cNvCxnSpPr/>
          <p:nvPr/>
        </p:nvCxnSpPr>
        <p:spPr>
          <a:xfrm flipH="1">
            <a:off x="5189621" y="3834063"/>
            <a:ext cx="4170947" cy="84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00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6593-7B41-B5B8-8CC4-4AB37D61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87115"/>
          </a:xfrm>
        </p:spPr>
        <p:txBody>
          <a:bodyPr/>
          <a:lstStyle/>
          <a:p>
            <a:pPr algn="ctr"/>
            <a:r>
              <a:rPr lang="en-US" b="1" dirty="0" err="1"/>
              <a:t>Løse</a:t>
            </a:r>
            <a:r>
              <a:rPr lang="en-US" b="1" dirty="0"/>
              <a:t> et IP </a:t>
            </a:r>
            <a:r>
              <a:rPr lang="en-US" b="1" dirty="0" err="1"/>
              <a:t>som</a:t>
            </a:r>
            <a:r>
              <a:rPr lang="en-US" b="1" dirty="0"/>
              <a:t> et LP?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66D3-C351-5A29-8B12-4257049B5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>
                <a:solidFill>
                  <a:srgbClr val="FF0000"/>
                </a:solidFill>
              </a:rPr>
              <a:t>Ethvert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heltalsproblem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kan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altså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princippet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løses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som</a:t>
            </a:r>
            <a:r>
              <a:rPr lang="en-US" sz="3200" dirty="0">
                <a:solidFill>
                  <a:srgbClr val="FF0000"/>
                </a:solidFill>
              </a:rPr>
              <a:t> et LP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Problemet</a:t>
            </a:r>
            <a:r>
              <a:rPr lang="en-US" dirty="0">
                <a:solidFill>
                  <a:srgbClr val="00B050"/>
                </a:solidFill>
              </a:rPr>
              <a:t> er blot at </a:t>
            </a:r>
            <a:r>
              <a:rPr lang="en-US" dirty="0" err="1">
                <a:solidFill>
                  <a:srgbClr val="00B050"/>
                </a:solidFill>
              </a:rPr>
              <a:t>finde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ulighederne</a:t>
            </a:r>
            <a:r>
              <a:rPr lang="en-US" dirty="0">
                <a:solidFill>
                  <a:srgbClr val="00B050"/>
                </a:solidFill>
              </a:rPr>
              <a:t> der </a:t>
            </a:r>
            <a:r>
              <a:rPr lang="en-US" dirty="0" err="1">
                <a:solidFill>
                  <a:srgbClr val="00B050"/>
                </a:solidFill>
              </a:rPr>
              <a:t>beskriver</a:t>
            </a:r>
            <a:r>
              <a:rPr lang="en-US" dirty="0">
                <a:solidFill>
                  <a:srgbClr val="00B050"/>
                </a:solidFill>
              </a:rPr>
              <a:t> det </a:t>
            </a:r>
            <a:r>
              <a:rPr lang="en-US" dirty="0" err="1">
                <a:solidFill>
                  <a:srgbClr val="00B050"/>
                </a:solidFill>
              </a:rPr>
              <a:t>konvekse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hylster</a:t>
            </a:r>
            <a:r>
              <a:rPr lang="en-US" dirty="0">
                <a:solidFill>
                  <a:srgbClr val="00B050"/>
                </a:solidFill>
              </a:rPr>
              <a:t>!!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Men </a:t>
            </a:r>
            <a:r>
              <a:rPr lang="en-US" dirty="0" err="1"/>
              <a:t>dette</a:t>
            </a:r>
            <a:r>
              <a:rPr lang="en-US" dirty="0"/>
              <a:t> er et </a:t>
            </a:r>
            <a:r>
              <a:rPr lang="en-US" b="1" dirty="0" err="1">
                <a:solidFill>
                  <a:srgbClr val="00B0F0"/>
                </a:solidFill>
              </a:rPr>
              <a:t>aktivt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 err="1">
                <a:solidFill>
                  <a:srgbClr val="00B0F0"/>
                </a:solidFill>
              </a:rPr>
              <a:t>forskningsområde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 err="1"/>
              <a:t>hvor</a:t>
            </a:r>
            <a:r>
              <a:rPr lang="en-US" dirty="0"/>
              <a:t> man </a:t>
            </a:r>
            <a:r>
              <a:rPr lang="en-US" dirty="0" err="1"/>
              <a:t>udvikler</a:t>
            </a:r>
            <a:r>
              <a:rPr lang="en-US" dirty="0"/>
              <a:t> </a:t>
            </a:r>
            <a:r>
              <a:rPr lang="en-US" dirty="0" err="1"/>
              <a:t>algoritmer</a:t>
            </a:r>
            <a:r>
              <a:rPr lang="en-US" dirty="0"/>
              <a:t> </a:t>
            </a:r>
            <a:r>
              <a:rPr lang="en-US" dirty="0" err="1"/>
              <a:t>hvor</a:t>
            </a:r>
            <a:r>
              <a:rPr lang="en-US" dirty="0"/>
              <a:t> man </a:t>
            </a:r>
            <a:r>
              <a:rPr lang="en-US" b="1" dirty="0" err="1">
                <a:solidFill>
                  <a:srgbClr val="C00000"/>
                </a:solidFill>
              </a:rPr>
              <a:t>kombinerer</a:t>
            </a:r>
            <a:r>
              <a:rPr lang="en-US" b="1" dirty="0">
                <a:solidFill>
                  <a:srgbClr val="C00000"/>
                </a:solidFill>
              </a:rPr>
              <a:t> BB </a:t>
            </a:r>
            <a:r>
              <a:rPr lang="en-US" b="1" dirty="0" err="1">
                <a:solidFill>
                  <a:srgbClr val="C00000"/>
                </a:solidFill>
              </a:rPr>
              <a:t>algortitmen</a:t>
            </a:r>
            <a:r>
              <a:rPr lang="en-US" b="1" dirty="0">
                <a:solidFill>
                  <a:srgbClr val="C00000"/>
                </a:solidFill>
              </a:rPr>
              <a:t> med </a:t>
            </a:r>
            <a:r>
              <a:rPr lang="en-US" b="1" dirty="0" err="1">
                <a:solidFill>
                  <a:srgbClr val="C00000"/>
                </a:solidFill>
              </a:rPr>
              <a:t>snitplanmetoder</a:t>
            </a:r>
            <a:endParaRPr lang="da-DK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343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0020-1546-F28A-89E9-E75743D1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TSP: Travelling Salesman </a:t>
            </a:r>
            <a:r>
              <a:rPr lang="en-US" b="1" dirty="0" err="1"/>
              <a:t>problemet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D8B9-FEB8-DBE5-2B63-72C5573A1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 </a:t>
            </a:r>
            <a:r>
              <a:rPr lang="en-US" dirty="0" err="1">
                <a:solidFill>
                  <a:srgbClr val="FF0000"/>
                </a:solidFill>
              </a:rPr>
              <a:t>handelsrejsende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skal</a:t>
            </a:r>
            <a:r>
              <a:rPr lang="en-US" dirty="0">
                <a:solidFill>
                  <a:srgbClr val="FF0000"/>
                </a:solidFill>
              </a:rPr>
              <a:t> med start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By 1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afslutning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By 1 </a:t>
            </a:r>
            <a:r>
              <a:rPr lang="en-US" dirty="0" err="1">
                <a:solidFill>
                  <a:srgbClr val="FF0000"/>
                </a:solidFill>
              </a:rPr>
              <a:t>besøge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alt n byer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den </a:t>
            </a:r>
            <a:r>
              <a:rPr lang="en-US" dirty="0" err="1">
                <a:solidFill>
                  <a:srgbClr val="FF0000"/>
                </a:solidFill>
              </a:rPr>
              <a:t>samlede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rejseafstand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minimeres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Det </a:t>
            </a:r>
            <a:r>
              <a:rPr lang="en-US" dirty="0" err="1">
                <a:solidFill>
                  <a:srgbClr val="00B0F0"/>
                </a:solidFill>
              </a:rPr>
              <a:t>lyder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meget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simplet</a:t>
            </a:r>
            <a:r>
              <a:rPr lang="en-US" dirty="0">
                <a:solidFill>
                  <a:srgbClr val="00B0F0"/>
                </a:solidFill>
              </a:rPr>
              <a:t> men er </a:t>
            </a:r>
            <a:r>
              <a:rPr lang="en-US" dirty="0" err="1">
                <a:solidFill>
                  <a:srgbClr val="00B0F0"/>
                </a:solidFill>
              </a:rPr>
              <a:t>i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virkeligheden</a:t>
            </a:r>
            <a:r>
              <a:rPr lang="en-US" dirty="0">
                <a:solidFill>
                  <a:srgbClr val="00B0F0"/>
                </a:solidFill>
              </a:rPr>
              <a:t> (</a:t>
            </a:r>
            <a:r>
              <a:rPr lang="en-US" dirty="0" err="1">
                <a:solidFill>
                  <a:srgbClr val="00B0F0"/>
                </a:solidFill>
              </a:rPr>
              <a:t>næsten</a:t>
            </a:r>
            <a:r>
              <a:rPr lang="en-US" dirty="0">
                <a:solidFill>
                  <a:srgbClr val="00B0F0"/>
                </a:solidFill>
              </a:rPr>
              <a:t>) </a:t>
            </a:r>
            <a:r>
              <a:rPr lang="en-US" dirty="0" err="1">
                <a:solidFill>
                  <a:srgbClr val="00B0F0"/>
                </a:solidFill>
              </a:rPr>
              <a:t>umuligt</a:t>
            </a:r>
            <a:r>
              <a:rPr lang="en-US" dirty="0">
                <a:solidFill>
                  <a:srgbClr val="00B0F0"/>
                </a:solidFill>
              </a:rPr>
              <a:t> at </a:t>
            </a:r>
            <a:r>
              <a:rPr lang="en-US" dirty="0" err="1">
                <a:solidFill>
                  <a:srgbClr val="00B0F0"/>
                </a:solidFill>
              </a:rPr>
              <a:t>formulere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matematisk</a:t>
            </a:r>
            <a:r>
              <a:rPr lang="en-US" dirty="0">
                <a:solidFill>
                  <a:srgbClr val="00B0F0"/>
                </a:solidFill>
              </a:rPr>
              <a:t>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14809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C9A4-ABE6-CC1D-AC29-99984AEA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03683"/>
          </a:xfrm>
        </p:spPr>
        <p:txBody>
          <a:bodyPr/>
          <a:lstStyle/>
          <a:p>
            <a:pPr algn="ctr"/>
            <a:r>
              <a:rPr lang="en-US" b="1" dirty="0"/>
              <a:t>TSP: Travelling Salesman </a:t>
            </a:r>
            <a:r>
              <a:rPr lang="en-US" b="1" dirty="0" err="1"/>
              <a:t>problemet</a:t>
            </a:r>
            <a:endParaRPr lang="da-DK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36572FE-1E3F-ABD1-32AA-0AFF7D5E4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11" y="1825625"/>
            <a:ext cx="5478378" cy="4351338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773980-310E-8CBC-2CC2-66BC603C64E7}"/>
              </a:ext>
            </a:extLst>
          </p:cNvPr>
          <p:cNvSpPr txBox="1"/>
          <p:nvPr/>
        </p:nvSpPr>
        <p:spPr>
          <a:xfrm>
            <a:off x="6232358" y="1909011"/>
            <a:ext cx="402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Ingen </a:t>
            </a:r>
            <a:r>
              <a:rPr lang="en-US" dirty="0" err="1">
                <a:solidFill>
                  <a:srgbClr val="FF0000"/>
                </a:solidFill>
              </a:rPr>
              <a:t>subcykler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 med n = 5)</a:t>
            </a:r>
            <a:endParaRPr lang="da-DK" dirty="0">
              <a:solidFill>
                <a:srgbClr val="FF00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CE8813-80D1-E6A3-7B23-0034347CB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800" y="2354776"/>
            <a:ext cx="5175115" cy="23249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E48DC7-B3D2-E18F-B171-E997ADA47D82}"/>
              </a:ext>
            </a:extLst>
          </p:cNvPr>
          <p:cNvSpPr txBox="1"/>
          <p:nvPr/>
        </p:nvSpPr>
        <p:spPr>
          <a:xfrm>
            <a:off x="6096000" y="4588042"/>
            <a:ext cx="5478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4"/>
                </a:solidFill>
              </a:rPr>
              <a:t>Antallet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af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uligheder</a:t>
            </a:r>
            <a:r>
              <a:rPr lang="en-US" dirty="0">
                <a:solidFill>
                  <a:schemeClr val="accent4"/>
                </a:solidFill>
              </a:rPr>
              <a:t> der </a:t>
            </a:r>
            <a:r>
              <a:rPr lang="en-US" dirty="0" err="1">
                <a:solidFill>
                  <a:schemeClr val="accent4"/>
                </a:solidFill>
              </a:rPr>
              <a:t>nødvendige</a:t>
            </a:r>
            <a:r>
              <a:rPr lang="en-US" dirty="0">
                <a:solidFill>
                  <a:schemeClr val="accent4"/>
                </a:solidFill>
              </a:rPr>
              <a:t> for at </a:t>
            </a:r>
            <a:r>
              <a:rPr lang="en-US" dirty="0" err="1">
                <a:solidFill>
                  <a:schemeClr val="accent4"/>
                </a:solidFill>
              </a:rPr>
              <a:t>udtrykke</a:t>
            </a:r>
            <a:r>
              <a:rPr lang="en-US" dirty="0">
                <a:solidFill>
                  <a:schemeClr val="accent4"/>
                </a:solidFill>
              </a:rPr>
              <a:t> “</a:t>
            </a:r>
            <a:r>
              <a:rPr lang="en-US" dirty="0" err="1">
                <a:solidFill>
                  <a:schemeClr val="accent4"/>
                </a:solidFill>
              </a:rPr>
              <a:t>ingen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subcykler</a:t>
            </a:r>
            <a:r>
              <a:rPr lang="en-US" dirty="0">
                <a:solidFill>
                  <a:schemeClr val="accent4"/>
                </a:solidFill>
              </a:rPr>
              <a:t>” </a:t>
            </a:r>
            <a:r>
              <a:rPr lang="en-US" dirty="0" err="1">
                <a:solidFill>
                  <a:schemeClr val="accent4"/>
                </a:solidFill>
              </a:rPr>
              <a:t>vokser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eksponentielt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 n</a:t>
            </a:r>
          </a:p>
          <a:p>
            <a:endParaRPr lang="en-US" dirty="0">
              <a:solidFill>
                <a:schemeClr val="accent4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Derfor</a:t>
            </a:r>
            <a:r>
              <a:rPr lang="en-US" dirty="0">
                <a:solidFill>
                  <a:srgbClr val="00B050"/>
                </a:solidFill>
              </a:rPr>
              <a:t> giver det </a:t>
            </a:r>
            <a:r>
              <a:rPr lang="en-US" dirty="0" err="1">
                <a:solidFill>
                  <a:srgbClr val="00B050"/>
                </a:solidFill>
              </a:rPr>
              <a:t>ikke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mening</a:t>
            </a:r>
            <a:r>
              <a:rPr lang="en-US" dirty="0">
                <a:solidFill>
                  <a:srgbClr val="00B050"/>
                </a:solidFill>
              </a:rPr>
              <a:t> at </a:t>
            </a:r>
            <a:r>
              <a:rPr lang="en-US" dirty="0" err="1">
                <a:solidFill>
                  <a:srgbClr val="00B050"/>
                </a:solidFill>
              </a:rPr>
              <a:t>løse</a:t>
            </a:r>
            <a:r>
              <a:rPr lang="en-US" dirty="0">
                <a:solidFill>
                  <a:srgbClr val="00B050"/>
                </a:solidFill>
              </a:rPr>
              <a:t> TSP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 et </a:t>
            </a:r>
            <a:r>
              <a:rPr lang="en-US" dirty="0" err="1">
                <a:solidFill>
                  <a:srgbClr val="00B050"/>
                </a:solidFill>
              </a:rPr>
              <a:t>heltalsproblem</a:t>
            </a:r>
            <a:r>
              <a:rPr lang="en-US" dirty="0">
                <a:solidFill>
                  <a:srgbClr val="00B050"/>
                </a:solidFill>
              </a:rPr>
              <a:t> man </a:t>
            </a:r>
            <a:r>
              <a:rPr lang="en-US" dirty="0" err="1">
                <a:solidFill>
                  <a:srgbClr val="00B050"/>
                </a:solidFill>
              </a:rPr>
              <a:t>må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stedet</a:t>
            </a:r>
            <a:r>
              <a:rPr lang="en-US" dirty="0">
                <a:solidFill>
                  <a:srgbClr val="00B050"/>
                </a:solidFill>
              </a:rPr>
              <a:t> lave special </a:t>
            </a:r>
            <a:r>
              <a:rPr lang="en-US" dirty="0" err="1">
                <a:solidFill>
                  <a:srgbClr val="00B050"/>
                </a:solidFill>
              </a:rPr>
              <a:t>designede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algoritmer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59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CB7F-FFF0-A2A5-7A1C-A36088184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Brug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binære</a:t>
            </a:r>
            <a:r>
              <a:rPr lang="en-US" b="1" dirty="0"/>
              <a:t> variable </a:t>
            </a:r>
            <a:r>
              <a:rPr lang="en-US" b="1" dirty="0" err="1"/>
              <a:t>til</a:t>
            </a:r>
            <a:r>
              <a:rPr lang="en-US" b="1" dirty="0"/>
              <a:t> </a:t>
            </a:r>
            <a:r>
              <a:rPr lang="en-US" b="1" dirty="0" err="1"/>
              <a:t>modellering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problemer</a:t>
            </a:r>
            <a:r>
              <a:rPr lang="en-US" b="1" dirty="0"/>
              <a:t> med </a:t>
            </a:r>
            <a:r>
              <a:rPr lang="en-US" b="1" dirty="0" err="1"/>
              <a:t>faste</a:t>
            </a:r>
            <a:r>
              <a:rPr lang="en-US" b="1" dirty="0"/>
              <a:t> </a:t>
            </a:r>
            <a:r>
              <a:rPr lang="en-US" b="1" dirty="0" err="1"/>
              <a:t>omkostninger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06A1C-B4F8-0295-D194-80A303E9F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544" y="1482733"/>
            <a:ext cx="5836596" cy="25097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0199C6-0AA4-15A0-22B8-55766A114CB1}"/>
              </a:ext>
            </a:extLst>
          </p:cNvPr>
          <p:cNvSpPr txBox="1"/>
          <p:nvPr/>
        </p:nvSpPr>
        <p:spPr>
          <a:xfrm>
            <a:off x="6954253" y="2486526"/>
            <a:ext cx="1716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 </a:t>
            </a:r>
            <a:r>
              <a:rPr lang="en-US" dirty="0" err="1">
                <a:solidFill>
                  <a:srgbClr val="FF0000"/>
                </a:solidFill>
              </a:rPr>
              <a:t>bruges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betegnelse</a:t>
            </a:r>
            <a:r>
              <a:rPr lang="en-US" dirty="0">
                <a:solidFill>
                  <a:srgbClr val="FF0000"/>
                </a:solidFill>
              </a:rPr>
              <a:t> MIP </a:t>
            </a:r>
            <a:r>
              <a:rPr lang="en-US" dirty="0" err="1">
                <a:solidFill>
                  <a:srgbClr val="FF0000"/>
                </a:solidFill>
              </a:rPr>
              <a:t>fordi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optræder</a:t>
            </a:r>
            <a:r>
              <a:rPr lang="en-US" dirty="0">
                <a:solidFill>
                  <a:srgbClr val="FF0000"/>
                </a:solidFill>
              </a:rPr>
              <a:t> bade </a:t>
            </a:r>
            <a:r>
              <a:rPr lang="en-US" dirty="0" err="1">
                <a:solidFill>
                  <a:srgbClr val="FF0000"/>
                </a:solidFill>
              </a:rPr>
              <a:t>kontinuerte</a:t>
            </a:r>
            <a:r>
              <a:rPr lang="en-US" dirty="0">
                <a:solidFill>
                  <a:srgbClr val="FF0000"/>
                </a:solidFill>
              </a:rPr>
              <a:t> variable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heltalsvariable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binære</a:t>
            </a:r>
            <a:r>
              <a:rPr lang="en-US" dirty="0">
                <a:solidFill>
                  <a:srgbClr val="FF0000"/>
                </a:solidFill>
              </a:rPr>
              <a:t>) 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48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E035-6D5A-CCA3-33C6-56081D09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Brug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binære</a:t>
            </a:r>
            <a:r>
              <a:rPr lang="en-US" b="1" dirty="0"/>
              <a:t> variable </a:t>
            </a:r>
            <a:r>
              <a:rPr lang="en-US" b="1" dirty="0" err="1"/>
              <a:t>til</a:t>
            </a:r>
            <a:r>
              <a:rPr lang="en-US" b="1" dirty="0"/>
              <a:t> </a:t>
            </a:r>
            <a:r>
              <a:rPr lang="en-US" b="1" dirty="0" err="1"/>
              <a:t>modellering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problemer</a:t>
            </a:r>
            <a:r>
              <a:rPr lang="en-US" b="1" dirty="0"/>
              <a:t> med </a:t>
            </a:r>
            <a:r>
              <a:rPr lang="en-US" b="1" dirty="0" err="1"/>
              <a:t>faste</a:t>
            </a:r>
            <a:r>
              <a:rPr lang="en-US" b="1" dirty="0"/>
              <a:t> </a:t>
            </a:r>
            <a:r>
              <a:rPr lang="en-US" b="1" dirty="0" err="1"/>
              <a:t>omkostninger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01FC7C-083D-9E59-2608-23F9A8C5C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126" y="2366211"/>
            <a:ext cx="7828548" cy="2914320"/>
          </a:xfrm>
        </p:spPr>
      </p:pic>
    </p:spTree>
    <p:extLst>
      <p:ext uri="{BB962C8B-B14F-4D97-AF65-F5344CB8AC3E}">
        <p14:creationId xmlns:p14="http://schemas.microsoft.com/office/powerpoint/2010/main" val="3201521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2676-0B40-704A-18C5-B29566E9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Vi </a:t>
            </a:r>
            <a:r>
              <a:rPr lang="en-US" b="1" dirty="0" err="1"/>
              <a:t>kan</a:t>
            </a:r>
            <a:r>
              <a:rPr lang="en-US" b="1" dirty="0"/>
              <a:t> </a:t>
            </a:r>
            <a:r>
              <a:rPr lang="en-US" b="1" dirty="0" err="1"/>
              <a:t>også</a:t>
            </a:r>
            <a:r>
              <a:rPr lang="en-US" b="1" dirty="0"/>
              <a:t> </a:t>
            </a:r>
            <a:r>
              <a:rPr lang="en-US" b="1" dirty="0" err="1"/>
              <a:t>bruge</a:t>
            </a:r>
            <a:r>
              <a:rPr lang="en-US" b="1" dirty="0"/>
              <a:t> </a:t>
            </a:r>
            <a:r>
              <a:rPr lang="en-US" b="1" dirty="0" err="1"/>
              <a:t>binære</a:t>
            </a:r>
            <a:r>
              <a:rPr lang="en-US" b="1" dirty="0"/>
              <a:t> variable </a:t>
            </a:r>
            <a:r>
              <a:rPr lang="en-US" b="1" dirty="0" err="1"/>
              <a:t>til</a:t>
            </a:r>
            <a:r>
              <a:rPr lang="en-US" b="1" dirty="0"/>
              <a:t> at </a:t>
            </a:r>
            <a:r>
              <a:rPr lang="en-US" b="1" dirty="0" err="1"/>
              <a:t>modellere</a:t>
            </a:r>
            <a:r>
              <a:rPr lang="en-US" b="1" dirty="0"/>
              <a:t> </a:t>
            </a:r>
            <a:r>
              <a:rPr lang="en-US" b="1" dirty="0" err="1"/>
              <a:t>opstlinngstid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1CE45E-B1B3-B9CD-3B92-4346FE218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5624"/>
                <a:ext cx="121920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WYNDOR GLASS: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FF0000"/>
                    </a:solidFill>
                  </a:rPr>
                  <a:t>På</a:t>
                </a:r>
                <a:r>
                  <a:rPr lang="en-US" dirty="0">
                    <a:solidFill>
                      <a:srgbClr val="FF0000"/>
                    </a:solidFill>
                  </a:rPr>
                  <a:t> Fabrik 3 </a:t>
                </a:r>
                <a:r>
                  <a:rPr lang="en-US" dirty="0" err="1">
                    <a:solidFill>
                      <a:srgbClr val="FF0000"/>
                    </a:solidFill>
                  </a:rPr>
                  <a:t>forgår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produktionen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af</a:t>
                </a:r>
                <a:r>
                  <a:rPr lang="en-US" dirty="0">
                    <a:solidFill>
                      <a:srgbClr val="FF0000"/>
                    </a:solidFill>
                  </a:rPr>
                  <a:t> den nye </a:t>
                </a:r>
                <a:r>
                  <a:rPr lang="en-US" dirty="0" err="1">
                    <a:solidFill>
                      <a:srgbClr val="FF0000"/>
                    </a:solidFill>
                  </a:rPr>
                  <a:t>produkter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på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en</a:t>
                </a:r>
                <a:r>
                  <a:rPr lang="en-US" dirty="0">
                    <a:solidFill>
                      <a:srgbClr val="FF0000"/>
                    </a:solidFill>
                  </a:rPr>
                  <a:t> special </a:t>
                </a:r>
                <a:r>
                  <a:rPr lang="en-US" dirty="0" err="1">
                    <a:solidFill>
                      <a:srgbClr val="FF0000"/>
                    </a:solidFill>
                  </a:rPr>
                  <a:t>maskine</a:t>
                </a:r>
                <a:r>
                  <a:rPr lang="en-US" dirty="0">
                    <a:solidFill>
                      <a:srgbClr val="FF0000"/>
                    </a:solidFill>
                  </a:rPr>
                  <a:t> Geiger2 (</a:t>
                </a:r>
                <a:r>
                  <a:rPr lang="en-US" dirty="0" err="1">
                    <a:solidFill>
                      <a:srgbClr val="FF0000"/>
                    </a:solidFill>
                  </a:rPr>
                  <a:t>kaldet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geigeren</a:t>
                </a:r>
                <a:r>
                  <a:rPr lang="en-US" dirty="0">
                    <a:solidFill>
                      <a:srgbClr val="FF0000"/>
                    </a:solidFill>
                  </a:rPr>
                  <a:t>). Denne </a:t>
                </a:r>
                <a:r>
                  <a:rPr lang="en-US" dirty="0" err="1">
                    <a:solidFill>
                      <a:srgbClr val="FF0000"/>
                    </a:solidFill>
                  </a:rPr>
                  <a:t>maskine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kræver</a:t>
                </a:r>
                <a:r>
                  <a:rPr lang="en-US" dirty="0">
                    <a:solidFill>
                      <a:srgbClr val="FF0000"/>
                    </a:solidFill>
                  </a:rPr>
                  <a:t> at man </a:t>
                </a:r>
                <a:r>
                  <a:rPr lang="en-US" dirty="0" err="1">
                    <a:solidFill>
                      <a:srgbClr val="FF0000"/>
                    </a:solidFill>
                  </a:rPr>
                  <a:t>før</a:t>
                </a:r>
                <a:r>
                  <a:rPr lang="en-US" dirty="0">
                    <a:solidFill>
                      <a:srgbClr val="FF0000"/>
                    </a:solidFill>
                  </a:rPr>
                  <a:t> start </a:t>
                </a:r>
                <a:r>
                  <a:rPr lang="en-US" dirty="0" err="1">
                    <a:solidFill>
                      <a:srgbClr val="FF0000"/>
                    </a:solidFill>
                  </a:rPr>
                  <a:t>af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hver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af</a:t>
                </a:r>
                <a:r>
                  <a:rPr lang="en-US" dirty="0">
                    <a:solidFill>
                      <a:srgbClr val="FF0000"/>
                    </a:solidFill>
                  </a:rPr>
                  <a:t> de to </a:t>
                </a:r>
                <a:r>
                  <a:rPr lang="en-US" dirty="0" err="1">
                    <a:solidFill>
                      <a:srgbClr val="FF0000"/>
                    </a:solidFill>
                  </a:rPr>
                  <a:t>mulige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produktioner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skal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bruge</a:t>
                </a:r>
                <a:r>
                  <a:rPr lang="en-US" dirty="0">
                    <a:solidFill>
                      <a:srgbClr val="FF0000"/>
                    </a:solidFill>
                  </a:rPr>
                  <a:t> 1 time </a:t>
                </a:r>
                <a:r>
                  <a:rPr lang="en-US" dirty="0" err="1">
                    <a:solidFill>
                      <a:srgbClr val="FF0000"/>
                    </a:solidFill>
                  </a:rPr>
                  <a:t>på</a:t>
                </a:r>
                <a:r>
                  <a:rPr lang="en-US" dirty="0">
                    <a:solidFill>
                      <a:srgbClr val="FF0000"/>
                    </a:solidFill>
                  </a:rPr>
                  <a:t> at fin-</a:t>
                </a:r>
                <a:r>
                  <a:rPr lang="en-US" dirty="0" err="1">
                    <a:solidFill>
                      <a:srgbClr val="FF0000"/>
                    </a:solidFill>
                  </a:rPr>
                  <a:t>kalibrere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geigeren</a:t>
                </a:r>
                <a:r>
                  <a:rPr lang="en-US" dirty="0">
                    <a:solidFill>
                      <a:srgbClr val="FF0000"/>
                    </a:solidFill>
                  </a:rPr>
                  <a:t>. </a:t>
                </a:r>
                <a:r>
                  <a:rPr lang="en-US" dirty="0" err="1">
                    <a:solidFill>
                      <a:srgbClr val="FF0000"/>
                    </a:solidFill>
                  </a:rPr>
                  <a:t>Dvs</a:t>
                </a:r>
                <a:r>
                  <a:rPr lang="en-US" dirty="0">
                    <a:solidFill>
                      <a:srgbClr val="FF0000"/>
                    </a:solidFill>
                  </a:rPr>
                  <a:t> man </a:t>
                </a:r>
                <a:r>
                  <a:rPr lang="en-US" dirty="0" err="1">
                    <a:solidFill>
                      <a:srgbClr val="FF0000"/>
                    </a:solidFill>
                  </a:rPr>
                  <a:t>reelt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har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kun</a:t>
                </a:r>
                <a:r>
                  <a:rPr lang="en-US" dirty="0">
                    <a:solidFill>
                      <a:srgbClr val="FF0000"/>
                    </a:solidFill>
                  </a:rPr>
                  <a:t> 16 </a:t>
                </a:r>
                <a:r>
                  <a:rPr lang="en-US" dirty="0" err="1">
                    <a:solidFill>
                      <a:srgbClr val="FF0000"/>
                    </a:solidFill>
                  </a:rPr>
                  <a:t>eller</a:t>
                </a:r>
                <a:r>
                  <a:rPr lang="en-US" dirty="0">
                    <a:solidFill>
                      <a:srgbClr val="FF0000"/>
                    </a:solidFill>
                  </a:rPr>
                  <a:t> 17 timer </a:t>
                </a:r>
                <a:r>
                  <a:rPr lang="en-US" dirty="0" err="1">
                    <a:solidFill>
                      <a:srgbClr val="FF0000"/>
                    </a:solidFill>
                  </a:rPr>
                  <a:t>til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rådighed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på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geigeren</a:t>
                </a:r>
                <a:r>
                  <a:rPr lang="en-US" dirty="0">
                    <a:solidFill>
                      <a:srgbClr val="FF0000"/>
                    </a:solidFill>
                  </a:rPr>
                  <a:t> (</a:t>
                </a:r>
                <a:r>
                  <a:rPr lang="en-US" dirty="0" err="1">
                    <a:solidFill>
                      <a:srgbClr val="FF0000"/>
                    </a:solidFill>
                  </a:rPr>
                  <a:t>afhængig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af</a:t>
                </a:r>
                <a:r>
                  <a:rPr lang="en-US" dirty="0">
                    <a:solidFill>
                      <a:srgbClr val="FF0000"/>
                    </a:solidFill>
                  </a:rPr>
                  <a:t> om man </a:t>
                </a:r>
                <a:r>
                  <a:rPr lang="en-US" dirty="0" err="1">
                    <a:solidFill>
                      <a:srgbClr val="FF0000"/>
                    </a:solidFill>
                  </a:rPr>
                  <a:t>producrer</a:t>
                </a:r>
                <a:r>
                  <a:rPr lang="en-US" dirty="0">
                    <a:solidFill>
                      <a:srgbClr val="FF0000"/>
                    </a:solidFill>
                  </a:rPr>
                  <a:t> et </a:t>
                </a:r>
                <a:r>
                  <a:rPr lang="en-US" dirty="0" err="1">
                    <a:solidFill>
                      <a:srgbClr val="FF0000"/>
                    </a:solidFill>
                  </a:rPr>
                  <a:t>eller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begge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produkter</a:t>
                </a:r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Lad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𝑃𝑟𝑜𝑑𝑢𝑘𝑡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𝑝𝑟𝑜𝑑𝑢𝑐𝑒𝑟𝑒𝑠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𝑃𝑟𝑜𝑑𝑢𝑘𝑡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𝑝𝑟𝑜𝑑𝑢𝑐𝑒𝑟𝑒𝑠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𝑖𝑘𝑘𝑒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1CE45E-B1B3-B9CD-3B92-4346FE218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4"/>
                <a:ext cx="12192000" cy="5032375"/>
              </a:xfrm>
              <a:blipFill>
                <a:blip r:embed="rId2"/>
                <a:stretch>
                  <a:fillRect l="-1000" t="-19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849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EC2D-5353-BF2C-A02A-5F8B2437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Modellering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C13A5-AF7B-9FA8-8693-9C6DE990D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095" y="1331495"/>
            <a:ext cx="10627894" cy="5430252"/>
          </a:xfrm>
        </p:spPr>
      </p:pic>
    </p:spTree>
    <p:extLst>
      <p:ext uri="{BB962C8B-B14F-4D97-AF65-F5344CB8AC3E}">
        <p14:creationId xmlns:p14="http://schemas.microsoft.com/office/powerpoint/2010/main" val="589585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01E5-7AE3-4CFC-4F2D-A5D0446E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Løsning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1C996D-A436-7396-E45F-E29AAD2DA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179" y="1850019"/>
            <a:ext cx="10643937" cy="5032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344FA-AA4A-7D99-E945-39B06AED775E}"/>
              </a:ext>
            </a:extLst>
          </p:cNvPr>
          <p:cNvSpPr txBox="1"/>
          <p:nvPr/>
        </p:nvSpPr>
        <p:spPr>
          <a:xfrm>
            <a:off x="1138989" y="5053263"/>
            <a:ext cx="2189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Afrunde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dette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tal</a:t>
            </a:r>
            <a:r>
              <a:rPr lang="en-US" dirty="0">
                <a:solidFill>
                  <a:srgbClr val="FF0000"/>
                </a:solidFill>
              </a:rPr>
              <a:t> – </a:t>
            </a:r>
            <a:r>
              <a:rPr lang="en-US" dirty="0" err="1">
                <a:solidFill>
                  <a:srgbClr val="FF0000"/>
                </a:solidFill>
              </a:rPr>
              <a:t>eller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løse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alle variable </a:t>
            </a:r>
            <a:r>
              <a:rPr lang="en-US" dirty="0" err="1">
                <a:solidFill>
                  <a:srgbClr val="FF0000"/>
                </a:solidFill>
              </a:rPr>
              <a:t>skal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være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heltallige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882068-367C-55AF-6E80-D3CCB2B3E916}"/>
              </a:ext>
            </a:extLst>
          </p:cNvPr>
          <p:cNvCxnSpPr/>
          <p:nvPr/>
        </p:nvCxnSpPr>
        <p:spPr>
          <a:xfrm flipV="1">
            <a:off x="1965158" y="3681663"/>
            <a:ext cx="368968" cy="1485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6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759</Words>
  <Application>Microsoft Office PowerPoint</Application>
  <PresentationFormat>Widescreen</PresentationFormat>
  <Paragraphs>110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Heltalsprogrammering (IP)</vt:lpstr>
      <vt:lpstr>Hvorfor heltalsprogramering?</vt:lpstr>
      <vt:lpstr>Afrunding fra LP model</vt:lpstr>
      <vt:lpstr>Afrunding fra LP model</vt:lpstr>
      <vt:lpstr>Afrunding fra LP model</vt:lpstr>
      <vt:lpstr>Eksempler med med enten-eller beslutninger</vt:lpstr>
      <vt:lpstr>Prototype eksempel fra HL</vt:lpstr>
      <vt:lpstr>Prototype eksempel fra HL</vt:lpstr>
      <vt:lpstr>Set covering</vt:lpstr>
      <vt:lpstr>Hvordan løser man et heltalsproblem</vt:lpstr>
      <vt:lpstr>Løsning af prototype eksempel vha Solver</vt:lpstr>
      <vt:lpstr>Opsætning af setcovering i Solver</vt:lpstr>
      <vt:lpstr>Løsning til set covering problemet</vt:lpstr>
      <vt:lpstr>Hvordan løser Solveren IP</vt:lpstr>
      <vt:lpstr>Løse et IP som et LP?</vt:lpstr>
      <vt:lpstr>Løse et IP som et LP?</vt:lpstr>
      <vt:lpstr>TSP: Travelling Salesman problemet</vt:lpstr>
      <vt:lpstr>TSP: Travelling Salesman problemet</vt:lpstr>
      <vt:lpstr>Brug af binære variable til modellering af problemer med faste omkostninger</vt:lpstr>
      <vt:lpstr>Brug af binære variable til modellering af problemer med faste omkostninger</vt:lpstr>
      <vt:lpstr>Vi kan også bruge binære variable til at modellere opstlinngstid</vt:lpstr>
      <vt:lpstr>Modellering</vt:lpstr>
      <vt:lpstr>Løsning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Heltalsprogrammering</dc:title>
  <dc:creator>Christian Larsen</dc:creator>
  <cp:lastModifiedBy>Christian Larsen</cp:lastModifiedBy>
  <cp:revision>12</cp:revision>
  <dcterms:created xsi:type="dcterms:W3CDTF">2023-09-29T11:10:05Z</dcterms:created>
  <dcterms:modified xsi:type="dcterms:W3CDTF">2023-10-18T14:03:50Z</dcterms:modified>
</cp:coreProperties>
</file>