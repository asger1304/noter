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08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F1A98-EB28-DC71-1370-8E5358D278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AD3E97-C688-1822-7E46-7CCA12A894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937BB4-14B9-E78D-4DEE-E5E002076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4DB5A-E004-4BB9-B224-EF88EDE7AB75}" type="datetimeFigureOut">
              <a:rPr lang="da-DK" smtClean="0"/>
              <a:t>18-10-2023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0166A-425D-4C01-A032-31E0EBECC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3135E-7DBC-4BF2-25E3-A3D903CD0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3C395-C265-4D2C-9D21-B2B9A99FD9D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6534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5A6FF-0BC1-53EA-CB17-1E65400C8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9C619-0D49-9DE5-7D76-3DB68C9501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F7E64-D803-D8EB-4AE6-CB7BC826F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4DB5A-E004-4BB9-B224-EF88EDE7AB75}" type="datetimeFigureOut">
              <a:rPr lang="da-DK" smtClean="0"/>
              <a:t>18-10-2023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94ACF2-590F-6487-FA4D-E57EAC0F1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B8965-5BAA-663F-F4DE-CB4F01F39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3C395-C265-4D2C-9D21-B2B9A99FD9D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1885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1D4A9-10D9-BDC9-4B7C-7BEB4E643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2C31D3-32CD-C005-F234-9A0F263A62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E7D42A-33B1-71A2-D5F8-4D894A60E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4DB5A-E004-4BB9-B224-EF88EDE7AB75}" type="datetimeFigureOut">
              <a:rPr lang="da-DK" smtClean="0"/>
              <a:t>18-10-2023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F1EF0A-AB31-074E-C187-7149D6D8E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25C969-70E0-B960-A4E3-92B1CD662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3C395-C265-4D2C-9D21-B2B9A99FD9D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28133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23BDA-B720-404E-4673-066F9EC55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1CB8C-CEEF-CE7C-B67B-73AB210D5D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0FFAC-D833-1C3A-5A2C-2F191AAA0F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820847-20C5-21C8-EC07-CF5DC2072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4DB5A-E004-4BB9-B224-EF88EDE7AB75}" type="datetimeFigureOut">
              <a:rPr lang="da-DK" smtClean="0"/>
              <a:t>18-10-2023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05C7D0-F621-3D1E-CB4B-5F2BF2068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1D2525-37C4-CCC5-8D31-F444C004A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3C395-C265-4D2C-9D21-B2B9A99FD9D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74588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34237-DFAD-BF0E-5739-18B88BC01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1EB20A-A840-68DA-F25B-3BEF9C89F9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DB1ADC-8465-86BC-5C78-BF3B101E00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8D143D-5818-4B18-411F-6CD4553E7B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68B3BE-6E9C-B620-E679-DCCAB59424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F6E04C-B64B-FD24-6EF8-AF9DA87CA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4DB5A-E004-4BB9-B224-EF88EDE7AB75}" type="datetimeFigureOut">
              <a:rPr lang="da-DK" smtClean="0"/>
              <a:t>18-10-2023</a:t>
            </a:fld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49FABE-1F35-718F-F14F-A79590880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6FEFE8-2B49-841D-1C6B-45459A35C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3C395-C265-4D2C-9D21-B2B9A99FD9D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53857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87887-9BB1-B369-CE78-393637513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E3ADFF-938B-C055-DB5E-6561B365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4DB5A-E004-4BB9-B224-EF88EDE7AB75}" type="datetimeFigureOut">
              <a:rPr lang="da-DK" smtClean="0"/>
              <a:t>18-10-2023</a:t>
            </a:fld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9D45C8-E355-0A49-A787-BDA6C37F2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7C0A60-609F-BD45-A541-F55E7F5BE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3C395-C265-4D2C-9D21-B2B9A99FD9D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36452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6C8C47-2295-FBFF-5C0D-CEC83748E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4DB5A-E004-4BB9-B224-EF88EDE7AB75}" type="datetimeFigureOut">
              <a:rPr lang="da-DK" smtClean="0"/>
              <a:t>18-10-2023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FBED34-2338-73CB-25F0-734AAABEA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12A6C5-4FAE-9804-E5F2-370856434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3C395-C265-4D2C-9D21-B2B9A99FD9D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39672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E7580-28A0-76B4-3D20-016F05F60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1F72E-16D0-7B6F-39E0-4E7703749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080DCA-03DD-8151-2E85-360A1354E4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CA5780-30DC-9879-ABEA-BCAC8F7FC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4DB5A-E004-4BB9-B224-EF88EDE7AB75}" type="datetimeFigureOut">
              <a:rPr lang="da-DK" smtClean="0"/>
              <a:t>18-10-2023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6433CA-7E32-4DEB-3EB6-3DEB763DE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78C20-75A5-3E47-D779-F8193CC10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3C395-C265-4D2C-9D21-B2B9A99FD9D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15294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81741-5B33-1270-B611-091822CC3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2B7905-CD8D-2B87-D117-95C977D213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A16634-16AC-D59D-DA1B-2915C1CCB8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AF1F18-2A52-BB51-02E6-65ADF484C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4DB5A-E004-4BB9-B224-EF88EDE7AB75}" type="datetimeFigureOut">
              <a:rPr lang="da-DK" smtClean="0"/>
              <a:t>18-10-2023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E692D1-B453-2E88-D24B-2E450C2BF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389A51-BD64-7A87-4616-233B02E19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3C395-C265-4D2C-9D21-B2B9A99FD9D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6657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F6181-23CF-D14C-27F1-AD7AB8755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41FA5E-AC05-BB3E-7CC5-7832F46BF8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187D3-1725-1AB1-620A-889A842A1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4DB5A-E004-4BB9-B224-EF88EDE7AB75}" type="datetimeFigureOut">
              <a:rPr lang="da-DK" smtClean="0"/>
              <a:t>18-10-2023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EC4DE-CA5B-9D86-2333-EE5232645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56D712-1790-8047-4DC1-909536B11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3C395-C265-4D2C-9D21-B2B9A99FD9D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44638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283005-8514-2D5B-2DFA-1468467A13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3BAA9E-17A5-2840-F04F-3F2FD6F3E5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84630-22AF-7A9B-3D77-E68230E08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4DB5A-E004-4BB9-B224-EF88EDE7AB75}" type="datetimeFigureOut">
              <a:rPr lang="da-DK" smtClean="0"/>
              <a:t>18-10-2023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4E64B-1A12-24F4-7C01-5FB7C043E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CDAE78-759C-46CE-0EC4-B1A03DEA8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83C395-C265-4D2C-9D21-B2B9A99FD9D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84213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6A670C-2346-01E7-7310-263290452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78F126-07B2-1F53-E7AB-B663A4EBE6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E4067-276F-58B4-4A41-1C99CFEC64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74DB5A-E004-4BB9-B224-EF88EDE7AB75}" type="datetimeFigureOut">
              <a:rPr lang="da-DK" smtClean="0"/>
              <a:t>18-10-2023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39A99-293A-093C-5E58-9E2475684B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49ACC-475C-EAA5-440D-D10AEBD485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83C395-C265-4D2C-9D21-B2B9A99FD9D5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87417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8FE8D-1396-3D22-F736-489B490D1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en-US" b="1" dirty="0" err="1"/>
              <a:t>Lineær</a:t>
            </a:r>
            <a:r>
              <a:rPr lang="en-US" b="1" dirty="0"/>
              <a:t> </a:t>
            </a:r>
            <a:r>
              <a:rPr lang="en-US" b="1" dirty="0" err="1"/>
              <a:t>Programmering</a:t>
            </a:r>
            <a:r>
              <a:rPr lang="en-US" b="1" dirty="0"/>
              <a:t> 2</a:t>
            </a:r>
            <a:endParaRPr lang="da-D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B9941-4FD3-128D-8910-17174C93A9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5"/>
            <a:ext cx="12192000" cy="503237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Med </a:t>
            </a:r>
            <a:r>
              <a:rPr lang="en-US" dirty="0" err="1"/>
              <a:t>udgangspunkt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WYNDOR </a:t>
            </a:r>
            <a:r>
              <a:rPr lang="en-US" dirty="0" err="1"/>
              <a:t>vil</a:t>
            </a:r>
            <a:r>
              <a:rPr lang="en-US" dirty="0"/>
              <a:t> der </a:t>
            </a:r>
            <a:r>
              <a:rPr lang="en-US" dirty="0" err="1"/>
              <a:t>blive</a:t>
            </a:r>
            <a:r>
              <a:rPr lang="en-US" dirty="0"/>
              <a:t> </a:t>
            </a:r>
            <a:r>
              <a:rPr lang="en-US" dirty="0" err="1"/>
              <a:t>demonstreret</a:t>
            </a:r>
            <a:r>
              <a:rPr lang="en-US" dirty="0"/>
              <a:t> </a:t>
            </a:r>
            <a:r>
              <a:rPr lang="en-US" dirty="0" err="1"/>
              <a:t>nogle</a:t>
            </a:r>
            <a:r>
              <a:rPr lang="en-US" dirty="0"/>
              <a:t> </a:t>
            </a:r>
            <a:r>
              <a:rPr lang="en-US" dirty="0" err="1"/>
              <a:t>basale</a:t>
            </a:r>
            <a:r>
              <a:rPr lang="en-US" dirty="0"/>
              <a:t> </a:t>
            </a:r>
            <a:r>
              <a:rPr lang="en-US" dirty="0" err="1"/>
              <a:t>økonomiske</a:t>
            </a:r>
            <a:r>
              <a:rPr lang="en-US" dirty="0"/>
              <a:t> </a:t>
            </a:r>
            <a:r>
              <a:rPr lang="en-US" dirty="0" err="1"/>
              <a:t>begreber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analyser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895100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10C97-FCD7-A62D-D661-55706BC60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572125"/>
          </a:xfrm>
        </p:spPr>
        <p:txBody>
          <a:bodyPr/>
          <a:lstStyle/>
          <a:p>
            <a:pPr algn="ctr"/>
            <a:r>
              <a:rPr lang="en-US" b="1" dirty="0"/>
              <a:t>Agenda</a:t>
            </a:r>
            <a:endParaRPr lang="da-D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AC0D1-6DE9-BBDF-4CBF-D5F8239DED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5"/>
            <a:ext cx="12191999" cy="5032374"/>
          </a:xfrm>
        </p:spPr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rgbClr val="FF0000"/>
                </a:solidFill>
              </a:rPr>
              <a:t>Følsomhedsanalyser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da-DK" dirty="0">
                <a:solidFill>
                  <a:srgbClr val="FF0000"/>
                </a:solidFill>
              </a:rPr>
              <a:t>	og ”semimanuel” identificering af </a:t>
            </a:r>
            <a:r>
              <a:rPr lang="da-DK" sz="3200" b="1" dirty="0">
                <a:solidFill>
                  <a:srgbClr val="FF0000"/>
                </a:solidFill>
              </a:rPr>
              <a:t>skyggepriser</a:t>
            </a:r>
            <a:endParaRPr lang="da-DK" sz="32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da-DK" dirty="0">
                <a:solidFill>
                  <a:srgbClr val="00B0F0"/>
                </a:solidFill>
              </a:rPr>
              <a:t>Genfinde skyggepriser i Excel/</a:t>
            </a:r>
            <a:r>
              <a:rPr lang="da-DK" dirty="0" err="1">
                <a:solidFill>
                  <a:srgbClr val="00B0F0"/>
                </a:solidFill>
              </a:rPr>
              <a:t>Solvers</a:t>
            </a:r>
            <a:r>
              <a:rPr lang="da-DK" dirty="0">
                <a:solidFill>
                  <a:srgbClr val="00B0F0"/>
                </a:solidFill>
              </a:rPr>
              <a:t> standard output</a:t>
            </a:r>
          </a:p>
          <a:p>
            <a:pPr marL="0" indent="0">
              <a:buNone/>
            </a:pPr>
            <a:r>
              <a:rPr lang="da-DK" dirty="0">
                <a:solidFill>
                  <a:srgbClr val="00B050"/>
                </a:solidFill>
              </a:rPr>
              <a:t>Generel matematisk formulering af det </a:t>
            </a:r>
            <a:r>
              <a:rPr lang="da-DK" sz="3200" b="1" dirty="0" err="1">
                <a:solidFill>
                  <a:srgbClr val="00B050"/>
                </a:solidFill>
              </a:rPr>
              <a:t>duale</a:t>
            </a:r>
            <a:r>
              <a:rPr lang="da-DK" sz="3200" b="1" dirty="0">
                <a:solidFill>
                  <a:srgbClr val="00B050"/>
                </a:solidFill>
              </a:rPr>
              <a:t> problem</a:t>
            </a:r>
          </a:p>
          <a:p>
            <a:pPr marL="0" indent="0">
              <a:buNone/>
            </a:pPr>
            <a:r>
              <a:rPr lang="da-DK" dirty="0">
                <a:solidFill>
                  <a:srgbClr val="0070C0"/>
                </a:solidFill>
              </a:rPr>
              <a:t>Formulering og løsning af det </a:t>
            </a:r>
            <a:r>
              <a:rPr lang="da-DK" dirty="0" err="1">
                <a:solidFill>
                  <a:srgbClr val="0070C0"/>
                </a:solidFill>
              </a:rPr>
              <a:t>duale</a:t>
            </a:r>
            <a:r>
              <a:rPr lang="da-DK" dirty="0">
                <a:solidFill>
                  <a:srgbClr val="0070C0"/>
                </a:solidFill>
              </a:rPr>
              <a:t> problem for WYNDOR GLASS</a:t>
            </a:r>
          </a:p>
          <a:p>
            <a:pPr marL="0" indent="0">
              <a:buNone/>
            </a:pPr>
            <a:r>
              <a:rPr lang="da-DK" dirty="0">
                <a:solidFill>
                  <a:schemeClr val="accent2"/>
                </a:solidFill>
              </a:rPr>
              <a:t>Hvad nu hvis vi der udvikles nyt produkt – skal dette produceres?</a:t>
            </a:r>
          </a:p>
          <a:p>
            <a:pPr marL="0" indent="0">
              <a:buNone/>
            </a:pPr>
            <a:r>
              <a:rPr lang="da-DK" dirty="0">
                <a:solidFill>
                  <a:schemeClr val="accent2"/>
                </a:solidFill>
              </a:rPr>
              <a:t>	</a:t>
            </a:r>
            <a:r>
              <a:rPr lang="da-DK" sz="3200" b="1" dirty="0">
                <a:solidFill>
                  <a:schemeClr val="accent2"/>
                </a:solidFill>
              </a:rPr>
              <a:t>offeromkostningsbegrebet</a:t>
            </a:r>
            <a:endParaRPr lang="en-US" sz="32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3712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5D60D-7CC0-2553-F78C-144C1FC6C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451810"/>
          </a:xfrm>
        </p:spPr>
        <p:txBody>
          <a:bodyPr/>
          <a:lstStyle/>
          <a:p>
            <a:pPr algn="ctr"/>
            <a:r>
              <a:rPr lang="en-US" b="1" dirty="0" err="1"/>
              <a:t>Følsomhedsanalyser</a:t>
            </a:r>
            <a:endParaRPr lang="da-D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86319-6A31-4E20-24F2-B2EC2BD945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5"/>
            <a:ext cx="12192000" cy="503237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LP-</a:t>
            </a:r>
            <a:r>
              <a:rPr lang="en-US" dirty="0" err="1"/>
              <a:t>formuleringen</a:t>
            </a:r>
            <a:r>
              <a:rPr lang="en-US" dirty="0"/>
              <a:t> </a:t>
            </a:r>
            <a:r>
              <a:rPr lang="en-US" dirty="0" err="1"/>
              <a:t>af</a:t>
            </a:r>
            <a:r>
              <a:rPr lang="en-US" dirty="0"/>
              <a:t> WYNDOR GLASS </a:t>
            </a:r>
            <a:r>
              <a:rPr lang="en-US" dirty="0" err="1"/>
              <a:t>hvor</a:t>
            </a:r>
            <a:r>
              <a:rPr lang="en-US" dirty="0"/>
              <a:t> vi ser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muligheden</a:t>
            </a:r>
            <a:r>
              <a:rPr lang="en-US" dirty="0"/>
              <a:t> for at </a:t>
            </a:r>
            <a:r>
              <a:rPr lang="en-US" dirty="0" err="1">
                <a:solidFill>
                  <a:srgbClr val="FF0000"/>
                </a:solidFill>
              </a:rPr>
              <a:t>ændre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kapacitetsgrænserne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da-D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6615A4-9FB6-F668-F9DC-A26752DE8F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1" y="3248526"/>
            <a:ext cx="6633410" cy="278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863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DA5A6-4875-E568-C0F4-D90913896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r>
              <a:rPr lang="en-US" b="1" dirty="0" err="1"/>
              <a:t>Følsomhedsanalyse</a:t>
            </a:r>
            <a:r>
              <a:rPr lang="en-US" b="1" dirty="0"/>
              <a:t> </a:t>
            </a:r>
            <a:r>
              <a:rPr lang="en-US" b="1" dirty="0" err="1"/>
              <a:t>på</a:t>
            </a:r>
            <a:r>
              <a:rPr lang="en-US" b="1" dirty="0"/>
              <a:t> </a:t>
            </a:r>
            <a:r>
              <a:rPr lang="en-US" b="1" dirty="0" err="1"/>
              <a:t>kapacitetsgrænse</a:t>
            </a:r>
            <a:r>
              <a:rPr lang="en-US" b="1" dirty="0"/>
              <a:t> for Fabrik 1</a:t>
            </a:r>
            <a:endParaRPr lang="da-D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DF88A-80AF-CD70-0E62-6BE1B968D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Hvilken</a:t>
            </a:r>
            <a:r>
              <a:rPr lang="en-US" dirty="0"/>
              <a:t> </a:t>
            </a:r>
            <a:r>
              <a:rPr lang="en-US" dirty="0" err="1"/>
              <a:t>værdi</a:t>
            </a:r>
            <a:r>
              <a:rPr lang="en-US" dirty="0"/>
              <a:t> </a:t>
            </a:r>
            <a:r>
              <a:rPr lang="en-US" dirty="0" err="1"/>
              <a:t>har</a:t>
            </a:r>
            <a:r>
              <a:rPr lang="en-US" dirty="0"/>
              <a:t> det for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hvis</a:t>
            </a:r>
            <a:r>
              <a:rPr lang="en-US" dirty="0"/>
              <a:t> det var </a:t>
            </a:r>
            <a:r>
              <a:rPr lang="en-US" dirty="0" err="1"/>
              <a:t>muligt</a:t>
            </a:r>
            <a:r>
              <a:rPr lang="en-US" dirty="0"/>
              <a:t> at </a:t>
            </a:r>
            <a:r>
              <a:rPr lang="en-US" dirty="0" err="1">
                <a:solidFill>
                  <a:srgbClr val="FF0000"/>
                </a:solidFill>
              </a:rPr>
              <a:t>ændre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kapacitetsgrænsen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på</a:t>
            </a:r>
            <a:r>
              <a:rPr lang="en-US" dirty="0">
                <a:solidFill>
                  <a:srgbClr val="FF0000"/>
                </a:solidFill>
              </a:rPr>
              <a:t> 4 timer </a:t>
            </a:r>
            <a:r>
              <a:rPr lang="en-US" dirty="0" err="1">
                <a:solidFill>
                  <a:srgbClr val="FF0000"/>
                </a:solidFill>
              </a:rPr>
              <a:t>til</a:t>
            </a:r>
            <a:r>
              <a:rPr lang="en-US" dirty="0">
                <a:solidFill>
                  <a:srgbClr val="FF0000"/>
                </a:solidFill>
              </a:rPr>
              <a:t> f. </a:t>
            </a:r>
            <a:r>
              <a:rPr lang="en-US" dirty="0" err="1">
                <a:solidFill>
                  <a:srgbClr val="FF0000"/>
                </a:solidFill>
              </a:rPr>
              <a:t>eks</a:t>
            </a:r>
            <a:r>
              <a:rPr lang="en-US" dirty="0">
                <a:solidFill>
                  <a:srgbClr val="FF0000"/>
                </a:solidFill>
              </a:rPr>
              <a:t>. 5 timer?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Skygge pris = ?</a:t>
            </a:r>
            <a:endParaRPr lang="da-DK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8128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DA5A6-4875-E568-C0F4-D90913896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r>
              <a:rPr lang="en-US" b="1" dirty="0" err="1"/>
              <a:t>Følsomhedsanalyse</a:t>
            </a:r>
            <a:r>
              <a:rPr lang="en-US" b="1" dirty="0"/>
              <a:t> </a:t>
            </a:r>
            <a:r>
              <a:rPr lang="en-US" b="1" dirty="0" err="1"/>
              <a:t>på</a:t>
            </a:r>
            <a:r>
              <a:rPr lang="en-US" b="1" dirty="0"/>
              <a:t> </a:t>
            </a:r>
            <a:r>
              <a:rPr lang="en-US" b="1" dirty="0" err="1"/>
              <a:t>kapacitetsgrænse</a:t>
            </a:r>
            <a:r>
              <a:rPr lang="en-US" b="1" dirty="0"/>
              <a:t> for Fabrik 2</a:t>
            </a:r>
            <a:endParaRPr lang="da-D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DF88A-80AF-CD70-0E62-6BE1B968D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Hvilken</a:t>
            </a:r>
            <a:r>
              <a:rPr lang="en-US" dirty="0"/>
              <a:t> </a:t>
            </a:r>
            <a:r>
              <a:rPr lang="en-US" dirty="0" err="1"/>
              <a:t>værdi</a:t>
            </a:r>
            <a:r>
              <a:rPr lang="en-US" dirty="0"/>
              <a:t> </a:t>
            </a:r>
            <a:r>
              <a:rPr lang="en-US" dirty="0" err="1"/>
              <a:t>har</a:t>
            </a:r>
            <a:r>
              <a:rPr lang="en-US" dirty="0"/>
              <a:t> det for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hvis</a:t>
            </a:r>
            <a:r>
              <a:rPr lang="en-US" dirty="0"/>
              <a:t> det var </a:t>
            </a:r>
            <a:r>
              <a:rPr lang="en-US" dirty="0" err="1"/>
              <a:t>muligt</a:t>
            </a:r>
            <a:r>
              <a:rPr lang="en-US" dirty="0"/>
              <a:t> at </a:t>
            </a:r>
            <a:r>
              <a:rPr lang="en-US" dirty="0" err="1">
                <a:solidFill>
                  <a:srgbClr val="FF0000"/>
                </a:solidFill>
              </a:rPr>
              <a:t>ændre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kapacitetsgrænsen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på</a:t>
            </a:r>
            <a:r>
              <a:rPr lang="en-US" dirty="0">
                <a:solidFill>
                  <a:srgbClr val="FF0000"/>
                </a:solidFill>
              </a:rPr>
              <a:t> 12 timer </a:t>
            </a:r>
            <a:r>
              <a:rPr lang="en-US" dirty="0" err="1">
                <a:solidFill>
                  <a:srgbClr val="FF0000"/>
                </a:solidFill>
              </a:rPr>
              <a:t>til</a:t>
            </a:r>
            <a:r>
              <a:rPr lang="en-US" dirty="0">
                <a:solidFill>
                  <a:srgbClr val="FF0000"/>
                </a:solidFill>
              </a:rPr>
              <a:t> f. </a:t>
            </a:r>
            <a:r>
              <a:rPr lang="en-US" dirty="0" err="1">
                <a:solidFill>
                  <a:srgbClr val="FF0000"/>
                </a:solidFill>
              </a:rPr>
              <a:t>eks</a:t>
            </a:r>
            <a:r>
              <a:rPr lang="en-US" dirty="0">
                <a:solidFill>
                  <a:srgbClr val="FF0000"/>
                </a:solidFill>
              </a:rPr>
              <a:t>. 15, 18 </a:t>
            </a:r>
            <a:r>
              <a:rPr lang="en-US" dirty="0" err="1">
                <a:solidFill>
                  <a:srgbClr val="FF0000"/>
                </a:solidFill>
              </a:rPr>
              <a:t>eller</a:t>
            </a:r>
            <a:r>
              <a:rPr lang="en-US" dirty="0">
                <a:solidFill>
                  <a:srgbClr val="FF0000"/>
                </a:solidFill>
              </a:rPr>
              <a:t> 21 timer?</a:t>
            </a:r>
          </a:p>
          <a:p>
            <a:pPr marL="0" indent="0">
              <a:buNone/>
            </a:pPr>
            <a:r>
              <a:rPr lang="en-US" dirty="0"/>
              <a:t>(</a:t>
            </a:r>
            <a:r>
              <a:rPr lang="en-US" dirty="0" err="1"/>
              <a:t>og</a:t>
            </a:r>
            <a:r>
              <a:rPr lang="en-US" dirty="0"/>
              <a:t> lad </a:t>
            </a:r>
            <a:r>
              <a:rPr lang="en-US" dirty="0" err="1"/>
              <a:t>os</a:t>
            </a:r>
            <a:r>
              <a:rPr lang="en-US" dirty="0"/>
              <a:t> for </a:t>
            </a:r>
            <a:r>
              <a:rPr lang="en-US" dirty="0" err="1"/>
              <a:t>simpelthedens</a:t>
            </a:r>
            <a:r>
              <a:rPr lang="en-US" dirty="0"/>
              <a:t> </a:t>
            </a:r>
            <a:r>
              <a:rPr lang="en-US" dirty="0" err="1"/>
              <a:t>skyld</a:t>
            </a:r>
            <a:r>
              <a:rPr lang="en-US" dirty="0"/>
              <a:t> </a:t>
            </a:r>
            <a:r>
              <a:rPr lang="en-US" dirty="0" err="1"/>
              <a:t>antage</a:t>
            </a:r>
            <a:r>
              <a:rPr lang="en-US" dirty="0"/>
              <a:t> vi </a:t>
            </a:r>
            <a:r>
              <a:rPr lang="en-US" dirty="0" err="1"/>
              <a:t>kan</a:t>
            </a:r>
            <a:r>
              <a:rPr lang="en-US" dirty="0"/>
              <a:t> producer halve batches)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Skygge pris = ?</a:t>
            </a:r>
            <a:endParaRPr lang="da-DK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0339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DA5A6-4875-E568-C0F4-D90913896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r>
              <a:rPr lang="en-US" b="1" dirty="0" err="1"/>
              <a:t>Følsomhedsanalyse</a:t>
            </a:r>
            <a:r>
              <a:rPr lang="en-US" b="1" dirty="0"/>
              <a:t> </a:t>
            </a:r>
            <a:r>
              <a:rPr lang="en-US" b="1" dirty="0" err="1"/>
              <a:t>på</a:t>
            </a:r>
            <a:r>
              <a:rPr lang="en-US" b="1" dirty="0"/>
              <a:t> </a:t>
            </a:r>
            <a:r>
              <a:rPr lang="en-US" b="1" dirty="0" err="1"/>
              <a:t>kapacitetsgrænse</a:t>
            </a:r>
            <a:r>
              <a:rPr lang="en-US" b="1" dirty="0"/>
              <a:t> for Fabrik 3</a:t>
            </a:r>
            <a:endParaRPr lang="da-D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DF88A-80AF-CD70-0E62-6BE1B968D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4"/>
            <a:ext cx="12191999" cy="5032375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Hvilken</a:t>
            </a:r>
            <a:r>
              <a:rPr lang="en-US" dirty="0"/>
              <a:t> </a:t>
            </a:r>
            <a:r>
              <a:rPr lang="en-US" dirty="0" err="1"/>
              <a:t>værdi</a:t>
            </a:r>
            <a:r>
              <a:rPr lang="en-US" dirty="0"/>
              <a:t> </a:t>
            </a:r>
            <a:r>
              <a:rPr lang="en-US" dirty="0" err="1"/>
              <a:t>har</a:t>
            </a:r>
            <a:r>
              <a:rPr lang="en-US" dirty="0"/>
              <a:t> det for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hvis</a:t>
            </a:r>
            <a:r>
              <a:rPr lang="en-US" dirty="0"/>
              <a:t> det var </a:t>
            </a:r>
            <a:r>
              <a:rPr lang="en-US" dirty="0" err="1"/>
              <a:t>muligt</a:t>
            </a:r>
            <a:r>
              <a:rPr lang="en-US" dirty="0"/>
              <a:t> at </a:t>
            </a:r>
            <a:r>
              <a:rPr lang="en-US" dirty="0" err="1">
                <a:solidFill>
                  <a:srgbClr val="FF0000"/>
                </a:solidFill>
              </a:rPr>
              <a:t>ændre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kapacitetsgrænsen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på</a:t>
            </a:r>
            <a:r>
              <a:rPr lang="en-US" dirty="0">
                <a:solidFill>
                  <a:srgbClr val="FF0000"/>
                </a:solidFill>
              </a:rPr>
              <a:t> 18 timer </a:t>
            </a:r>
            <a:r>
              <a:rPr lang="en-US" dirty="0" err="1">
                <a:solidFill>
                  <a:srgbClr val="FF0000"/>
                </a:solidFill>
              </a:rPr>
              <a:t>til</a:t>
            </a:r>
            <a:r>
              <a:rPr lang="en-US" dirty="0">
                <a:solidFill>
                  <a:srgbClr val="FF0000"/>
                </a:solidFill>
              </a:rPr>
              <a:t> f. </a:t>
            </a:r>
            <a:r>
              <a:rPr lang="en-US" dirty="0" err="1">
                <a:solidFill>
                  <a:srgbClr val="FF0000"/>
                </a:solidFill>
              </a:rPr>
              <a:t>eks</a:t>
            </a:r>
            <a:r>
              <a:rPr lang="en-US" dirty="0">
                <a:solidFill>
                  <a:srgbClr val="FF0000"/>
                </a:solidFill>
              </a:rPr>
              <a:t>. 21, 24 </a:t>
            </a:r>
            <a:r>
              <a:rPr lang="en-US" dirty="0" err="1">
                <a:solidFill>
                  <a:srgbClr val="FF0000"/>
                </a:solidFill>
              </a:rPr>
              <a:t>eller</a:t>
            </a:r>
            <a:r>
              <a:rPr lang="en-US" dirty="0">
                <a:solidFill>
                  <a:srgbClr val="FF0000"/>
                </a:solidFill>
              </a:rPr>
              <a:t> 27 timer?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Skygge pris = ?</a:t>
            </a:r>
            <a:endParaRPr lang="da-DK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289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40033-039A-5655-8839-5393725D6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en-US" b="1" dirty="0" err="1"/>
              <a:t>Hvorfor</a:t>
            </a:r>
            <a:r>
              <a:rPr lang="en-US" b="1" dirty="0"/>
              <a:t> er </a:t>
            </a:r>
            <a:r>
              <a:rPr lang="en-US" b="1" dirty="0" err="1"/>
              <a:t>viden</a:t>
            </a:r>
            <a:r>
              <a:rPr lang="en-US" b="1" dirty="0"/>
              <a:t> om </a:t>
            </a:r>
            <a:r>
              <a:rPr lang="en-US" b="1" dirty="0" err="1"/>
              <a:t>skygge</a:t>
            </a:r>
            <a:r>
              <a:rPr lang="en-US" b="1" dirty="0"/>
              <a:t> </a:t>
            </a:r>
            <a:r>
              <a:rPr lang="en-US" b="1" dirty="0" err="1"/>
              <a:t>priser</a:t>
            </a:r>
            <a:r>
              <a:rPr lang="en-US" b="1" dirty="0"/>
              <a:t> relevant?</a:t>
            </a:r>
            <a:endParaRPr lang="da-D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9D2CC-ADE3-07AB-1F18-1F4657F971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5"/>
            <a:ext cx="12192000" cy="503237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Det </a:t>
            </a:r>
            <a:r>
              <a:rPr lang="en-US" dirty="0" err="1"/>
              <a:t>fortæller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noget</a:t>
            </a:r>
            <a:r>
              <a:rPr lang="en-US" dirty="0"/>
              <a:t> om </a:t>
            </a:r>
            <a:r>
              <a:rPr lang="en-US" dirty="0" err="1"/>
              <a:t>hvad</a:t>
            </a:r>
            <a:r>
              <a:rPr lang="en-US" dirty="0"/>
              <a:t> vi er </a:t>
            </a:r>
            <a:r>
              <a:rPr lang="en-US" b="1" dirty="0" err="1">
                <a:solidFill>
                  <a:srgbClr val="FF0000"/>
                </a:solidFill>
              </a:rPr>
              <a:t>villige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til</a:t>
            </a:r>
            <a:r>
              <a:rPr lang="en-US" b="1" dirty="0">
                <a:solidFill>
                  <a:srgbClr val="FF0000"/>
                </a:solidFill>
              </a:rPr>
              <a:t> at </a:t>
            </a:r>
            <a:r>
              <a:rPr lang="en-US" b="1" dirty="0" err="1">
                <a:solidFill>
                  <a:srgbClr val="FF0000"/>
                </a:solidFill>
              </a:rPr>
              <a:t>betale</a:t>
            </a:r>
            <a:r>
              <a:rPr lang="en-US" b="1" dirty="0">
                <a:solidFill>
                  <a:srgbClr val="FF0000"/>
                </a:solidFill>
              </a:rPr>
              <a:t> for at </a:t>
            </a:r>
            <a:r>
              <a:rPr lang="en-US" b="1" dirty="0" err="1">
                <a:solidFill>
                  <a:srgbClr val="FF0000"/>
                </a:solidFill>
              </a:rPr>
              <a:t>kunne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ændre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en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kapacitetsgrænse</a:t>
            </a: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Det </a:t>
            </a:r>
            <a:r>
              <a:rPr lang="en-US" dirty="0" err="1"/>
              <a:t>kunne</a:t>
            </a:r>
            <a:r>
              <a:rPr lang="en-US" dirty="0"/>
              <a:t> </a:t>
            </a:r>
            <a:r>
              <a:rPr lang="en-US" dirty="0" err="1"/>
              <a:t>være</a:t>
            </a:r>
            <a:r>
              <a:rPr lang="en-US" dirty="0"/>
              <a:t> </a:t>
            </a:r>
            <a:r>
              <a:rPr lang="en-US" dirty="0" err="1"/>
              <a:t>nyttig</a:t>
            </a:r>
            <a:r>
              <a:rPr lang="en-US" dirty="0"/>
              <a:t> </a:t>
            </a:r>
            <a:r>
              <a:rPr lang="en-US" dirty="0" err="1"/>
              <a:t>viden</a:t>
            </a:r>
            <a:r>
              <a:rPr lang="en-US" dirty="0"/>
              <a:t> for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hvis</a:t>
            </a:r>
            <a:r>
              <a:rPr lang="en-US" dirty="0"/>
              <a:t> f. </a:t>
            </a:r>
            <a:r>
              <a:rPr lang="en-US" dirty="0" err="1"/>
              <a:t>eks</a:t>
            </a:r>
            <a:r>
              <a:rPr lang="en-US" dirty="0"/>
              <a:t>. </a:t>
            </a:r>
            <a:r>
              <a:rPr lang="en-US" dirty="0" err="1"/>
              <a:t>skulle</a:t>
            </a:r>
            <a:r>
              <a:rPr lang="en-US" dirty="0"/>
              <a:t> </a:t>
            </a:r>
            <a:r>
              <a:rPr lang="en-US" dirty="0" err="1"/>
              <a:t>forhandle</a:t>
            </a:r>
            <a:r>
              <a:rPr lang="en-US" dirty="0"/>
              <a:t> med </a:t>
            </a:r>
            <a:r>
              <a:rPr lang="en-US" dirty="0" err="1"/>
              <a:t>medarbejderne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fabrikkerne</a:t>
            </a:r>
            <a:r>
              <a:rPr lang="en-US" dirty="0"/>
              <a:t> om </a:t>
            </a:r>
            <a:r>
              <a:rPr lang="en-US" dirty="0" err="1"/>
              <a:t>overtidstillæg</a:t>
            </a:r>
            <a:r>
              <a:rPr lang="en-US" dirty="0"/>
              <a:t> (</a:t>
            </a:r>
            <a:r>
              <a:rPr lang="en-US" dirty="0" err="1"/>
              <a:t>hvor</a:t>
            </a:r>
            <a:r>
              <a:rPr lang="en-US" dirty="0"/>
              <a:t> </a:t>
            </a:r>
            <a:r>
              <a:rPr lang="en-US" dirty="0" err="1"/>
              <a:t>meget</a:t>
            </a:r>
            <a:r>
              <a:rPr lang="en-US" dirty="0"/>
              <a:t> er vi </a:t>
            </a:r>
            <a:r>
              <a:rPr lang="en-US" dirty="0" err="1"/>
              <a:t>villige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at </a:t>
            </a:r>
            <a:r>
              <a:rPr lang="en-US" dirty="0" err="1"/>
              <a:t>betale</a:t>
            </a:r>
            <a:r>
              <a:rPr lang="en-US" dirty="0"/>
              <a:t> for </a:t>
            </a:r>
            <a:r>
              <a:rPr lang="en-US" dirty="0" err="1"/>
              <a:t>dette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Skygge </a:t>
            </a:r>
            <a:r>
              <a:rPr lang="en-US" dirty="0" err="1">
                <a:solidFill>
                  <a:srgbClr val="00B050"/>
                </a:solidFill>
              </a:rPr>
              <a:t>priser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findes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overalt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og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ikke</a:t>
            </a:r>
            <a:r>
              <a:rPr lang="en-US" dirty="0">
                <a:solidFill>
                  <a:srgbClr val="00B050"/>
                </a:solidFill>
              </a:rPr>
              <a:t> blot </a:t>
            </a:r>
            <a:r>
              <a:rPr lang="en-US" dirty="0" err="1">
                <a:solidFill>
                  <a:srgbClr val="00B050"/>
                </a:solidFill>
              </a:rPr>
              <a:t>i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konteksten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af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en</a:t>
            </a:r>
            <a:r>
              <a:rPr lang="en-US" dirty="0">
                <a:solidFill>
                  <a:srgbClr val="00B050"/>
                </a:solidFill>
              </a:rPr>
              <a:t> LP model (her er de blot </a:t>
            </a:r>
            <a:r>
              <a:rPr lang="en-US" dirty="0" err="1">
                <a:solidFill>
                  <a:srgbClr val="00B050"/>
                </a:solidFill>
              </a:rPr>
              <a:t>nemme</a:t>
            </a:r>
            <a:r>
              <a:rPr lang="en-US" dirty="0">
                <a:solidFill>
                  <a:srgbClr val="00B050"/>
                </a:solidFill>
              </a:rPr>
              <a:t> at </a:t>
            </a:r>
            <a:r>
              <a:rPr lang="en-US" dirty="0" err="1">
                <a:solidFill>
                  <a:srgbClr val="00B050"/>
                </a:solidFill>
              </a:rPr>
              <a:t>regne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ud</a:t>
            </a:r>
            <a:r>
              <a:rPr lang="en-US" dirty="0">
                <a:solidFill>
                  <a:srgbClr val="00B050"/>
                </a:solidFill>
              </a:rPr>
              <a:t>)</a:t>
            </a:r>
            <a:endParaRPr lang="da-DK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2346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B5E0D-9422-0062-0F12-867CD9F38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52336"/>
          </a:xfrm>
        </p:spPr>
        <p:txBody>
          <a:bodyPr/>
          <a:lstStyle/>
          <a:p>
            <a:pPr algn="ctr"/>
            <a:r>
              <a:rPr lang="en-US" b="1" dirty="0" err="1"/>
              <a:t>Hvordan</a:t>
            </a:r>
            <a:r>
              <a:rPr lang="en-US" b="1" dirty="0"/>
              <a:t> finder vi </a:t>
            </a:r>
            <a:r>
              <a:rPr lang="en-US" b="1" dirty="0" err="1"/>
              <a:t>skyggepriser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 Excel/Solvers </a:t>
            </a:r>
            <a:r>
              <a:rPr lang="en-US" b="1" dirty="0" err="1"/>
              <a:t>standardoutput</a:t>
            </a:r>
            <a:r>
              <a:rPr lang="en-US" b="1" dirty="0"/>
              <a:t>?</a:t>
            </a:r>
            <a:endParaRPr lang="da-DK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AC24C2-19A5-D09F-D0E6-A8E5B11A67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0100" y="1825625"/>
            <a:ext cx="8051800" cy="503237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003A0C-A908-5AFE-E9BE-0BF1FAE675D4}"/>
              </a:ext>
            </a:extLst>
          </p:cNvPr>
          <p:cNvSpPr txBox="1"/>
          <p:nvPr/>
        </p:nvSpPr>
        <p:spPr>
          <a:xfrm>
            <a:off x="10507579" y="3673642"/>
            <a:ext cx="10427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Marker </a:t>
            </a:r>
            <a:r>
              <a:rPr lang="en-US" dirty="0" err="1">
                <a:solidFill>
                  <a:srgbClr val="FF0000"/>
                </a:solidFill>
              </a:rPr>
              <a:t>disse</a:t>
            </a:r>
            <a:endParaRPr lang="da-DK" dirty="0">
              <a:solidFill>
                <a:srgbClr val="FF000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D80ADAE-882B-4D81-826B-DBEA76E6BA19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7323221" y="3834063"/>
            <a:ext cx="3184358" cy="162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354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ACA46-4036-FC01-F507-89A14A9B5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en-US" b="1" dirty="0" err="1"/>
              <a:t>Hvordan</a:t>
            </a:r>
            <a:r>
              <a:rPr lang="en-US" b="1" dirty="0"/>
              <a:t> finder vi </a:t>
            </a:r>
            <a:r>
              <a:rPr lang="en-US" b="1" dirty="0" err="1"/>
              <a:t>skyggepriser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 Excel/Solvers </a:t>
            </a:r>
            <a:r>
              <a:rPr lang="en-US" b="1" dirty="0" err="1"/>
              <a:t>standardoutput</a:t>
            </a:r>
            <a:r>
              <a:rPr lang="en-US" b="1" dirty="0"/>
              <a:t>?</a:t>
            </a:r>
            <a:endParaRPr lang="da-D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6CFAFC-A84E-B151-266D-91218A389F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6780" y="1822731"/>
            <a:ext cx="9432758" cy="503237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01016C-5B5C-8FA1-A96C-0B9B9313DA55}"/>
              </a:ext>
            </a:extLst>
          </p:cNvPr>
          <p:cNvSpPr txBox="1"/>
          <p:nvPr/>
        </p:nvSpPr>
        <p:spPr>
          <a:xfrm>
            <a:off x="1379621" y="4908884"/>
            <a:ext cx="2221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Her </a:t>
            </a:r>
            <a:r>
              <a:rPr lang="en-US" dirty="0" err="1">
                <a:solidFill>
                  <a:srgbClr val="FF0000"/>
                </a:solidFill>
              </a:rPr>
              <a:t>står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kapacitetsforbrug</a:t>
            </a:r>
            <a:endParaRPr lang="da-DK" dirty="0">
              <a:solidFill>
                <a:srgbClr val="FF000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8AC9AE8-6B43-7C10-5E93-A901801C230F}"/>
              </a:ext>
            </a:extLst>
          </p:cNvPr>
          <p:cNvCxnSpPr/>
          <p:nvPr/>
        </p:nvCxnSpPr>
        <p:spPr>
          <a:xfrm flipV="1">
            <a:off x="1668379" y="4243137"/>
            <a:ext cx="288758" cy="6657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0ADA371-4AF4-2530-12FE-A949FE5256E0}"/>
              </a:ext>
            </a:extLst>
          </p:cNvPr>
          <p:cNvSpPr txBox="1"/>
          <p:nvPr/>
        </p:nvSpPr>
        <p:spPr>
          <a:xfrm>
            <a:off x="3914274" y="4997116"/>
            <a:ext cx="2823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Her </a:t>
            </a:r>
            <a:r>
              <a:rPr lang="en-US" dirty="0" err="1">
                <a:solidFill>
                  <a:srgbClr val="00B0F0"/>
                </a:solidFill>
              </a:rPr>
              <a:t>står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skyggepriser</a:t>
            </a:r>
            <a:endParaRPr lang="da-DK" dirty="0">
              <a:solidFill>
                <a:srgbClr val="00B0F0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0C47AFE-4D74-81FD-14C8-C74F69FE0F5B}"/>
              </a:ext>
            </a:extLst>
          </p:cNvPr>
          <p:cNvCxnSpPr/>
          <p:nvPr/>
        </p:nvCxnSpPr>
        <p:spPr>
          <a:xfrm flipH="1" flipV="1">
            <a:off x="2334126" y="4243137"/>
            <a:ext cx="1804737" cy="924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5155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F0CAF-829E-3BB4-4461-D6C545640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451810"/>
          </a:xfrm>
        </p:spPr>
        <p:txBody>
          <a:bodyPr/>
          <a:lstStyle/>
          <a:p>
            <a:pPr algn="ctr"/>
            <a:r>
              <a:rPr lang="en-US" b="1" dirty="0" err="1"/>
              <a:t>Formulering</a:t>
            </a:r>
            <a:r>
              <a:rPr lang="en-US" b="1" dirty="0"/>
              <a:t> </a:t>
            </a:r>
            <a:r>
              <a:rPr lang="en-US" b="1" dirty="0" err="1"/>
              <a:t>af</a:t>
            </a:r>
            <a:r>
              <a:rPr lang="en-US" b="1" dirty="0"/>
              <a:t> det duale problem </a:t>
            </a:r>
            <a:r>
              <a:rPr lang="en-US" b="1" dirty="0" err="1"/>
              <a:t>generelt</a:t>
            </a:r>
            <a:endParaRPr lang="da-DK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88434B-E953-ED17-0AB5-9649EB0E87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85474" y="2566736"/>
            <a:ext cx="7579894" cy="3328737"/>
          </a:xfrm>
        </p:spPr>
      </p:pic>
    </p:spTree>
    <p:extLst>
      <p:ext uri="{BB962C8B-B14F-4D97-AF65-F5344CB8AC3E}">
        <p14:creationId xmlns:p14="http://schemas.microsoft.com/office/powerpoint/2010/main" val="34165620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23A9F-267C-1D31-0970-6B80E09F1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556084"/>
          </a:xfrm>
        </p:spPr>
        <p:txBody>
          <a:bodyPr/>
          <a:lstStyle/>
          <a:p>
            <a:pPr algn="ctr"/>
            <a:r>
              <a:rPr lang="en-US" b="1" dirty="0" err="1"/>
              <a:t>Formulering</a:t>
            </a:r>
            <a:r>
              <a:rPr lang="en-US" b="1" dirty="0"/>
              <a:t> </a:t>
            </a:r>
            <a:r>
              <a:rPr lang="en-US" b="1" dirty="0" err="1"/>
              <a:t>af</a:t>
            </a:r>
            <a:r>
              <a:rPr lang="en-US" b="1" dirty="0"/>
              <a:t> det duale problem for WYNDOR GLASS</a:t>
            </a:r>
            <a:endParaRPr lang="da-DK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49491F-147D-9A80-F096-C0F5997817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95716" y="2927684"/>
            <a:ext cx="6868073" cy="279934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709147-234E-37F4-207A-06807FBA11B5}"/>
              </a:ext>
            </a:extLst>
          </p:cNvPr>
          <p:cNvSpPr txBox="1"/>
          <p:nvPr/>
        </p:nvSpPr>
        <p:spPr>
          <a:xfrm>
            <a:off x="232611" y="1556085"/>
            <a:ext cx="52858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Kapacitetsgrænser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det </a:t>
            </a:r>
            <a:r>
              <a:rPr lang="en-US" dirty="0" err="1">
                <a:solidFill>
                  <a:srgbClr val="FF0000"/>
                </a:solidFill>
              </a:rPr>
              <a:t>primale</a:t>
            </a:r>
            <a:r>
              <a:rPr lang="en-US" dirty="0">
                <a:solidFill>
                  <a:srgbClr val="FF0000"/>
                </a:solidFill>
              </a:rPr>
              <a:t> problem </a:t>
            </a:r>
            <a:r>
              <a:rPr lang="en-US" dirty="0" err="1">
                <a:solidFill>
                  <a:srgbClr val="FF0000"/>
                </a:solidFill>
              </a:rPr>
              <a:t>bliver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til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monetære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koefficienter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det duale</a:t>
            </a:r>
          </a:p>
          <a:p>
            <a:r>
              <a:rPr lang="en-US" dirty="0">
                <a:solidFill>
                  <a:srgbClr val="FF0000"/>
                </a:solidFill>
              </a:rPr>
              <a:t>De </a:t>
            </a:r>
            <a:r>
              <a:rPr lang="en-US" dirty="0" err="1">
                <a:solidFill>
                  <a:srgbClr val="FF0000"/>
                </a:solidFill>
              </a:rPr>
              <a:t>monetære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koefficienter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det duale problem </a:t>
            </a:r>
            <a:r>
              <a:rPr lang="en-US" dirty="0" err="1">
                <a:solidFill>
                  <a:srgbClr val="FF0000"/>
                </a:solidFill>
              </a:rPr>
              <a:t>bliver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til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restriktioner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det duale problem</a:t>
            </a:r>
            <a:endParaRPr lang="da-DK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35BD1B-FD08-F52F-9BCA-8F72E887FE6E}"/>
              </a:ext>
            </a:extLst>
          </p:cNvPr>
          <p:cNvSpPr txBox="1"/>
          <p:nvPr/>
        </p:nvSpPr>
        <p:spPr>
          <a:xfrm>
            <a:off x="6472989" y="1636295"/>
            <a:ext cx="30399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1"/>
                </a:solidFill>
              </a:rPr>
              <a:t>Rækkerne</a:t>
            </a:r>
            <a:r>
              <a:rPr lang="en-US" dirty="0">
                <a:solidFill>
                  <a:schemeClr val="accent1"/>
                </a:solidFill>
              </a:rPr>
              <a:t> (1,0), (0,2) </a:t>
            </a:r>
            <a:r>
              <a:rPr lang="en-US" dirty="0" err="1">
                <a:solidFill>
                  <a:schemeClr val="accent1"/>
                </a:solidFill>
              </a:rPr>
              <a:t>og</a:t>
            </a:r>
            <a:r>
              <a:rPr lang="en-US" dirty="0">
                <a:solidFill>
                  <a:schemeClr val="accent1"/>
                </a:solidFill>
              </a:rPr>
              <a:t> (3,2) </a:t>
            </a:r>
            <a:r>
              <a:rPr lang="en-US" dirty="0" err="1">
                <a:solidFill>
                  <a:schemeClr val="accent1"/>
                </a:solidFill>
              </a:rPr>
              <a:t>i</a:t>
            </a:r>
            <a:r>
              <a:rPr lang="en-US" dirty="0">
                <a:solidFill>
                  <a:schemeClr val="accent1"/>
                </a:solidFill>
              </a:rPr>
              <a:t> det </a:t>
            </a:r>
            <a:r>
              <a:rPr lang="en-US" dirty="0" err="1">
                <a:solidFill>
                  <a:schemeClr val="accent1"/>
                </a:solidFill>
              </a:rPr>
              <a:t>primale</a:t>
            </a:r>
            <a:r>
              <a:rPr lang="en-US" dirty="0">
                <a:solidFill>
                  <a:schemeClr val="accent1"/>
                </a:solidFill>
              </a:rPr>
              <a:t> problem </a:t>
            </a:r>
            <a:r>
              <a:rPr lang="en-US" dirty="0" err="1">
                <a:solidFill>
                  <a:schemeClr val="accent1"/>
                </a:solidFill>
              </a:rPr>
              <a:t>bliver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err="1">
                <a:solidFill>
                  <a:schemeClr val="accent1"/>
                </a:solidFill>
              </a:rPr>
              <a:t>til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err="1">
                <a:solidFill>
                  <a:schemeClr val="accent1"/>
                </a:solidFill>
              </a:rPr>
              <a:t>søjler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err="1">
                <a:solidFill>
                  <a:schemeClr val="accent1"/>
                </a:solidFill>
              </a:rPr>
              <a:t>i</a:t>
            </a:r>
            <a:r>
              <a:rPr lang="en-US" dirty="0">
                <a:solidFill>
                  <a:schemeClr val="accent1"/>
                </a:solidFill>
              </a:rPr>
              <a:t> det duale problem </a:t>
            </a:r>
            <a:endParaRPr lang="da-DK" dirty="0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DC8A2D-2900-4CC2-2A42-B8C59384C247}"/>
              </a:ext>
            </a:extLst>
          </p:cNvPr>
          <p:cNvSpPr txBox="1"/>
          <p:nvPr/>
        </p:nvSpPr>
        <p:spPr>
          <a:xfrm>
            <a:off x="1138989" y="5898302"/>
            <a:ext cx="49008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Det duale problem er </a:t>
            </a:r>
            <a:r>
              <a:rPr lang="en-US" dirty="0" err="1">
                <a:solidFill>
                  <a:srgbClr val="00B050"/>
                </a:solidFill>
              </a:rPr>
              <a:t>en</a:t>
            </a:r>
            <a:r>
              <a:rPr lang="en-US" dirty="0">
                <a:solidFill>
                  <a:srgbClr val="00B050"/>
                </a:solidFill>
              </a:rPr>
              <a:t> slags </a:t>
            </a:r>
            <a:r>
              <a:rPr lang="en-US" dirty="0" err="1">
                <a:solidFill>
                  <a:srgbClr val="00B050"/>
                </a:solidFill>
              </a:rPr>
              <a:t>prisfastsættelses</a:t>
            </a:r>
            <a:r>
              <a:rPr lang="en-US" dirty="0">
                <a:solidFill>
                  <a:srgbClr val="00B050"/>
                </a:solidFill>
              </a:rPr>
              <a:t> problem </a:t>
            </a:r>
            <a:r>
              <a:rPr lang="en-US" dirty="0" err="1">
                <a:solidFill>
                  <a:srgbClr val="00B050"/>
                </a:solidFill>
              </a:rPr>
              <a:t>og</a:t>
            </a:r>
            <a:r>
              <a:rPr lang="en-US" dirty="0">
                <a:solidFill>
                  <a:srgbClr val="00B050"/>
                </a:solidFill>
              </a:rPr>
              <a:t> (surprise surprise) det finder </a:t>
            </a:r>
            <a:r>
              <a:rPr lang="en-US" dirty="0" err="1">
                <a:solidFill>
                  <a:srgbClr val="00B050"/>
                </a:solidFill>
              </a:rPr>
              <a:t>skyggepriserne</a:t>
            </a:r>
            <a:endParaRPr lang="da-DK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28160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907F8-70BC-05C5-38A3-AC048F88E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en-US" b="1" dirty="0" err="1"/>
              <a:t>Opstilling</a:t>
            </a:r>
            <a:r>
              <a:rPr lang="en-US" b="1" dirty="0"/>
              <a:t> </a:t>
            </a:r>
            <a:r>
              <a:rPr lang="en-US" b="1" dirty="0" err="1"/>
              <a:t>af</a:t>
            </a:r>
            <a:r>
              <a:rPr lang="en-US" b="1" dirty="0"/>
              <a:t> det duale problem for WYNDOR GLASS</a:t>
            </a:r>
            <a:endParaRPr lang="da-DK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AA8B93-EF92-9A31-38A5-213B42077B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0100" y="1825625"/>
            <a:ext cx="8051800" cy="5032375"/>
          </a:xfrm>
        </p:spPr>
      </p:pic>
    </p:spTree>
    <p:extLst>
      <p:ext uri="{BB962C8B-B14F-4D97-AF65-F5344CB8AC3E}">
        <p14:creationId xmlns:p14="http://schemas.microsoft.com/office/powerpoint/2010/main" val="28237208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5B0CE-1778-7157-2D84-71988AB7D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/>
          <a:lstStyle/>
          <a:p>
            <a:pPr algn="ctr"/>
            <a:r>
              <a:rPr lang="en-US" b="1" dirty="0" err="1"/>
              <a:t>Løsning</a:t>
            </a:r>
            <a:r>
              <a:rPr lang="en-US" b="1" dirty="0"/>
              <a:t> </a:t>
            </a:r>
            <a:r>
              <a:rPr lang="en-US" b="1" dirty="0" err="1"/>
              <a:t>af</a:t>
            </a:r>
            <a:r>
              <a:rPr lang="en-US" b="1" dirty="0"/>
              <a:t> det duale problem for WYNDOR GLASS</a:t>
            </a:r>
            <a:endParaRPr lang="da-D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9C9462-E7C2-0BB1-F91D-49928C1972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8464" y="1443038"/>
            <a:ext cx="9517288" cy="541496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FA1DF5-9241-14BB-1384-68BD8B0ACF13}"/>
              </a:ext>
            </a:extLst>
          </p:cNvPr>
          <p:cNvSpPr txBox="1"/>
          <p:nvPr/>
        </p:nvSpPr>
        <p:spPr>
          <a:xfrm>
            <a:off x="2061411" y="4499811"/>
            <a:ext cx="4363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Løsningen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til</a:t>
            </a:r>
            <a:r>
              <a:rPr lang="en-US" dirty="0">
                <a:solidFill>
                  <a:srgbClr val="FF0000"/>
                </a:solidFill>
              </a:rPr>
              <a:t> det duale problem er </a:t>
            </a:r>
            <a:r>
              <a:rPr lang="en-US" dirty="0" err="1">
                <a:solidFill>
                  <a:srgbClr val="FF0000"/>
                </a:solidFill>
              </a:rPr>
              <a:t>skyggepriserne</a:t>
            </a:r>
            <a:r>
              <a:rPr lang="en-US" dirty="0">
                <a:solidFill>
                  <a:srgbClr val="FF0000"/>
                </a:solidFill>
              </a:rPr>
              <a:t> vi </a:t>
            </a:r>
            <a:r>
              <a:rPr lang="en-US" dirty="0" err="1">
                <a:solidFill>
                  <a:srgbClr val="FF0000"/>
                </a:solidFill>
              </a:rPr>
              <a:t>fandt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før</a:t>
            </a:r>
            <a:r>
              <a:rPr lang="en-US" dirty="0">
                <a:solidFill>
                  <a:srgbClr val="FF0000"/>
                </a:solidFill>
              </a:rPr>
              <a:t>!!</a:t>
            </a:r>
            <a:endParaRPr lang="da-DK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181CF2-022E-DEEB-4F10-B247EDC49031}"/>
              </a:ext>
            </a:extLst>
          </p:cNvPr>
          <p:cNvSpPr txBox="1"/>
          <p:nvPr/>
        </p:nvSpPr>
        <p:spPr>
          <a:xfrm>
            <a:off x="7130716" y="3673643"/>
            <a:ext cx="299987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Og </a:t>
            </a:r>
            <a:r>
              <a:rPr lang="en-US" dirty="0" err="1">
                <a:solidFill>
                  <a:schemeClr val="accent5"/>
                </a:solidFill>
              </a:rPr>
              <a:t>hvis</a:t>
            </a:r>
            <a:r>
              <a:rPr lang="en-US" dirty="0">
                <a:solidFill>
                  <a:schemeClr val="accent5"/>
                </a:solidFill>
              </a:rPr>
              <a:t> I </a:t>
            </a:r>
            <a:r>
              <a:rPr lang="en-US" dirty="0" err="1">
                <a:solidFill>
                  <a:schemeClr val="accent5"/>
                </a:solidFill>
              </a:rPr>
              <a:t>går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 err="1">
                <a:solidFill>
                  <a:schemeClr val="accent5"/>
                </a:solidFill>
              </a:rPr>
              <a:t>ind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 err="1">
                <a:solidFill>
                  <a:schemeClr val="accent5"/>
                </a:solidFill>
              </a:rPr>
              <a:t>og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 err="1">
                <a:solidFill>
                  <a:schemeClr val="accent5"/>
                </a:solidFill>
              </a:rPr>
              <a:t>kigger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 err="1">
                <a:solidFill>
                  <a:schemeClr val="accent5"/>
                </a:solidFill>
              </a:rPr>
              <a:t>på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 err="1">
                <a:solidFill>
                  <a:schemeClr val="accent5"/>
                </a:solidFill>
              </a:rPr>
              <a:t>sensistivity</a:t>
            </a:r>
            <a:r>
              <a:rPr lang="en-US" dirty="0">
                <a:solidFill>
                  <a:schemeClr val="accent5"/>
                </a:solidFill>
              </a:rPr>
              <a:t> report </a:t>
            </a:r>
            <a:r>
              <a:rPr lang="en-US" dirty="0" err="1">
                <a:solidFill>
                  <a:schemeClr val="accent5"/>
                </a:solidFill>
              </a:rPr>
              <a:t>af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 err="1">
                <a:solidFill>
                  <a:schemeClr val="accent5"/>
                </a:solidFill>
              </a:rPr>
              <a:t>dette</a:t>
            </a:r>
            <a:r>
              <a:rPr lang="en-US" dirty="0">
                <a:solidFill>
                  <a:schemeClr val="accent5"/>
                </a:solidFill>
              </a:rPr>
              <a:t> duale problem </a:t>
            </a:r>
            <a:r>
              <a:rPr lang="en-US" dirty="0" err="1">
                <a:solidFill>
                  <a:schemeClr val="accent5"/>
                </a:solidFill>
              </a:rPr>
              <a:t>så</a:t>
            </a:r>
            <a:r>
              <a:rPr lang="en-US" dirty="0">
                <a:solidFill>
                  <a:schemeClr val="accent5"/>
                </a:solidFill>
              </a:rPr>
              <a:t> ser I at </a:t>
            </a:r>
            <a:r>
              <a:rPr lang="en-US" dirty="0" err="1">
                <a:solidFill>
                  <a:schemeClr val="accent5"/>
                </a:solidFill>
              </a:rPr>
              <a:t>skyggepriserne</a:t>
            </a:r>
            <a:r>
              <a:rPr lang="en-US" dirty="0">
                <a:solidFill>
                  <a:schemeClr val="accent5"/>
                </a:solidFill>
              </a:rPr>
              <a:t> er </a:t>
            </a:r>
            <a:r>
              <a:rPr lang="en-US" dirty="0" err="1">
                <a:solidFill>
                  <a:schemeClr val="accent5"/>
                </a:solidFill>
              </a:rPr>
              <a:t>løsningerne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 err="1">
                <a:solidFill>
                  <a:schemeClr val="accent5"/>
                </a:solidFill>
              </a:rPr>
              <a:t>til</a:t>
            </a:r>
            <a:r>
              <a:rPr lang="en-US" dirty="0">
                <a:solidFill>
                  <a:schemeClr val="accent5"/>
                </a:solidFill>
              </a:rPr>
              <a:t> det </a:t>
            </a:r>
            <a:r>
              <a:rPr lang="en-US" dirty="0" err="1">
                <a:solidFill>
                  <a:schemeClr val="accent5"/>
                </a:solidFill>
              </a:rPr>
              <a:t>oprindelige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 err="1">
                <a:solidFill>
                  <a:schemeClr val="accent5"/>
                </a:solidFill>
              </a:rPr>
              <a:t>primale</a:t>
            </a:r>
            <a:r>
              <a:rPr lang="en-US" dirty="0">
                <a:solidFill>
                  <a:schemeClr val="accent5"/>
                </a:solidFill>
              </a:rPr>
              <a:t> problem</a:t>
            </a:r>
          </a:p>
          <a:p>
            <a:endParaRPr lang="en-US" dirty="0">
              <a:solidFill>
                <a:schemeClr val="accent5"/>
              </a:solidFill>
            </a:endParaRPr>
          </a:p>
          <a:p>
            <a:r>
              <a:rPr lang="en-US" dirty="0" err="1">
                <a:solidFill>
                  <a:schemeClr val="accent6"/>
                </a:solidFill>
              </a:rPr>
              <a:t>Således</a:t>
            </a:r>
            <a:r>
              <a:rPr lang="en-US" dirty="0">
                <a:solidFill>
                  <a:schemeClr val="accent6"/>
                </a:solidFill>
              </a:rPr>
              <a:t> </a:t>
            </a:r>
            <a:r>
              <a:rPr lang="en-US" dirty="0" err="1">
                <a:solidFill>
                  <a:schemeClr val="accent6"/>
                </a:solidFill>
              </a:rPr>
              <a:t>kører</a:t>
            </a:r>
            <a:r>
              <a:rPr lang="en-US" dirty="0">
                <a:solidFill>
                  <a:schemeClr val="accent6"/>
                </a:solidFill>
              </a:rPr>
              <a:t> det hele </a:t>
            </a:r>
            <a:r>
              <a:rPr lang="en-US" dirty="0" err="1">
                <a:solidFill>
                  <a:schemeClr val="accent6"/>
                </a:solidFill>
              </a:rPr>
              <a:t>i</a:t>
            </a:r>
            <a:r>
              <a:rPr lang="en-US" dirty="0">
                <a:solidFill>
                  <a:schemeClr val="accent6"/>
                </a:solidFill>
              </a:rPr>
              <a:t> ring</a:t>
            </a:r>
          </a:p>
        </p:txBody>
      </p:sp>
    </p:spTree>
    <p:extLst>
      <p:ext uri="{BB962C8B-B14F-4D97-AF65-F5344CB8AC3E}">
        <p14:creationId xmlns:p14="http://schemas.microsoft.com/office/powerpoint/2010/main" val="1183430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36900-3074-4AA3-AD21-9A01F9134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</p:spPr>
        <p:txBody>
          <a:bodyPr>
            <a:normAutofit fontScale="90000"/>
          </a:bodyPr>
          <a:lstStyle/>
          <a:p>
            <a:pPr algn="ctr"/>
            <a:r>
              <a:rPr lang="da-DK" b="1" dirty="0"/>
              <a:t>Hvad nu hvis vi der udvikles nyt produkt – skal dette produceres?</a:t>
            </a:r>
            <a:br>
              <a:rPr lang="en-US" b="1" dirty="0"/>
            </a:br>
            <a:endParaRPr lang="da-D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2708E-B49C-BCD0-07A5-46C71AB052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5"/>
            <a:ext cx="12191999" cy="5032374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Udover</a:t>
            </a:r>
            <a:r>
              <a:rPr lang="en-US" dirty="0"/>
              <a:t> at </a:t>
            </a:r>
            <a:r>
              <a:rPr lang="en-US" dirty="0" err="1"/>
              <a:t>producere</a:t>
            </a:r>
            <a:r>
              <a:rPr lang="en-US" dirty="0"/>
              <a:t> 8 </a:t>
            </a:r>
            <a:r>
              <a:rPr lang="en-US" dirty="0" err="1"/>
              <a:t>fods</a:t>
            </a:r>
            <a:r>
              <a:rPr lang="en-US" dirty="0"/>
              <a:t> </a:t>
            </a:r>
            <a:r>
              <a:rPr lang="en-US" dirty="0" err="1"/>
              <a:t>dør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4x6 </a:t>
            </a:r>
            <a:r>
              <a:rPr lang="en-US" dirty="0" err="1"/>
              <a:t>fods</a:t>
            </a:r>
            <a:r>
              <a:rPr lang="en-US" dirty="0"/>
              <a:t> </a:t>
            </a:r>
            <a:r>
              <a:rPr lang="en-US" dirty="0" err="1"/>
              <a:t>vindue</a:t>
            </a:r>
            <a:r>
              <a:rPr lang="en-US" dirty="0"/>
              <a:t> er </a:t>
            </a:r>
            <a:r>
              <a:rPr lang="en-US" dirty="0" err="1"/>
              <a:t>analyse</a:t>
            </a:r>
            <a:r>
              <a:rPr lang="en-US" dirty="0"/>
              <a:t> </a:t>
            </a:r>
            <a:r>
              <a:rPr lang="en-US" dirty="0" err="1"/>
              <a:t>teamet</a:t>
            </a:r>
            <a:r>
              <a:rPr lang="en-US" dirty="0"/>
              <a:t> </a:t>
            </a:r>
            <a:r>
              <a:rPr lang="en-US" dirty="0" err="1"/>
              <a:t>også</a:t>
            </a:r>
            <a:r>
              <a:rPr lang="en-US" dirty="0"/>
              <a:t> </a:t>
            </a:r>
            <a:r>
              <a:rPr lang="en-US" dirty="0" err="1"/>
              <a:t>nået</a:t>
            </a:r>
            <a:r>
              <a:rPr lang="en-US" dirty="0"/>
              <a:t> </a:t>
            </a:r>
            <a:r>
              <a:rPr lang="en-US" dirty="0" err="1"/>
              <a:t>frem</a:t>
            </a:r>
            <a:r>
              <a:rPr lang="en-US" dirty="0"/>
              <a:t> </a:t>
            </a:r>
            <a:r>
              <a:rPr lang="en-US" dirty="0" err="1"/>
              <a:t>til</a:t>
            </a:r>
            <a:r>
              <a:rPr lang="en-US" dirty="0"/>
              <a:t> at </a:t>
            </a:r>
            <a:r>
              <a:rPr lang="en-US" dirty="0">
                <a:solidFill>
                  <a:srgbClr val="FF0000"/>
                </a:solidFill>
              </a:rPr>
              <a:t>man </a:t>
            </a:r>
            <a:r>
              <a:rPr lang="en-US" dirty="0" err="1">
                <a:solidFill>
                  <a:srgbClr val="FF0000"/>
                </a:solidFill>
              </a:rPr>
              <a:t>kunne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producere</a:t>
            </a:r>
            <a:r>
              <a:rPr lang="en-US" dirty="0">
                <a:solidFill>
                  <a:srgbClr val="FF0000"/>
                </a:solidFill>
              </a:rPr>
              <a:t> et 5x2 </a:t>
            </a:r>
            <a:r>
              <a:rPr lang="en-US" dirty="0" err="1">
                <a:solidFill>
                  <a:srgbClr val="FF0000"/>
                </a:solidFill>
              </a:rPr>
              <a:t>fods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drivhusvindue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Det </a:t>
            </a:r>
            <a:r>
              <a:rPr lang="en-US" dirty="0" err="1">
                <a:solidFill>
                  <a:srgbClr val="00B0F0"/>
                </a:solidFill>
              </a:rPr>
              <a:t>har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resourceforbrug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i</a:t>
            </a:r>
            <a:r>
              <a:rPr lang="en-US" dirty="0">
                <a:solidFill>
                  <a:srgbClr val="00B0F0"/>
                </a:solidFill>
              </a:rPr>
              <a:t> time pr. batch </a:t>
            </a:r>
            <a:r>
              <a:rPr lang="en-US" dirty="0" err="1">
                <a:solidFill>
                  <a:srgbClr val="00B0F0"/>
                </a:solidFill>
              </a:rPr>
              <a:t>på</a:t>
            </a:r>
            <a:r>
              <a:rPr lang="en-US" dirty="0">
                <a:solidFill>
                  <a:srgbClr val="00B0F0"/>
                </a:solidFill>
              </a:rPr>
              <a:t> de </a:t>
            </a:r>
            <a:r>
              <a:rPr lang="en-US" dirty="0" err="1">
                <a:solidFill>
                  <a:srgbClr val="00B0F0"/>
                </a:solidFill>
              </a:rPr>
              <a:t>tre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fabrikker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som</a:t>
            </a:r>
            <a:r>
              <a:rPr lang="en-US" dirty="0">
                <a:solidFill>
                  <a:srgbClr val="00B0F0"/>
                </a:solidFill>
              </a:rPr>
              <a:t> er (2,3,1) </a:t>
            </a:r>
            <a:r>
              <a:rPr lang="en-US" dirty="0" err="1">
                <a:solidFill>
                  <a:srgbClr val="00B0F0"/>
                </a:solidFill>
              </a:rPr>
              <a:t>og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har</a:t>
            </a:r>
            <a:r>
              <a:rPr lang="en-US" dirty="0">
                <a:solidFill>
                  <a:srgbClr val="00B0F0"/>
                </a:solidFill>
              </a:rPr>
              <a:t> et </a:t>
            </a:r>
            <a:r>
              <a:rPr lang="en-US" dirty="0" err="1">
                <a:solidFill>
                  <a:srgbClr val="00B0F0"/>
                </a:solidFill>
              </a:rPr>
              <a:t>dækningsbidrag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 err="1">
                <a:solidFill>
                  <a:srgbClr val="00B0F0"/>
                </a:solidFill>
              </a:rPr>
              <a:t>på</a:t>
            </a:r>
            <a:r>
              <a:rPr lang="en-US" dirty="0">
                <a:solidFill>
                  <a:srgbClr val="00B0F0"/>
                </a:solidFill>
              </a:rPr>
              <a:t> 4000 </a:t>
            </a:r>
            <a:r>
              <a:rPr lang="en-US" dirty="0" err="1">
                <a:solidFill>
                  <a:srgbClr val="00B0F0"/>
                </a:solidFill>
              </a:rPr>
              <a:t>kr</a:t>
            </a:r>
            <a:r>
              <a:rPr lang="en-US" dirty="0">
                <a:solidFill>
                  <a:srgbClr val="00B0F0"/>
                </a:solidFill>
              </a:rPr>
              <a:t> pr batch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Skal </a:t>
            </a:r>
            <a:r>
              <a:rPr lang="en-US" dirty="0" err="1">
                <a:solidFill>
                  <a:srgbClr val="00B050"/>
                </a:solidFill>
              </a:rPr>
              <a:t>dette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B050"/>
                </a:solidFill>
              </a:rPr>
              <a:t>produceres</a:t>
            </a:r>
            <a:r>
              <a:rPr lang="en-US" dirty="0">
                <a:solidFill>
                  <a:srgbClr val="00B050"/>
                </a:solidFill>
              </a:rPr>
              <a:t>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5316835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CCD26-7B0E-706E-F365-044514D4B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"/>
            <a:ext cx="12264189" cy="1690688"/>
          </a:xfrm>
        </p:spPr>
        <p:txBody>
          <a:bodyPr/>
          <a:lstStyle/>
          <a:p>
            <a:pPr algn="ctr"/>
            <a:r>
              <a:rPr lang="da-DK" b="1" dirty="0"/>
              <a:t>Hvad nu hvis vi der udvikles nyt produkt – skal dette produceres? 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A687A-56D3-D0ED-28E1-75804911F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03237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Vi </a:t>
            </a:r>
            <a:r>
              <a:rPr lang="en-US" dirty="0" err="1"/>
              <a:t>kan</a:t>
            </a:r>
            <a:r>
              <a:rPr lang="en-US" dirty="0"/>
              <a:t> jo bare </a:t>
            </a:r>
            <a:r>
              <a:rPr lang="en-US" dirty="0" err="1"/>
              <a:t>indsætte</a:t>
            </a:r>
            <a:r>
              <a:rPr lang="en-US" dirty="0"/>
              <a:t> </a:t>
            </a:r>
            <a:r>
              <a:rPr lang="en-US" dirty="0" err="1"/>
              <a:t>ekstra</a:t>
            </a:r>
            <a:r>
              <a:rPr lang="en-US" dirty="0"/>
              <a:t> </a:t>
            </a:r>
            <a:r>
              <a:rPr lang="en-US" dirty="0" err="1"/>
              <a:t>søjle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LP </a:t>
            </a:r>
            <a:r>
              <a:rPr lang="en-US" dirty="0" err="1"/>
              <a:t>problemet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løse</a:t>
            </a:r>
            <a:r>
              <a:rPr lang="en-US" dirty="0"/>
              <a:t> </a:t>
            </a:r>
            <a:r>
              <a:rPr lang="en-US" dirty="0" err="1"/>
              <a:t>påny</a:t>
            </a:r>
            <a:endParaRPr lang="en-US" dirty="0"/>
          </a:p>
          <a:p>
            <a:pPr marL="0" indent="0">
              <a:buNone/>
            </a:pPr>
            <a:endParaRPr lang="da-D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366EE2-3079-B800-5994-5343BDE65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16" y="2398294"/>
            <a:ext cx="11462084" cy="445970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DCB4DAE-196D-AEF9-DA84-2E980E269A03}"/>
              </a:ext>
            </a:extLst>
          </p:cNvPr>
          <p:cNvSpPr txBox="1"/>
          <p:nvPr/>
        </p:nvSpPr>
        <p:spPr>
          <a:xfrm>
            <a:off x="1900989" y="5358063"/>
            <a:ext cx="31282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Men vi </a:t>
            </a:r>
            <a:r>
              <a:rPr lang="en-US" dirty="0" err="1">
                <a:solidFill>
                  <a:srgbClr val="FF0000"/>
                </a:solidFill>
              </a:rPr>
              <a:t>kan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også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vha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skyggepris</a:t>
            </a:r>
            <a:r>
              <a:rPr lang="en-US" dirty="0">
                <a:solidFill>
                  <a:srgbClr val="FF0000"/>
                </a:solidFill>
              </a:rPr>
              <a:t> information </a:t>
            </a:r>
            <a:r>
              <a:rPr lang="en-US" dirty="0" err="1">
                <a:solidFill>
                  <a:srgbClr val="FF0000"/>
                </a:solidFill>
              </a:rPr>
              <a:t>prøve</a:t>
            </a:r>
            <a:r>
              <a:rPr lang="en-US" dirty="0">
                <a:solidFill>
                  <a:srgbClr val="FF0000"/>
                </a:solidFill>
              </a:rPr>
              <a:t> at </a:t>
            </a:r>
            <a:r>
              <a:rPr lang="en-US" dirty="0" err="1">
                <a:solidFill>
                  <a:srgbClr val="FF0000"/>
                </a:solidFill>
              </a:rPr>
              <a:t>ræssonere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os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frem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til</a:t>
            </a:r>
            <a:r>
              <a:rPr lang="en-US" dirty="0">
                <a:solidFill>
                  <a:srgbClr val="FF0000"/>
                </a:solidFill>
              </a:rPr>
              <a:t> et </a:t>
            </a:r>
            <a:r>
              <a:rPr lang="en-US" dirty="0" err="1">
                <a:solidFill>
                  <a:srgbClr val="FF0000"/>
                </a:solidFill>
              </a:rPr>
              <a:t>svar</a:t>
            </a:r>
            <a:r>
              <a:rPr lang="en-US" dirty="0">
                <a:solidFill>
                  <a:srgbClr val="FF0000"/>
                </a:solidFill>
              </a:rPr>
              <a:t> – se </a:t>
            </a:r>
            <a:r>
              <a:rPr lang="en-US" dirty="0" err="1">
                <a:solidFill>
                  <a:srgbClr val="FF0000"/>
                </a:solidFill>
              </a:rPr>
              <a:t>næste</a:t>
            </a:r>
            <a:r>
              <a:rPr lang="en-US" dirty="0">
                <a:solidFill>
                  <a:srgbClr val="FF0000"/>
                </a:solidFill>
              </a:rPr>
              <a:t> slide</a:t>
            </a:r>
            <a:endParaRPr lang="da-DK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56149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7D17C-3E3B-235D-FFA2-BAE8CD870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588167"/>
          </a:xfrm>
        </p:spPr>
        <p:txBody>
          <a:bodyPr/>
          <a:lstStyle/>
          <a:p>
            <a:pPr algn="ctr"/>
            <a:r>
              <a:rPr lang="da-DK" b="1" dirty="0"/>
              <a:t>Hvad nu hvis vi der udvikles nyt produkt – skal dette produceres?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0DB5D-60F8-4C89-3F8F-D48D0A785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5"/>
            <a:ext cx="12192000" cy="5032374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Isoleret</a:t>
            </a:r>
            <a:r>
              <a:rPr lang="en-US" dirty="0"/>
              <a:t> set ser et </a:t>
            </a:r>
            <a:r>
              <a:rPr lang="en-US" dirty="0" err="1"/>
              <a:t>dækningsbidrag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4000 </a:t>
            </a:r>
            <a:r>
              <a:rPr lang="en-US" dirty="0" err="1"/>
              <a:t>kr</a:t>
            </a:r>
            <a:r>
              <a:rPr lang="en-US" dirty="0"/>
              <a:t> vel OK </a:t>
            </a:r>
            <a:r>
              <a:rPr lang="en-US" dirty="0" err="1"/>
              <a:t>ud</a:t>
            </a:r>
            <a:r>
              <a:rPr lang="en-US" dirty="0"/>
              <a:t> – </a:t>
            </a:r>
            <a:r>
              <a:rPr lang="en-US" dirty="0" err="1"/>
              <a:t>eller</a:t>
            </a:r>
            <a:r>
              <a:rPr lang="en-US" dirty="0"/>
              <a:t> </a:t>
            </a:r>
            <a:r>
              <a:rPr lang="en-US" dirty="0" err="1"/>
              <a:t>hvad</a:t>
            </a:r>
            <a:r>
              <a:rPr lang="en-US" dirty="0"/>
              <a:t>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MEN vi </a:t>
            </a:r>
            <a:r>
              <a:rPr lang="en-US" dirty="0" err="1"/>
              <a:t>skal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se </a:t>
            </a:r>
            <a:r>
              <a:rPr lang="en-US" dirty="0" err="1">
                <a:solidFill>
                  <a:srgbClr val="FF0000"/>
                </a:solidFill>
              </a:rPr>
              <a:t>på</a:t>
            </a:r>
            <a:r>
              <a:rPr lang="en-US" dirty="0">
                <a:solidFill>
                  <a:srgbClr val="FF0000"/>
                </a:solidFill>
              </a:rPr>
              <a:t> den </a:t>
            </a:r>
            <a:r>
              <a:rPr lang="en-US" dirty="0" err="1">
                <a:solidFill>
                  <a:srgbClr val="FF0000"/>
                </a:solidFill>
              </a:rPr>
              <a:t>omkostning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vores</a:t>
            </a:r>
            <a:r>
              <a:rPr lang="en-US" dirty="0">
                <a:solidFill>
                  <a:srgbClr val="FF0000"/>
                </a:solidFill>
              </a:rPr>
              <a:t> handling (at </a:t>
            </a:r>
            <a:r>
              <a:rPr lang="en-US" dirty="0" err="1">
                <a:solidFill>
                  <a:srgbClr val="FF0000"/>
                </a:solidFill>
              </a:rPr>
              <a:t>producere</a:t>
            </a:r>
            <a:r>
              <a:rPr lang="en-US" dirty="0">
                <a:solidFill>
                  <a:srgbClr val="FF0000"/>
                </a:solidFill>
              </a:rPr>
              <a:t> det nye </a:t>
            </a:r>
            <a:r>
              <a:rPr lang="en-US" dirty="0" err="1">
                <a:solidFill>
                  <a:srgbClr val="FF0000"/>
                </a:solidFill>
              </a:rPr>
              <a:t>produkt</a:t>
            </a:r>
            <a:r>
              <a:rPr lang="en-US" dirty="0">
                <a:solidFill>
                  <a:srgbClr val="FF0000"/>
                </a:solidFill>
              </a:rPr>
              <a:t>) </a:t>
            </a:r>
            <a:r>
              <a:rPr lang="en-US" dirty="0" err="1">
                <a:solidFill>
                  <a:srgbClr val="FF0000"/>
                </a:solidFill>
              </a:rPr>
              <a:t>fårårsager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form </a:t>
            </a:r>
            <a:r>
              <a:rPr lang="en-US" dirty="0" err="1">
                <a:solidFill>
                  <a:srgbClr val="FF0000"/>
                </a:solidFill>
              </a:rPr>
              <a:t>af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reduceret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produktionsomfang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af</a:t>
            </a:r>
            <a:r>
              <a:rPr lang="en-US" dirty="0">
                <a:solidFill>
                  <a:srgbClr val="FF0000"/>
                </a:solidFill>
              </a:rPr>
              <a:t> de to </a:t>
            </a:r>
            <a:r>
              <a:rPr lang="en-US" dirty="0" err="1">
                <a:solidFill>
                  <a:srgbClr val="FF0000"/>
                </a:solidFill>
              </a:rPr>
              <a:t>andre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produkter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Denne </a:t>
            </a:r>
            <a:r>
              <a:rPr lang="en-US" dirty="0" err="1"/>
              <a:t>omkostning</a:t>
            </a:r>
            <a:r>
              <a:rPr lang="en-US" dirty="0"/>
              <a:t> </a:t>
            </a:r>
            <a:r>
              <a:rPr lang="en-US" dirty="0" err="1"/>
              <a:t>kaldes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sz="3200" b="1" dirty="0" err="1">
                <a:solidFill>
                  <a:srgbClr val="0070C0"/>
                </a:solidFill>
              </a:rPr>
              <a:t>offeromkostning</a:t>
            </a:r>
            <a:endParaRPr lang="en-US" sz="32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1 time på Fabrik 2 koster 1500 </a:t>
            </a:r>
            <a:r>
              <a:rPr lang="da-DK" dirty="0" err="1"/>
              <a:t>kr</a:t>
            </a:r>
            <a:r>
              <a:rPr lang="da-DK" dirty="0"/>
              <a:t> og 1 time på Fabrik 3 koster 1000 så derfor koster produktion af 1 enhed af det nye produkt 3x1500 + 1 x 1000 = 5500 kr.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Så derfor skal dækningsbidraget på det nye produkt mindst være 5500 kr.</a:t>
            </a:r>
          </a:p>
        </p:txBody>
      </p:sp>
    </p:spTree>
    <p:extLst>
      <p:ext uri="{BB962C8B-B14F-4D97-AF65-F5344CB8AC3E}">
        <p14:creationId xmlns:p14="http://schemas.microsoft.com/office/powerpoint/2010/main" val="15867329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6D00B-9107-5D90-3109-785B185F6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507957"/>
          </a:xfrm>
        </p:spPr>
        <p:txBody>
          <a:bodyPr/>
          <a:lstStyle/>
          <a:p>
            <a:pPr algn="ctr"/>
            <a:r>
              <a:rPr lang="en-US" b="1" dirty="0" err="1"/>
              <a:t>Afslutning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fællesskab</a:t>
            </a:r>
            <a:endParaRPr lang="da-DK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F027B-B04C-F89E-8A5D-C8F613AA6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825625"/>
            <a:ext cx="12191999" cy="503237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Vi </a:t>
            </a:r>
            <a:r>
              <a:rPr lang="en-US" dirty="0" err="1"/>
              <a:t>vil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</a:t>
            </a:r>
            <a:r>
              <a:rPr lang="en-US" dirty="0" err="1"/>
              <a:t>klassen</a:t>
            </a:r>
            <a:r>
              <a:rPr lang="en-US" dirty="0"/>
              <a:t> </a:t>
            </a:r>
            <a:r>
              <a:rPr lang="en-US" dirty="0" err="1"/>
              <a:t>igen</a:t>
            </a:r>
            <a:r>
              <a:rPr lang="en-US" dirty="0"/>
              <a:t> se </a:t>
            </a:r>
            <a:r>
              <a:rPr lang="en-US" dirty="0" err="1"/>
              <a:t>på</a:t>
            </a:r>
            <a:r>
              <a:rPr lang="en-US" dirty="0"/>
              <a:t> Personal Scheduling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Men nu </a:t>
            </a:r>
            <a:r>
              <a:rPr lang="en-US" dirty="0" err="1"/>
              <a:t>løse</a:t>
            </a:r>
            <a:r>
              <a:rPr lang="en-US" dirty="0"/>
              <a:t> det duale problem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fællesskab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1626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697</Words>
  <Application>Microsoft Office PowerPoint</Application>
  <PresentationFormat>Widescreen</PresentationFormat>
  <Paragraphs>75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Lineær Programmering 2</vt:lpstr>
      <vt:lpstr>Agenda</vt:lpstr>
      <vt:lpstr>Følsomhedsanalyser</vt:lpstr>
      <vt:lpstr>Følsomhedsanalyse på kapacitetsgrænse for Fabrik 1</vt:lpstr>
      <vt:lpstr>Følsomhedsanalyse på kapacitetsgrænse for Fabrik 2</vt:lpstr>
      <vt:lpstr>Følsomhedsanalyse på kapacitetsgrænse for Fabrik 3</vt:lpstr>
      <vt:lpstr>Hvorfor er viden om skygge priser relevant?</vt:lpstr>
      <vt:lpstr>Hvordan finder vi skyggepriser i Excel/Solvers standardoutput?</vt:lpstr>
      <vt:lpstr>Hvordan finder vi skyggepriser i Excel/Solvers standardoutput?</vt:lpstr>
      <vt:lpstr>Formulering af det duale problem generelt</vt:lpstr>
      <vt:lpstr>Formulering af det duale problem for WYNDOR GLASS</vt:lpstr>
      <vt:lpstr>Opstilling af det duale problem for WYNDOR GLASS</vt:lpstr>
      <vt:lpstr>Løsning af det duale problem for WYNDOR GLASS</vt:lpstr>
      <vt:lpstr>Hvad nu hvis vi der udvikles nyt produkt – skal dette produceres? </vt:lpstr>
      <vt:lpstr>Hvad nu hvis vi der udvikles nyt produkt – skal dette produceres? </vt:lpstr>
      <vt:lpstr>Hvad nu hvis vi der udvikles nyt produkt – skal dette produceres?</vt:lpstr>
      <vt:lpstr>Afslutning i fællesskab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Lineær Programmering 2</dc:title>
  <dc:creator>Christian Larsen</dc:creator>
  <cp:lastModifiedBy>Christian Larsen</cp:lastModifiedBy>
  <cp:revision>13</cp:revision>
  <dcterms:created xsi:type="dcterms:W3CDTF">2023-09-28T08:06:56Z</dcterms:created>
  <dcterms:modified xsi:type="dcterms:W3CDTF">2023-10-18T13:32:15Z</dcterms:modified>
</cp:coreProperties>
</file>