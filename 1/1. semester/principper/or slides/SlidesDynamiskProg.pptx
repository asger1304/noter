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D29D-EDC1-21F3-120F-ADAE0DF00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E9682-950E-CEE6-0CFC-90E2BA545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2ECC-AC64-7A77-4E38-51F7CB738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F59E9-662F-2EE1-38F4-7170B543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B5D5-6B68-9996-623D-5F6B75BE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334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32BC-4829-0220-2DE3-3E10EA02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C9367-D4A0-954E-1C7E-8043FE939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B892B-9B34-7A54-846F-84C247FC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000BF-4E34-9449-2491-9C764449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D15E2-1525-B2AB-E730-06F0A100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691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61E0-72B6-3FE8-3EAE-94392D13F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3673B-3DDD-C6BB-B337-5F7E64C85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EF093-71F3-3089-141E-4E364243B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37EB6-C17A-E67A-CD78-D2C9C516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86349-C64D-1AEE-C92F-AC582FAA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3848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EBA7-CCFC-6E8F-F535-C0E54250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8F58-72CB-0B95-98EB-FE8830D84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30E6E-60B0-2218-2A2C-50FA1B9C0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43002-2859-B3B8-70E5-183457530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17BC8-1735-EC84-2D3A-80F84021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E0E54-7152-4882-40C3-FCCA0585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036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2ED2-8DAC-2AE1-C12F-080621212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58C85-1797-FB85-495C-96A10E53E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93770-7CD7-2702-0A10-C1F7C2AC4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8001A-6CE7-AF77-746C-8E2DB9CD9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FF5E9-4E07-BE34-8A35-E13A7A0D9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31198-E1CA-071A-E425-021DF1DB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F9A0D2-9A22-0474-7B96-CD05769F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F9269-CE7E-5C4C-55B5-463D717F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242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4760-B9AD-585E-FF02-1E5C3E017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C9A37-5226-2944-93B7-ACA0A69F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341F8-6A24-91E1-D2E9-B112B083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A4384-FDAD-0032-2652-547BAF24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12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6153A-C73B-7E26-677D-1CA0F721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5DDCA-1009-DCF6-7444-47D16FE9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3BD32-F91A-4623-62E5-6CBAEBE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5123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9E83-0609-B50C-216A-73DC558E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04B33-FBB1-BF45-0A32-C2498DF77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A32E1-F944-6064-1468-9010596D7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EA159-2D96-F76A-0189-E25F52B1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BB2CF-4AB5-2203-7B74-A4288CCEE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2432F-962A-CDC9-435E-5924510C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326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530A-CA85-6A1B-C872-83E91F36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C93BFB-3022-6760-FAA4-BEA045BF5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38495-D20F-35F0-0896-2774F999E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0A67A-F7A4-40CC-C99E-5F27F779D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1C4B6-F6CB-AF1C-D5B0-9E2AFB06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C3A5D-87DC-51A9-8947-F10737CD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048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60D4-D545-DCD8-2079-0AD27D2BC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F3136-03C6-1F1B-3364-07C9E26CC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109AE-76BC-242F-80E7-FD3278B35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42BF4-9976-5155-457F-89CF9128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EC358-0755-0151-0038-7FC64860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0164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0BF333-0C15-2382-37AF-364FA87CA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42134-A60D-F05D-6947-2FC391C5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2CA53-54C3-12BB-A51C-8288E49E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2BF8-0BA6-87CD-9313-D28933CF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4F17-175D-72FA-272E-A1FC20A7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914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61E64-91B4-8913-DEFD-42E20EFA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D34D2-DEB1-3769-0C6B-6CF9FD935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6BD92-B6A9-75DE-FC53-8E8BA9E5A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C2284-41D7-4165-84CF-D2B1E39B38A8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7AF1-AC24-E4EA-61BA-C090EEBCD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8BC2A-FC4B-55D4-ED5D-989539C28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67964-3297-4AE1-B30F-4F5AFC3930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35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2EB2-28C0-850E-83C8-B7C9358D7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3519"/>
            <a:ext cx="12192000" cy="1597170"/>
          </a:xfrm>
        </p:spPr>
        <p:txBody>
          <a:bodyPr/>
          <a:lstStyle/>
          <a:p>
            <a:pPr algn="ctr"/>
            <a:r>
              <a:rPr lang="en-US" b="1" dirty="0" err="1"/>
              <a:t>Dynamisk</a:t>
            </a:r>
            <a:r>
              <a:rPr lang="en-US" b="1" dirty="0"/>
              <a:t> </a:t>
            </a:r>
            <a:r>
              <a:rPr lang="en-US" b="1" dirty="0" err="1"/>
              <a:t>Programmering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B0A35-3B63-026C-FE90-3DB93B3E5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En </a:t>
            </a:r>
            <a:r>
              <a:rPr lang="en-US" b="1" dirty="0" err="1">
                <a:solidFill>
                  <a:srgbClr val="FF0000"/>
                </a:solidFill>
              </a:rPr>
              <a:t>systematik</a:t>
            </a:r>
            <a:r>
              <a:rPr lang="en-US" dirty="0">
                <a:solidFill>
                  <a:srgbClr val="FF0000"/>
                </a:solidFill>
              </a:rPr>
              <a:t> for </a:t>
            </a:r>
            <a:r>
              <a:rPr lang="en-US" dirty="0" err="1">
                <a:solidFill>
                  <a:srgbClr val="FF0000"/>
                </a:solidFill>
              </a:rPr>
              <a:t>hvordan</a:t>
            </a:r>
            <a:r>
              <a:rPr lang="en-US" dirty="0">
                <a:solidFill>
                  <a:srgbClr val="FF0000"/>
                </a:solidFill>
              </a:rPr>
              <a:t> man </a:t>
            </a:r>
            <a:r>
              <a:rPr lang="en-US" b="1" dirty="0" err="1">
                <a:solidFill>
                  <a:srgbClr val="FF0000"/>
                </a:solidFill>
              </a:rPr>
              <a:t>optimalt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træffer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sekvens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af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beslutninger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Her er der </a:t>
            </a:r>
            <a:r>
              <a:rPr lang="en-US" dirty="0" err="1">
                <a:solidFill>
                  <a:srgbClr val="00B0F0"/>
                </a:solidFill>
              </a:rPr>
              <a:t>ikke</a:t>
            </a:r>
            <a:r>
              <a:rPr lang="en-US" dirty="0">
                <a:solidFill>
                  <a:srgbClr val="00B0F0"/>
                </a:solidFill>
              </a:rPr>
              <a:t> et </a:t>
            </a:r>
            <a:r>
              <a:rPr lang="en-US" dirty="0" err="1">
                <a:solidFill>
                  <a:srgbClr val="00B0F0"/>
                </a:solidFill>
              </a:rPr>
              <a:t>værktøj</a:t>
            </a:r>
            <a:r>
              <a:rPr lang="en-US" dirty="0">
                <a:solidFill>
                  <a:srgbClr val="00B0F0"/>
                </a:solidFill>
              </a:rPr>
              <a:t> (a la </a:t>
            </a:r>
            <a:r>
              <a:rPr lang="en-US" dirty="0" err="1">
                <a:solidFill>
                  <a:srgbClr val="00B0F0"/>
                </a:solidFill>
              </a:rPr>
              <a:t>Solveren</a:t>
            </a:r>
            <a:r>
              <a:rPr lang="en-US" dirty="0">
                <a:solidFill>
                  <a:srgbClr val="00B0F0"/>
                </a:solidFill>
              </a:rPr>
              <a:t>) man </a:t>
            </a:r>
            <a:r>
              <a:rPr lang="en-US" dirty="0" err="1">
                <a:solidFill>
                  <a:srgbClr val="00B0F0"/>
                </a:solidFill>
              </a:rPr>
              <a:t>kan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trække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på</a:t>
            </a:r>
            <a:r>
              <a:rPr lang="en-US" dirty="0">
                <a:solidFill>
                  <a:srgbClr val="00B0F0"/>
                </a:solidFill>
              </a:rPr>
              <a:t>, men man </a:t>
            </a:r>
            <a:r>
              <a:rPr lang="en-US" dirty="0" err="1">
                <a:solidFill>
                  <a:srgbClr val="00B0F0"/>
                </a:solidFill>
              </a:rPr>
              <a:t>må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i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princippet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udvikle</a:t>
            </a:r>
            <a:r>
              <a:rPr lang="en-US" b="1" dirty="0">
                <a:solidFill>
                  <a:srgbClr val="00B050"/>
                </a:solidFill>
              </a:rPr>
              <a:t> specific </a:t>
            </a:r>
            <a:r>
              <a:rPr lang="en-US" b="1" dirty="0" err="1">
                <a:solidFill>
                  <a:srgbClr val="00B050"/>
                </a:solidFill>
              </a:rPr>
              <a:t>løsningsmetode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hver</a:t>
            </a:r>
            <a:r>
              <a:rPr lang="en-US" dirty="0">
                <a:solidFill>
                  <a:srgbClr val="00B0F0"/>
                </a:solidFill>
              </a:rPr>
              <a:t> gang</a:t>
            </a:r>
            <a:endParaRPr lang="da-DK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969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C24A6-F647-63B0-9750-6B8945E96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72125"/>
          </a:xfrm>
        </p:spPr>
        <p:txBody>
          <a:bodyPr/>
          <a:lstStyle/>
          <a:p>
            <a:pPr algn="ctr"/>
            <a:r>
              <a:rPr lang="en-US" b="1" dirty="0" err="1"/>
              <a:t>Eksempler</a:t>
            </a:r>
            <a:r>
              <a:rPr lang="en-US" b="1" dirty="0"/>
              <a:t> der </a:t>
            </a:r>
            <a:r>
              <a:rPr lang="en-US" b="1" dirty="0" err="1"/>
              <a:t>gennemgås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CF575-1710-8CEE-6FA0-4F6AA48F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Stagecoach </a:t>
            </a:r>
            <a:r>
              <a:rPr lang="en-US" dirty="0" err="1">
                <a:solidFill>
                  <a:srgbClr val="FF0000"/>
                </a:solidFill>
              </a:rPr>
              <a:t>problemet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</a:rPr>
              <a:t>Allokering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af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mediciner</a:t>
            </a:r>
            <a:r>
              <a:rPr lang="en-US" dirty="0">
                <a:solidFill>
                  <a:srgbClr val="00B0F0"/>
                </a:solidFill>
              </a:rPr>
              <a:t> hold </a:t>
            </a:r>
            <a:r>
              <a:rPr lang="en-US" dirty="0" err="1">
                <a:solidFill>
                  <a:srgbClr val="00B0F0"/>
                </a:solidFill>
              </a:rPr>
              <a:t>til</a:t>
            </a:r>
            <a:r>
              <a:rPr lang="en-US" dirty="0">
                <a:solidFill>
                  <a:srgbClr val="00B0F0"/>
                </a:solidFill>
              </a:rPr>
              <a:t> u-</a:t>
            </a:r>
            <a:r>
              <a:rPr lang="en-US" dirty="0" err="1">
                <a:solidFill>
                  <a:srgbClr val="00B0F0"/>
                </a:solidFill>
              </a:rPr>
              <a:t>lande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	med et </a:t>
            </a:r>
            <a:r>
              <a:rPr lang="en-US" dirty="0" err="1"/>
              <a:t>programmeringstwist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HIT-AND-MISS MANUFACTURING COMPANY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hvor</a:t>
            </a:r>
            <a:r>
              <a:rPr lang="en-US" dirty="0"/>
              <a:t> der </a:t>
            </a:r>
            <a:r>
              <a:rPr lang="en-US" dirty="0" err="1"/>
              <a:t>indgår</a:t>
            </a:r>
            <a:r>
              <a:rPr lang="en-US" dirty="0"/>
              <a:t> </a:t>
            </a:r>
            <a:r>
              <a:rPr lang="en-US" dirty="0" err="1"/>
              <a:t>usikkerhed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7506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89F1-0ACB-29D5-02F1-872F8269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128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Stagecoach </a:t>
            </a:r>
            <a:r>
              <a:rPr lang="en-US" b="1" dirty="0" err="1"/>
              <a:t>problemet</a:t>
            </a:r>
            <a:br>
              <a:rPr lang="en-US" dirty="0"/>
            </a:b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06EAA8-04CD-E8C8-5101-CBB1C4811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706" y="2824247"/>
            <a:ext cx="6216315" cy="23540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262549-46D3-E83A-D9FB-FA5A2B837DEB}"/>
              </a:ext>
            </a:extLst>
          </p:cNvPr>
          <p:cNvSpPr txBox="1"/>
          <p:nvPr/>
        </p:nvSpPr>
        <p:spPr>
          <a:xfrm>
            <a:off x="1227221" y="1772653"/>
            <a:ext cx="4563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 err="1"/>
              <a:t>billigste</a:t>
            </a:r>
            <a:r>
              <a:rPr lang="en-US" dirty="0"/>
              <a:t> </a:t>
            </a:r>
            <a:r>
              <a:rPr lang="en-US" dirty="0" err="1"/>
              <a:t>vej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A </a:t>
            </a:r>
            <a:r>
              <a:rPr lang="en-US" dirty="0" err="1"/>
              <a:t>til</a:t>
            </a:r>
            <a:r>
              <a:rPr lang="en-US" dirty="0"/>
              <a:t> J</a:t>
            </a:r>
            <a:endParaRPr lang="da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4A6AD-2F83-C6B0-DAB2-6032F147154E}"/>
              </a:ext>
            </a:extLst>
          </p:cNvPr>
          <p:cNvSpPr txBox="1"/>
          <p:nvPr/>
        </p:nvSpPr>
        <p:spPr>
          <a:xfrm>
            <a:off x="2189747" y="2654968"/>
            <a:ext cx="70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Trin 1</a:t>
            </a:r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97CB9-4F3B-196A-46CB-2E245F0825C0}"/>
              </a:ext>
            </a:extLst>
          </p:cNvPr>
          <p:cNvSpPr txBox="1"/>
          <p:nvPr/>
        </p:nvSpPr>
        <p:spPr>
          <a:xfrm>
            <a:off x="3280611" y="2526632"/>
            <a:ext cx="93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Trin 2</a:t>
            </a:r>
            <a:endParaRPr lang="da-D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0F3BB-07BE-CEB7-F0B8-4F7ECA8FDE53}"/>
              </a:ext>
            </a:extLst>
          </p:cNvPr>
          <p:cNvSpPr txBox="1"/>
          <p:nvPr/>
        </p:nvSpPr>
        <p:spPr>
          <a:xfrm>
            <a:off x="4219074" y="2439600"/>
            <a:ext cx="93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Trin 3</a:t>
            </a:r>
            <a:endParaRPr lang="da-D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F2FB6-A304-9CFE-AA82-BC6899DEB18D}"/>
              </a:ext>
            </a:extLst>
          </p:cNvPr>
          <p:cNvSpPr txBox="1"/>
          <p:nvPr/>
        </p:nvSpPr>
        <p:spPr>
          <a:xfrm>
            <a:off x="5309937" y="2526632"/>
            <a:ext cx="93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Trin 4</a:t>
            </a:r>
            <a:endParaRPr lang="da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A99531-34DB-E716-2873-EA3B8194BF17}"/>
              </a:ext>
            </a:extLst>
          </p:cNvPr>
          <p:cNvSpPr txBox="1"/>
          <p:nvPr/>
        </p:nvSpPr>
        <p:spPr>
          <a:xfrm>
            <a:off x="6673516" y="2824247"/>
            <a:ext cx="22298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Løse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trinvist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 err="1">
                <a:solidFill>
                  <a:srgbClr val="00B0F0"/>
                </a:solidFill>
              </a:rPr>
              <a:t>På</a:t>
            </a:r>
            <a:r>
              <a:rPr lang="en-US" dirty="0">
                <a:solidFill>
                  <a:srgbClr val="00B0F0"/>
                </a:solidFill>
              </a:rPr>
              <a:t> trin n find den </a:t>
            </a:r>
            <a:r>
              <a:rPr lang="en-US" dirty="0" err="1">
                <a:solidFill>
                  <a:srgbClr val="00B0F0"/>
                </a:solidFill>
              </a:rPr>
              <a:t>optimale</a:t>
            </a:r>
            <a:r>
              <a:rPr lang="en-US" dirty="0">
                <a:solidFill>
                  <a:srgbClr val="00B0F0"/>
                </a:solidFill>
              </a:rPr>
              <a:t> destination </a:t>
            </a:r>
            <a:r>
              <a:rPr lang="en-US" dirty="0" err="1">
                <a:solidFill>
                  <a:srgbClr val="00B0F0"/>
                </a:solidFill>
              </a:rPr>
              <a:t>på</a:t>
            </a:r>
            <a:r>
              <a:rPr lang="en-US" dirty="0">
                <a:solidFill>
                  <a:srgbClr val="00B0F0"/>
                </a:solidFill>
              </a:rPr>
              <a:t> trin n+1 </a:t>
            </a:r>
            <a:r>
              <a:rPr lang="en-US" dirty="0" err="1">
                <a:solidFill>
                  <a:srgbClr val="00B0F0"/>
                </a:solidFill>
              </a:rPr>
              <a:t>hvor</a:t>
            </a:r>
            <a:r>
              <a:rPr lang="en-US" dirty="0">
                <a:solidFill>
                  <a:srgbClr val="00B0F0"/>
                </a:solidFill>
              </a:rPr>
              <a:t> man </a:t>
            </a:r>
            <a:r>
              <a:rPr lang="en-US" dirty="0" err="1">
                <a:solidFill>
                  <a:srgbClr val="00B0F0"/>
                </a:solidFill>
              </a:rPr>
              <a:t>inkalkulerer</a:t>
            </a:r>
            <a:r>
              <a:rPr lang="en-US" dirty="0">
                <a:solidFill>
                  <a:srgbClr val="00B0F0"/>
                </a:solidFill>
              </a:rPr>
              <a:t> at </a:t>
            </a:r>
            <a:r>
              <a:rPr lang="en-US" dirty="0" err="1">
                <a:solidFill>
                  <a:srgbClr val="00B0F0"/>
                </a:solidFill>
              </a:rPr>
              <a:t>fra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og</a:t>
            </a:r>
            <a:r>
              <a:rPr lang="en-US" dirty="0">
                <a:solidFill>
                  <a:srgbClr val="00B0F0"/>
                </a:solidFill>
              </a:rPr>
              <a:t> med trin n+1 </a:t>
            </a:r>
            <a:r>
              <a:rPr lang="en-US" dirty="0" err="1">
                <a:solidFill>
                  <a:srgbClr val="00B0F0"/>
                </a:solidFill>
              </a:rPr>
              <a:t>kender</a:t>
            </a:r>
            <a:r>
              <a:rPr lang="en-US" dirty="0">
                <a:solidFill>
                  <a:srgbClr val="00B0F0"/>
                </a:solidFill>
              </a:rPr>
              <a:t> man den </a:t>
            </a:r>
            <a:r>
              <a:rPr lang="en-US" dirty="0" err="1">
                <a:solidFill>
                  <a:srgbClr val="00B0F0"/>
                </a:solidFill>
              </a:rPr>
              <a:t>optimale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rute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resten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af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vejen</a:t>
            </a:r>
            <a:endParaRPr lang="da-DK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77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6E5F-69BC-0F4B-4195-279B6D74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1690689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b="1" dirty="0" err="1"/>
              <a:t>På</a:t>
            </a:r>
            <a:r>
              <a:rPr lang="en-US" b="1" dirty="0"/>
              <a:t> trin n find den </a:t>
            </a:r>
            <a:r>
              <a:rPr lang="en-US" b="1" dirty="0" err="1"/>
              <a:t>optimale</a:t>
            </a:r>
            <a:r>
              <a:rPr lang="en-US" b="1" dirty="0"/>
              <a:t> destination </a:t>
            </a:r>
            <a:r>
              <a:rPr lang="en-US" b="1" dirty="0" err="1"/>
              <a:t>på</a:t>
            </a:r>
            <a:r>
              <a:rPr lang="en-US" b="1" dirty="0"/>
              <a:t> trin n+1 </a:t>
            </a:r>
            <a:r>
              <a:rPr lang="en-US" b="1" dirty="0" err="1"/>
              <a:t>hvor</a:t>
            </a:r>
            <a:r>
              <a:rPr lang="en-US" b="1" dirty="0"/>
              <a:t> man </a:t>
            </a:r>
            <a:r>
              <a:rPr lang="en-US" b="1" dirty="0" err="1"/>
              <a:t>inkalkulerer</a:t>
            </a:r>
            <a:r>
              <a:rPr lang="en-US" b="1" dirty="0"/>
              <a:t> at </a:t>
            </a:r>
            <a:r>
              <a:rPr lang="en-US" b="1" dirty="0" err="1"/>
              <a:t>fra</a:t>
            </a:r>
            <a:r>
              <a:rPr lang="en-US" b="1" dirty="0"/>
              <a:t> </a:t>
            </a:r>
            <a:r>
              <a:rPr lang="en-US" b="1" dirty="0" err="1"/>
              <a:t>og</a:t>
            </a:r>
            <a:r>
              <a:rPr lang="en-US" b="1" dirty="0"/>
              <a:t> med trin n+1 </a:t>
            </a:r>
            <a:r>
              <a:rPr lang="en-US" b="1" dirty="0" err="1"/>
              <a:t>kender</a:t>
            </a:r>
            <a:r>
              <a:rPr lang="en-US" b="1" dirty="0"/>
              <a:t> man den </a:t>
            </a:r>
            <a:r>
              <a:rPr lang="en-US" b="1" dirty="0" err="1"/>
              <a:t>optimale</a:t>
            </a:r>
            <a:r>
              <a:rPr lang="en-US" b="1" dirty="0"/>
              <a:t> </a:t>
            </a:r>
            <a:r>
              <a:rPr lang="en-US" b="1" dirty="0" err="1"/>
              <a:t>rute</a:t>
            </a:r>
            <a:r>
              <a:rPr lang="en-US" b="1" dirty="0"/>
              <a:t> </a:t>
            </a:r>
            <a:r>
              <a:rPr lang="en-US" b="1" dirty="0" err="1"/>
              <a:t>resten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vejen</a:t>
            </a:r>
            <a:br>
              <a:rPr lang="da-DK" dirty="0"/>
            </a:b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F956FE-8CD4-1311-70CC-FCCF658D2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684" y="2604192"/>
            <a:ext cx="2140085" cy="9922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AE750-3F50-860D-ED76-7C43225274CB}"/>
              </a:ext>
            </a:extLst>
          </p:cNvPr>
          <p:cNvSpPr txBox="1"/>
          <p:nvPr/>
        </p:nvSpPr>
        <p:spPr>
          <a:xfrm>
            <a:off x="474094" y="1900989"/>
            <a:ext cx="2015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Terminal </a:t>
            </a:r>
            <a:r>
              <a:rPr lang="en-US" b="1" dirty="0" err="1">
                <a:solidFill>
                  <a:srgbClr val="FF0000"/>
                </a:solidFill>
              </a:rPr>
              <a:t>betingelse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endParaRPr lang="da-DK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39BCE7-9963-653C-E295-AB45BF86D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937" y="2088626"/>
            <a:ext cx="4708187" cy="1507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A231B1-44EC-5A85-1530-9DEF82CA8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94" y="4166238"/>
            <a:ext cx="5797685" cy="14688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9BB616-D354-1106-5F4F-98222D6C8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557" y="4341335"/>
            <a:ext cx="5642043" cy="111868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B3D7AC-E9B3-6D85-CF1C-342005A7CC2F}"/>
              </a:ext>
            </a:extLst>
          </p:cNvPr>
          <p:cNvCxnSpPr/>
          <p:nvPr/>
        </p:nvCxnSpPr>
        <p:spPr>
          <a:xfrm>
            <a:off x="2422358" y="2983832"/>
            <a:ext cx="858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475B64-C834-85A5-A4E4-E71BFA49BD0F}"/>
              </a:ext>
            </a:extLst>
          </p:cNvPr>
          <p:cNvCxnSpPr/>
          <p:nvPr/>
        </p:nvCxnSpPr>
        <p:spPr>
          <a:xfrm flipH="1">
            <a:off x="1852863" y="3513221"/>
            <a:ext cx="2069432" cy="653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EF093D-6856-561F-8429-06AE863AFD1A}"/>
              </a:ext>
            </a:extLst>
          </p:cNvPr>
          <p:cNvCxnSpPr/>
          <p:nvPr/>
        </p:nvCxnSpPr>
        <p:spPr>
          <a:xfrm>
            <a:off x="5879432" y="4181586"/>
            <a:ext cx="946484" cy="95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11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B6B2-B005-E150-D58D-409C6AE03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Sammenstykning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information 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C5B83-E23C-3317-9D59-9302203F3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937"/>
            <a:ext cx="12192000" cy="535806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da-DK" dirty="0"/>
              <a:t>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38C80-A39D-E8CE-1711-10C409072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10" y="2062263"/>
            <a:ext cx="6456947" cy="32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6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52FD-8196-D4BA-CA4D-26EA0942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Karakteristik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metode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EED0B-51F5-9CD1-2ECC-4E24F54E6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Vi </a:t>
            </a:r>
            <a:r>
              <a:rPr lang="en-US" dirty="0" err="1"/>
              <a:t>arbejder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bagud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trin (</a:t>
            </a:r>
            <a:r>
              <a:rPr lang="en-US" b="1" dirty="0" err="1">
                <a:solidFill>
                  <a:srgbClr val="FF0000"/>
                </a:solidFill>
              </a:rPr>
              <a:t>tid</a:t>
            </a:r>
            <a:r>
              <a:rPr lang="en-US" b="1" dirty="0">
                <a:solidFill>
                  <a:srgbClr val="FF0000"/>
                </a:solidFill>
              </a:rPr>
              <a:t>) </a:t>
            </a:r>
            <a:r>
              <a:rPr lang="en-US" b="1" dirty="0" err="1">
                <a:solidFill>
                  <a:srgbClr val="FF0000"/>
                </a:solidFill>
              </a:rPr>
              <a:t>og</a:t>
            </a:r>
            <a:r>
              <a:rPr lang="en-US" b="1" dirty="0">
                <a:solidFill>
                  <a:srgbClr val="FF0000"/>
                </a:solidFill>
              </a:rPr>
              <a:t> finder den </a:t>
            </a:r>
            <a:r>
              <a:rPr lang="en-US" b="1" dirty="0" err="1">
                <a:solidFill>
                  <a:srgbClr val="FF0000"/>
                </a:solidFill>
              </a:rPr>
              <a:t>optimale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værdi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 </a:t>
            </a:r>
            <a:r>
              <a:rPr lang="en-US" dirty="0" err="1"/>
              <a:t>arbejder</a:t>
            </a:r>
            <a:r>
              <a:rPr lang="en-US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fremad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b="1" dirty="0">
                <a:solidFill>
                  <a:srgbClr val="0070C0"/>
                </a:solidFill>
              </a:rPr>
              <a:t> trin (</a:t>
            </a:r>
            <a:r>
              <a:rPr lang="en-US" b="1" dirty="0" err="1">
                <a:solidFill>
                  <a:srgbClr val="0070C0"/>
                </a:solidFill>
              </a:rPr>
              <a:t>tid</a:t>
            </a:r>
            <a:r>
              <a:rPr lang="en-US" b="1" dirty="0">
                <a:solidFill>
                  <a:srgbClr val="0070C0"/>
                </a:solidFill>
              </a:rPr>
              <a:t>) </a:t>
            </a:r>
            <a:r>
              <a:rPr lang="en-US" b="1" dirty="0" err="1">
                <a:solidFill>
                  <a:srgbClr val="0070C0"/>
                </a:solidFill>
              </a:rPr>
              <a:t>og</a:t>
            </a:r>
            <a:r>
              <a:rPr lang="en-US" b="1" dirty="0">
                <a:solidFill>
                  <a:srgbClr val="0070C0"/>
                </a:solidFill>
              </a:rPr>
              <a:t> finder den </a:t>
            </a:r>
            <a:r>
              <a:rPr lang="en-US" b="1" dirty="0" err="1">
                <a:solidFill>
                  <a:srgbClr val="0070C0"/>
                </a:solidFill>
              </a:rPr>
              <a:t>optimale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løsning</a:t>
            </a:r>
            <a:r>
              <a:rPr lang="en-US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Benævnes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også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baglæns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dynamisk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programmering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723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BB20B-C12A-464F-22EA-6A57C14A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Allokering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mediciner</a:t>
            </a:r>
            <a:r>
              <a:rPr lang="en-US" b="1" dirty="0"/>
              <a:t> hold </a:t>
            </a:r>
            <a:r>
              <a:rPr lang="en-US" b="1" dirty="0" err="1"/>
              <a:t>til</a:t>
            </a:r>
            <a:r>
              <a:rPr lang="en-US" b="1" dirty="0"/>
              <a:t> u-</a:t>
            </a:r>
            <a:r>
              <a:rPr lang="en-US" b="1" dirty="0" err="1"/>
              <a:t>lande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542701-3020-E5BE-9C36-AAA38DFF7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262" y="3033442"/>
            <a:ext cx="7684169" cy="3247042"/>
          </a:xfrm>
        </p:spPr>
      </p:pic>
    </p:spTree>
    <p:extLst>
      <p:ext uri="{BB962C8B-B14F-4D97-AF65-F5344CB8AC3E}">
        <p14:creationId xmlns:p14="http://schemas.microsoft.com/office/powerpoint/2010/main" val="112050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7E98-2419-243E-9A12-13C5614D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40041"/>
          </a:xfrm>
        </p:spPr>
        <p:txBody>
          <a:bodyPr/>
          <a:lstStyle/>
          <a:p>
            <a:pPr algn="ctr"/>
            <a:r>
              <a:rPr lang="en-US" b="1" dirty="0" err="1"/>
              <a:t>Allokering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mediciner</a:t>
            </a:r>
            <a:r>
              <a:rPr lang="en-US" b="1" dirty="0"/>
              <a:t> hold </a:t>
            </a:r>
            <a:r>
              <a:rPr lang="en-US" b="1" dirty="0" err="1"/>
              <a:t>til</a:t>
            </a:r>
            <a:r>
              <a:rPr lang="en-US" b="1" dirty="0"/>
              <a:t> u-</a:t>
            </a:r>
            <a:r>
              <a:rPr lang="en-US" b="1" dirty="0" err="1"/>
              <a:t>lande</a:t>
            </a:r>
            <a:br>
              <a:rPr lang="en-US" dirty="0"/>
            </a:b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F5ADB-4935-FA20-B1E1-080FBF843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Opfat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begrebsmæssigt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at et fly letter </a:t>
            </a:r>
            <a:r>
              <a:rPr lang="en-US" dirty="0" err="1">
                <a:solidFill>
                  <a:srgbClr val="FF0000"/>
                </a:solidFill>
              </a:rPr>
              <a:t>fra</a:t>
            </a:r>
            <a:r>
              <a:rPr lang="en-US" dirty="0">
                <a:solidFill>
                  <a:srgbClr val="FF0000"/>
                </a:solidFill>
              </a:rPr>
              <a:t> et </a:t>
            </a:r>
            <a:r>
              <a:rPr lang="en-US" dirty="0" err="1">
                <a:solidFill>
                  <a:srgbClr val="FF0000"/>
                </a:solidFill>
              </a:rPr>
              <a:t>hovedkvarter</a:t>
            </a:r>
            <a:r>
              <a:rPr lang="en-US" dirty="0">
                <a:solidFill>
                  <a:srgbClr val="FF0000"/>
                </a:solidFill>
              </a:rPr>
              <a:t> med 5 hold </a:t>
            </a:r>
            <a:r>
              <a:rPr lang="en-US" dirty="0" err="1">
                <a:solidFill>
                  <a:srgbClr val="FF0000"/>
                </a:solidFill>
              </a:rPr>
              <a:t>ombord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</a:rPr>
              <a:t>Først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flyver</a:t>
            </a:r>
            <a:r>
              <a:rPr lang="en-US" dirty="0">
                <a:solidFill>
                  <a:srgbClr val="00B0F0"/>
                </a:solidFill>
              </a:rPr>
              <a:t> det </a:t>
            </a:r>
            <a:r>
              <a:rPr lang="en-US" dirty="0" err="1">
                <a:solidFill>
                  <a:srgbClr val="00B0F0"/>
                </a:solidFill>
              </a:rPr>
              <a:t>til</a:t>
            </a:r>
            <a:r>
              <a:rPr lang="en-US" dirty="0">
                <a:solidFill>
                  <a:srgbClr val="00B0F0"/>
                </a:solidFill>
              </a:rPr>
              <a:t> Land 1 </a:t>
            </a:r>
            <a:r>
              <a:rPr lang="en-US" dirty="0" err="1">
                <a:solidFill>
                  <a:srgbClr val="00B0F0"/>
                </a:solidFill>
              </a:rPr>
              <a:t>og</a:t>
            </a:r>
            <a:r>
              <a:rPr lang="en-US" dirty="0">
                <a:solidFill>
                  <a:srgbClr val="00B0F0"/>
                </a:solidFill>
              </a:rPr>
              <a:t> dropper </a:t>
            </a:r>
            <a:r>
              <a:rPr lang="en-US" dirty="0" err="1">
                <a:solidFill>
                  <a:srgbClr val="00B0F0"/>
                </a:solidFill>
              </a:rPr>
              <a:t>nogle</a:t>
            </a:r>
            <a:r>
              <a:rPr lang="en-US" dirty="0">
                <a:solidFill>
                  <a:srgbClr val="00B0F0"/>
                </a:solidFill>
              </a:rPr>
              <a:t> hold </a:t>
            </a:r>
            <a:r>
              <a:rPr lang="en-US" dirty="0" err="1">
                <a:solidFill>
                  <a:srgbClr val="00B0F0"/>
                </a:solidFill>
              </a:rPr>
              <a:t>af</a:t>
            </a:r>
            <a:r>
              <a:rPr lang="en-US" dirty="0">
                <a:solidFill>
                  <a:srgbClr val="00B0F0"/>
                </a:solidFill>
              </a:rPr>
              <a:t> der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</a:rPr>
              <a:t>Så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videre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til</a:t>
            </a:r>
            <a:r>
              <a:rPr lang="en-US" dirty="0">
                <a:solidFill>
                  <a:srgbClr val="00B0F0"/>
                </a:solidFill>
              </a:rPr>
              <a:t> Land 2 </a:t>
            </a:r>
            <a:r>
              <a:rPr lang="en-US" dirty="0" err="1">
                <a:solidFill>
                  <a:srgbClr val="00B0F0"/>
                </a:solidFill>
              </a:rPr>
              <a:t>og</a:t>
            </a:r>
            <a:r>
              <a:rPr lang="en-US" dirty="0">
                <a:solidFill>
                  <a:srgbClr val="00B0F0"/>
                </a:solidFill>
              </a:rPr>
              <a:t> dropper </a:t>
            </a:r>
            <a:r>
              <a:rPr lang="en-US" dirty="0" err="1">
                <a:solidFill>
                  <a:srgbClr val="00B0F0"/>
                </a:solidFill>
              </a:rPr>
              <a:t>nogle</a:t>
            </a:r>
            <a:r>
              <a:rPr lang="en-US" dirty="0">
                <a:solidFill>
                  <a:srgbClr val="00B0F0"/>
                </a:solidFill>
              </a:rPr>
              <a:t> hold </a:t>
            </a:r>
            <a:r>
              <a:rPr lang="en-US" dirty="0" err="1">
                <a:solidFill>
                  <a:srgbClr val="00B0F0"/>
                </a:solidFill>
              </a:rPr>
              <a:t>af</a:t>
            </a:r>
            <a:r>
              <a:rPr lang="en-US" dirty="0">
                <a:solidFill>
                  <a:srgbClr val="00B0F0"/>
                </a:solidFill>
              </a:rPr>
              <a:t> der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</a:rPr>
              <a:t>Så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flyves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til</a:t>
            </a:r>
            <a:r>
              <a:rPr lang="en-US" dirty="0">
                <a:solidFill>
                  <a:srgbClr val="00B0F0"/>
                </a:solidFill>
              </a:rPr>
              <a:t> Land 3 med de </a:t>
            </a:r>
            <a:r>
              <a:rPr lang="en-US" dirty="0" err="1">
                <a:solidFill>
                  <a:srgbClr val="00B0F0"/>
                </a:solidFill>
              </a:rPr>
              <a:t>sidste</a:t>
            </a:r>
            <a:r>
              <a:rPr lang="en-US" dirty="0">
                <a:solidFill>
                  <a:srgbClr val="00B0F0"/>
                </a:solidFill>
              </a:rPr>
              <a:t> hold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</a:rPr>
              <a:t>Hvorefter</a:t>
            </a:r>
            <a:r>
              <a:rPr lang="en-US" dirty="0">
                <a:solidFill>
                  <a:srgbClr val="00B0F0"/>
                </a:solidFill>
              </a:rPr>
              <a:t> der </a:t>
            </a:r>
            <a:r>
              <a:rPr lang="en-US" dirty="0" err="1">
                <a:solidFill>
                  <a:srgbClr val="00B0F0"/>
                </a:solidFill>
              </a:rPr>
              <a:t>flyves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tomt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tilbage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til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hovedkvarter</a:t>
            </a:r>
            <a:endParaRPr lang="da-DK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99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8C50-5910-DA5F-D0C8-24176FC5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71600"/>
          </a:xfrm>
        </p:spPr>
        <p:txBody>
          <a:bodyPr/>
          <a:lstStyle/>
          <a:p>
            <a:pPr algn="ctr"/>
            <a:r>
              <a:rPr lang="en-US" b="1" dirty="0" err="1"/>
              <a:t>Forrige</a:t>
            </a:r>
            <a:r>
              <a:rPr lang="en-US" b="1" dirty="0"/>
              <a:t> slide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matematik</a:t>
            </a:r>
            <a:r>
              <a:rPr lang="en-US" b="1" dirty="0"/>
              <a:t> sprog</a:t>
            </a:r>
            <a:endParaRPr lang="da-DK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DE2239-33E1-6351-5535-C449E3591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547" y="1516063"/>
            <a:ext cx="8373171" cy="5341937"/>
          </a:xfrm>
        </p:spPr>
      </p:pic>
    </p:spTree>
    <p:extLst>
      <p:ext uri="{BB962C8B-B14F-4D97-AF65-F5344CB8AC3E}">
        <p14:creationId xmlns:p14="http://schemas.microsoft.com/office/powerpoint/2010/main" val="1001445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E50B-B074-90E9-E1D6-0A7EF45D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Matematik</a:t>
            </a:r>
            <a:r>
              <a:rPr lang="en-US" b="1" dirty="0"/>
              <a:t> in action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1E0F01-CC51-3018-E503-F14DE7DA2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249" y="1567553"/>
            <a:ext cx="2645923" cy="16342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14AEF6-36C3-DED0-9417-D6067167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820" y="1690689"/>
            <a:ext cx="5797685" cy="1955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692212-7BBF-D0B5-4048-2D64B4902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92" y="4582547"/>
            <a:ext cx="5758774" cy="13035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20275D-E7F9-42D1-B32F-217B324337A3}"/>
              </a:ext>
            </a:extLst>
          </p:cNvPr>
          <p:cNvSpPr txBox="1"/>
          <p:nvPr/>
        </p:nvSpPr>
        <p:spPr>
          <a:xfrm>
            <a:off x="7267074" y="4582547"/>
            <a:ext cx="27111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Optimal </a:t>
            </a:r>
            <a:r>
              <a:rPr lang="en-US" dirty="0" err="1"/>
              <a:t>løsning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Alloker</a:t>
            </a:r>
            <a:r>
              <a:rPr lang="en-US" dirty="0"/>
              <a:t> 1 hold </a:t>
            </a:r>
            <a:r>
              <a:rPr lang="en-US" dirty="0" err="1"/>
              <a:t>til</a:t>
            </a:r>
            <a:r>
              <a:rPr lang="en-US" dirty="0"/>
              <a:t> Land 1</a:t>
            </a:r>
          </a:p>
          <a:p>
            <a:r>
              <a:rPr lang="en-US" dirty="0" err="1"/>
              <a:t>Alloker</a:t>
            </a:r>
            <a:r>
              <a:rPr lang="en-US" dirty="0"/>
              <a:t> 3 hold </a:t>
            </a:r>
            <a:r>
              <a:rPr lang="en-US" dirty="0" err="1"/>
              <a:t>til</a:t>
            </a:r>
            <a:r>
              <a:rPr lang="en-US" dirty="0"/>
              <a:t> Land 2</a:t>
            </a:r>
          </a:p>
          <a:p>
            <a:r>
              <a:rPr lang="en-US" dirty="0" err="1"/>
              <a:t>Alloker</a:t>
            </a:r>
            <a:r>
              <a:rPr lang="en-US" dirty="0"/>
              <a:t> 1 hold </a:t>
            </a:r>
            <a:r>
              <a:rPr lang="en-US" dirty="0" err="1"/>
              <a:t>til</a:t>
            </a:r>
            <a:r>
              <a:rPr lang="en-US" dirty="0"/>
              <a:t> Land 3</a:t>
            </a:r>
          </a:p>
          <a:p>
            <a:endParaRPr lang="da-DK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7A1EB6-9C59-8DC1-F26E-18497F326529}"/>
              </a:ext>
            </a:extLst>
          </p:cNvPr>
          <p:cNvCxnSpPr/>
          <p:nvPr/>
        </p:nvCxnSpPr>
        <p:spPr>
          <a:xfrm>
            <a:off x="2454442" y="1933074"/>
            <a:ext cx="1376378" cy="136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CBD73A-1EFF-1993-708C-0BF9CB0A2790}"/>
              </a:ext>
            </a:extLst>
          </p:cNvPr>
          <p:cNvCxnSpPr/>
          <p:nvPr/>
        </p:nvCxnSpPr>
        <p:spPr>
          <a:xfrm flipH="1">
            <a:off x="2342147" y="3656201"/>
            <a:ext cx="2053390" cy="926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91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9E18-580D-4971-C033-7B6D22AA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Fra </a:t>
            </a:r>
            <a:r>
              <a:rPr lang="en-US" b="1" dirty="0" err="1"/>
              <a:t>håndregning</a:t>
            </a:r>
            <a:r>
              <a:rPr lang="en-US" b="1" dirty="0"/>
              <a:t> </a:t>
            </a:r>
            <a:r>
              <a:rPr lang="en-US" b="1" dirty="0" err="1"/>
              <a:t>til</a:t>
            </a:r>
            <a:r>
              <a:rPr lang="en-US" b="1" dirty="0"/>
              <a:t> </a:t>
            </a:r>
            <a:r>
              <a:rPr lang="en-US" b="1" dirty="0" err="1"/>
              <a:t>programmering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3392-53A7-D44A-D2EB-BE34712F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2001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Da der </a:t>
            </a:r>
            <a:r>
              <a:rPr lang="en-US" dirty="0" err="1">
                <a:solidFill>
                  <a:srgbClr val="FF0000"/>
                </a:solidFill>
              </a:rPr>
              <a:t>ikke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findes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nogen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færdigudviklet</a:t>
            </a:r>
            <a:r>
              <a:rPr lang="en-US" dirty="0">
                <a:solidFill>
                  <a:srgbClr val="FF0000"/>
                </a:solidFill>
              </a:rPr>
              <a:t> “solver” for at </a:t>
            </a:r>
            <a:r>
              <a:rPr lang="en-US" dirty="0" err="1">
                <a:solidFill>
                  <a:srgbClr val="FF0000"/>
                </a:solidFill>
              </a:rPr>
              <a:t>løse</a:t>
            </a:r>
            <a:r>
              <a:rPr lang="en-US" dirty="0">
                <a:solidFill>
                  <a:srgbClr val="FF0000"/>
                </a:solidFill>
              </a:rPr>
              <a:t> et DP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oftest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selv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udvikle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algoritme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og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programmere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den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Se </a:t>
            </a:r>
            <a:r>
              <a:rPr lang="en-US" dirty="0" err="1">
                <a:solidFill>
                  <a:srgbClr val="00B050"/>
                </a:solidFill>
              </a:rPr>
              <a:t>uploadet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eksempel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på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kode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 VBA </a:t>
            </a:r>
            <a:r>
              <a:rPr lang="en-US" dirty="0" err="1">
                <a:solidFill>
                  <a:srgbClr val="00B050"/>
                </a:solidFill>
              </a:rPr>
              <a:t>som</a:t>
            </a:r>
            <a:r>
              <a:rPr lang="en-US" dirty="0">
                <a:solidFill>
                  <a:srgbClr val="00B050"/>
                </a:solidFill>
              </a:rPr>
              <a:t> er </a:t>
            </a:r>
            <a:r>
              <a:rPr lang="en-US" dirty="0" err="1">
                <a:solidFill>
                  <a:srgbClr val="00B050"/>
                </a:solidFill>
              </a:rPr>
              <a:t>programmeringssproget</a:t>
            </a:r>
            <a:r>
              <a:rPr lang="en-US" dirty="0">
                <a:solidFill>
                  <a:srgbClr val="00B050"/>
                </a:solidFill>
              </a:rPr>
              <a:t> bag Excel (</a:t>
            </a:r>
            <a:r>
              <a:rPr lang="en-US" dirty="0" err="1">
                <a:solidFill>
                  <a:srgbClr val="00B050"/>
                </a:solidFill>
              </a:rPr>
              <a:t>når</a:t>
            </a:r>
            <a:r>
              <a:rPr lang="en-US" dirty="0">
                <a:solidFill>
                  <a:srgbClr val="00B050"/>
                </a:solidFill>
              </a:rPr>
              <a:t> man </a:t>
            </a:r>
            <a:r>
              <a:rPr lang="en-US" dirty="0" err="1">
                <a:solidFill>
                  <a:srgbClr val="00B050"/>
                </a:solidFill>
              </a:rPr>
              <a:t>skal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udvikle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macroer</a:t>
            </a:r>
            <a:r>
              <a:rPr lang="en-US" dirty="0">
                <a:solidFill>
                  <a:srgbClr val="00B050"/>
                </a:solidFill>
              </a:rPr>
              <a:t>)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0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8DB2-E4B2-3C22-B463-211D3AC2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Koden</a:t>
            </a:r>
            <a:endParaRPr lang="da-DK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8B971F-905A-5C53-3B7D-7855DBA7F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930442"/>
            <a:ext cx="12191999" cy="5807242"/>
          </a:xfrm>
        </p:spPr>
      </p:pic>
    </p:spTree>
    <p:extLst>
      <p:ext uri="{BB962C8B-B14F-4D97-AF65-F5344CB8AC3E}">
        <p14:creationId xmlns:p14="http://schemas.microsoft.com/office/powerpoint/2010/main" val="12148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BA7D-B4B4-DC5C-B961-0DB517A42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Demonstration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koden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148F-F864-11D8-D86D-84BDFA715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To </a:t>
            </a:r>
            <a:r>
              <a:rPr lang="en-US" dirty="0" err="1">
                <a:solidFill>
                  <a:srgbClr val="FF0000"/>
                </a:solidFill>
              </a:rPr>
              <a:t>eksempler</a:t>
            </a:r>
            <a:r>
              <a:rPr lang="en-US" dirty="0">
                <a:solidFill>
                  <a:srgbClr val="FF0000"/>
                </a:solidFill>
              </a:rPr>
              <a:t> sat op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Excel </a:t>
            </a:r>
            <a:r>
              <a:rPr lang="en-US" dirty="0" err="1">
                <a:solidFill>
                  <a:srgbClr val="FF0000"/>
                </a:solidFill>
              </a:rPr>
              <a:t>filen</a:t>
            </a:r>
            <a:r>
              <a:rPr lang="en-US" dirty="0">
                <a:solidFill>
                  <a:srgbClr val="FF0000"/>
                </a:solidFill>
              </a:rPr>
              <a:t>. Det </a:t>
            </a:r>
            <a:r>
              <a:rPr lang="en-US" dirty="0" err="1">
                <a:solidFill>
                  <a:srgbClr val="FF0000"/>
                </a:solidFill>
              </a:rPr>
              <a:t>fra</a:t>
            </a:r>
            <a:r>
              <a:rPr lang="en-US" dirty="0">
                <a:solidFill>
                  <a:srgbClr val="FF0000"/>
                </a:solidFill>
              </a:rPr>
              <a:t> HL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et </a:t>
            </a:r>
            <a:r>
              <a:rPr lang="en-US" dirty="0" err="1">
                <a:solidFill>
                  <a:srgbClr val="FF0000"/>
                </a:solidFill>
              </a:rPr>
              <a:t>udvidet</a:t>
            </a:r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fantasi</a:t>
            </a:r>
            <a:r>
              <a:rPr lang="en-US" dirty="0">
                <a:solidFill>
                  <a:srgbClr val="FF0000"/>
                </a:solidFill>
              </a:rPr>
              <a:t>” problem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Nu </a:t>
            </a:r>
            <a:r>
              <a:rPr lang="en-US" dirty="0" err="1">
                <a:solidFill>
                  <a:schemeClr val="accent1"/>
                </a:solidFill>
              </a:rPr>
              <a:t>løses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allokeringsproblemet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et </a:t>
            </a:r>
            <a:r>
              <a:rPr lang="en-US" sz="3600" b="1" dirty="0">
                <a:solidFill>
                  <a:srgbClr val="00B050"/>
                </a:solidFill>
              </a:rPr>
              <a:t>split </a:t>
            </a:r>
            <a:r>
              <a:rPr lang="en-US" sz="3600" b="1" dirty="0" err="1">
                <a:solidFill>
                  <a:srgbClr val="00B050"/>
                </a:solidFill>
              </a:rPr>
              <a:t>sekund</a:t>
            </a:r>
            <a:r>
              <a:rPr lang="en-US" sz="3600" b="1" dirty="0">
                <a:solidFill>
                  <a:srgbClr val="00B050"/>
                </a:solidFill>
              </a:rPr>
              <a:t>!</a:t>
            </a:r>
            <a:endParaRPr lang="da-DK" sz="3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137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8FFE-7B5D-F6E7-07D2-F5187BEB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HIT-AND-MISS MANUFACTURING COMPANY</a:t>
            </a:r>
            <a:br>
              <a:rPr lang="en-US" dirty="0"/>
            </a:b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634B72-B81B-989C-79E5-26D39F46F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855" y="1614331"/>
            <a:ext cx="5603132" cy="7490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E72BDF-F45B-22B1-01A7-BCE68D34F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10" y="2162271"/>
            <a:ext cx="5564221" cy="323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17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42966-FDC7-C6F2-04C5-5B52FD15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Den </a:t>
            </a:r>
            <a:r>
              <a:rPr lang="en-US" b="1" dirty="0" err="1"/>
              <a:t>matematiske</a:t>
            </a:r>
            <a:r>
              <a:rPr lang="en-US" b="1" dirty="0"/>
              <a:t> </a:t>
            </a:r>
            <a:r>
              <a:rPr lang="en-US" b="1" dirty="0" err="1"/>
              <a:t>formulering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C00CA8-2B8F-C9A7-DDB1-2064D3568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25625"/>
            <a:ext cx="5855368" cy="50323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330D6B-0186-8BDB-9BAB-683FE2BD3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097" y="1947238"/>
            <a:ext cx="5291847" cy="20330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6D3799-922A-8713-F821-97BFDD7A6A5D}"/>
              </a:ext>
            </a:extLst>
          </p:cNvPr>
          <p:cNvSpPr txBox="1"/>
          <p:nvPr/>
        </p:nvSpPr>
        <p:spPr>
          <a:xfrm>
            <a:off x="6384757" y="3980319"/>
            <a:ext cx="42591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Uanset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udfald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mindst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OK </a:t>
            </a:r>
            <a:r>
              <a:rPr lang="en-US" dirty="0" err="1">
                <a:solidFill>
                  <a:srgbClr val="FF0000"/>
                </a:solidFill>
              </a:rPr>
              <a:t>eller</a:t>
            </a:r>
            <a:r>
              <a:rPr lang="en-US" dirty="0">
                <a:solidFill>
                  <a:srgbClr val="FF0000"/>
                </a:solidFill>
              </a:rPr>
              <a:t> alle </a:t>
            </a:r>
            <a:r>
              <a:rPr lang="en-US" dirty="0" err="1">
                <a:solidFill>
                  <a:srgbClr val="FF0000"/>
                </a:solidFill>
              </a:rPr>
              <a:t>defekte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påføres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produktionsomkostninger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r>
              <a:rPr lang="en-US" dirty="0" err="1">
                <a:solidFill>
                  <a:srgbClr val="FF0000"/>
                </a:solidFill>
              </a:rPr>
              <a:t>Hvis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mindst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OK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påføres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ikke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yderligere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omkostninger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ellers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påføres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yderligere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forventede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omkostninger</a:t>
            </a:r>
            <a:r>
              <a:rPr lang="en-US" dirty="0">
                <a:solidFill>
                  <a:srgbClr val="FF0000"/>
                </a:solidFill>
              </a:rPr>
              <a:t> der er </a:t>
            </a:r>
            <a:r>
              <a:rPr lang="en-US" dirty="0" err="1">
                <a:solidFill>
                  <a:srgbClr val="FF0000"/>
                </a:solidFill>
              </a:rPr>
              <a:t>lagret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dette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er 16 I det </a:t>
            </a:r>
            <a:r>
              <a:rPr lang="en-US" dirty="0" err="1">
                <a:solidFill>
                  <a:srgbClr val="FF0000"/>
                </a:solidFill>
              </a:rPr>
              <a:t>tilfælde</a:t>
            </a:r>
            <a:r>
              <a:rPr lang="en-US" dirty="0">
                <a:solidFill>
                  <a:srgbClr val="FF0000"/>
                </a:solidFill>
              </a:rPr>
              <a:t> at det var </a:t>
            </a:r>
            <a:r>
              <a:rPr lang="en-US" dirty="0" err="1">
                <a:solidFill>
                  <a:srgbClr val="FF0000"/>
                </a:solidFill>
              </a:rPr>
              <a:t>sidste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forsøg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E1EAE2-0389-961E-711A-38020A061CB4}"/>
              </a:ext>
            </a:extLst>
          </p:cNvPr>
          <p:cNvCxnSpPr/>
          <p:nvPr/>
        </p:nvCxnSpPr>
        <p:spPr>
          <a:xfrm flipV="1">
            <a:off x="7796463" y="2582779"/>
            <a:ext cx="1772653" cy="2157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3D074A-CA86-D75E-ACF6-9C60EBA6F806}"/>
              </a:ext>
            </a:extLst>
          </p:cNvPr>
          <p:cNvCxnSpPr/>
          <p:nvPr/>
        </p:nvCxnSpPr>
        <p:spPr>
          <a:xfrm flipV="1">
            <a:off x="7852611" y="3336758"/>
            <a:ext cx="1788694" cy="1379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B03824-F8DB-642D-0F4B-4DB6B3EBE595}"/>
              </a:ext>
            </a:extLst>
          </p:cNvPr>
          <p:cNvCxnSpPr/>
          <p:nvPr/>
        </p:nvCxnSpPr>
        <p:spPr>
          <a:xfrm flipV="1">
            <a:off x="9641305" y="2671011"/>
            <a:ext cx="810127" cy="2277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9C7C78-E095-FCE9-58D2-CA1E7E6E3A83}"/>
              </a:ext>
            </a:extLst>
          </p:cNvPr>
          <p:cNvCxnSpPr/>
          <p:nvPr/>
        </p:nvCxnSpPr>
        <p:spPr>
          <a:xfrm flipV="1">
            <a:off x="7652084" y="3785937"/>
            <a:ext cx="2935705" cy="2005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702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395D-9386-2713-D1E8-96541A66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690688"/>
          </a:xfrm>
        </p:spPr>
        <p:txBody>
          <a:bodyPr/>
          <a:lstStyle/>
          <a:p>
            <a:pPr algn="ctr"/>
            <a:r>
              <a:rPr lang="en-US" b="1" dirty="0" err="1"/>
              <a:t>Matematik</a:t>
            </a:r>
            <a:r>
              <a:rPr lang="en-US" b="1" dirty="0"/>
              <a:t> in action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A552F7-8AC1-52A3-D6CA-382374093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959" y="1825625"/>
            <a:ext cx="7518044" cy="5032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08BFA0-D928-D0A7-414D-60082E97BB79}"/>
              </a:ext>
            </a:extLst>
          </p:cNvPr>
          <p:cNvSpPr txBox="1"/>
          <p:nvPr/>
        </p:nvSpPr>
        <p:spPr>
          <a:xfrm>
            <a:off x="8879305" y="2221832"/>
            <a:ext cx="26950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 </a:t>
            </a:r>
            <a:r>
              <a:rPr lang="en-US" dirty="0" err="1">
                <a:solidFill>
                  <a:srgbClr val="FF0000"/>
                </a:solidFill>
              </a:rPr>
              <a:t>risiko</a:t>
            </a:r>
            <a:r>
              <a:rPr lang="en-US" dirty="0">
                <a:solidFill>
                  <a:srgbClr val="FF0000"/>
                </a:solidFill>
              </a:rPr>
              <a:t>-avers(</a:t>
            </a:r>
            <a:r>
              <a:rPr lang="en-US" dirty="0" err="1">
                <a:solidFill>
                  <a:srgbClr val="FF0000"/>
                </a:solidFill>
              </a:rPr>
              <a:t>beregninger</a:t>
            </a:r>
            <a:r>
              <a:rPr lang="en-US" dirty="0">
                <a:solidFill>
                  <a:srgbClr val="FF0000"/>
                </a:solidFill>
              </a:rPr>
              <a:t> sat op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om </a:t>
            </a:r>
            <a:r>
              <a:rPr lang="en-US" dirty="0" err="1">
                <a:solidFill>
                  <a:srgbClr val="FF0000"/>
                </a:solidFill>
              </a:rPr>
              <a:t>beslutningstager</a:t>
            </a:r>
            <a:r>
              <a:rPr lang="en-US" dirty="0">
                <a:solidFill>
                  <a:srgbClr val="FF0000"/>
                </a:solidFill>
              </a:rPr>
              <a:t> er </a:t>
            </a:r>
            <a:r>
              <a:rPr lang="en-US" dirty="0" err="1">
                <a:solidFill>
                  <a:srgbClr val="FF0000"/>
                </a:solidFill>
              </a:rPr>
              <a:t>risiko</a:t>
            </a:r>
            <a:r>
              <a:rPr lang="en-US" dirty="0">
                <a:solidFill>
                  <a:srgbClr val="FF0000"/>
                </a:solidFill>
              </a:rPr>
              <a:t> neutral) </a:t>
            </a:r>
            <a:r>
              <a:rPr lang="en-US" dirty="0" err="1">
                <a:solidFill>
                  <a:srgbClr val="FF0000"/>
                </a:solidFill>
              </a:rPr>
              <a:t>beslutningstager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sikkerrt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producere</a:t>
            </a:r>
            <a:r>
              <a:rPr lang="en-US" dirty="0">
                <a:solidFill>
                  <a:srgbClr val="FF0000"/>
                </a:solidFill>
              </a:rPr>
              <a:t> 4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En </a:t>
            </a:r>
            <a:r>
              <a:rPr lang="en-US" dirty="0" err="1">
                <a:solidFill>
                  <a:srgbClr val="0070C0"/>
                </a:solidFill>
              </a:rPr>
              <a:t>meget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miljøbevidst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beslutningstager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vil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måske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kun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producere</a:t>
            </a:r>
            <a:r>
              <a:rPr lang="en-US" dirty="0">
                <a:solidFill>
                  <a:srgbClr val="0070C0"/>
                </a:solidFill>
              </a:rPr>
              <a:t> 3</a:t>
            </a:r>
            <a:endParaRPr lang="da-DK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DC5121-669A-8A03-9212-FF4F7A083EE7}"/>
              </a:ext>
            </a:extLst>
          </p:cNvPr>
          <p:cNvCxnSpPr>
            <a:cxnSpLocks/>
          </p:cNvCxnSpPr>
          <p:nvPr/>
        </p:nvCxnSpPr>
        <p:spPr>
          <a:xfrm flipH="1">
            <a:off x="8277726" y="2703095"/>
            <a:ext cx="930442" cy="401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2954D3-8C90-92A6-EB7E-EEB957558103}"/>
              </a:ext>
            </a:extLst>
          </p:cNvPr>
          <p:cNvCxnSpPr>
            <a:cxnSpLocks/>
          </p:cNvCxnSpPr>
          <p:nvPr/>
        </p:nvCxnSpPr>
        <p:spPr>
          <a:xfrm flipH="1" flipV="1">
            <a:off x="7868653" y="3160295"/>
            <a:ext cx="2133600" cy="1155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96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444</Words>
  <Application>Microsoft Office PowerPoint</Application>
  <PresentationFormat>Widescreen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Dynamisk Programmering</vt:lpstr>
      <vt:lpstr>Eksempler der gennemgås</vt:lpstr>
      <vt:lpstr>Stagecoach problemet </vt:lpstr>
      <vt:lpstr> På trin n find den optimale destination på trin n+1 hvor man inkalkulerer at fra og med trin n+1 kender man den optimale rute resten af vejen </vt:lpstr>
      <vt:lpstr>Sammenstykning af information </vt:lpstr>
      <vt:lpstr>Karakteristik af metode</vt:lpstr>
      <vt:lpstr>Allokering af mediciner hold til u-lande</vt:lpstr>
      <vt:lpstr>Allokering af mediciner hold til u-lande </vt:lpstr>
      <vt:lpstr>Forrige slide i matematik sprog</vt:lpstr>
      <vt:lpstr>Matematik in action</vt:lpstr>
      <vt:lpstr>Fra håndregning til programmering</vt:lpstr>
      <vt:lpstr>Koden</vt:lpstr>
      <vt:lpstr>Demonstration af koden</vt:lpstr>
      <vt:lpstr>HIT-AND-MISS MANUFACTURING COMPANY </vt:lpstr>
      <vt:lpstr>Den matematiske formulering</vt:lpstr>
      <vt:lpstr>Matematik in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Dynamisk Programmering</dc:title>
  <dc:creator>Christian Larsen</dc:creator>
  <cp:lastModifiedBy>Christian Larsen</cp:lastModifiedBy>
  <cp:revision>10</cp:revision>
  <dcterms:created xsi:type="dcterms:W3CDTF">2023-10-03T11:57:58Z</dcterms:created>
  <dcterms:modified xsi:type="dcterms:W3CDTF">2023-10-20T08:05:46Z</dcterms:modified>
</cp:coreProperties>
</file>