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80" r:id="rId4"/>
    <p:sldId id="281" r:id="rId5"/>
    <p:sldId id="282" r:id="rId6"/>
    <p:sldId id="283" r:id="rId7"/>
    <p:sldId id="284" r:id="rId8"/>
    <p:sldId id="310" r:id="rId9"/>
    <p:sldId id="285" r:id="rId10"/>
    <p:sldId id="286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1" r:id="rId34"/>
    <p:sldId id="312" r:id="rId3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3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44D43-5607-4893-85C2-9CF1F70D6FD8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B2185-CABE-4081-9EE6-FA7D561F6F2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843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FB21CE-AD6D-4451-9D74-75462748E545}" type="slidenum">
              <a:rPr lang="da-DK" smtClean="0"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7425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FB21CE-AD6D-4451-9D74-75462748E545}" type="slidenum">
              <a:rPr lang="da-DK" smtClean="0"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44465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FB21CE-AD6D-4451-9D74-75462748E545}" type="slidenum">
              <a:rPr lang="da-DK" smtClean="0"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549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3032A-65C5-20C4-F954-711619AF1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A644D-14B8-E8F4-C635-DD51492C4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866CB-FFB1-B855-7B4C-8B5D4B58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FA3B5-2C09-7CBE-6675-C8529488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3255-DA36-03A8-08ED-D521CA68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33370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3B01-846D-BD59-E33C-3FF3560A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8D220-7222-5FB1-6035-8F3968C0F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AF22F-DAD4-04CF-A444-989CCBA2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D17FE-A954-8984-10B6-BF026C15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25500-6079-4F08-8F55-F212D5BD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337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B077-B6FD-3C7D-65DC-C475D8BB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FC49-9D73-85E0-1F27-D22DD27A6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845CE-8CB9-481A-17D6-87FB51DB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FAC48-5E56-F071-C7F3-07B9EA4E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EFC46-D966-8D60-8ACD-CB43F172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403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8900-02C9-D330-99B0-333D1F1C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706C-CEDB-BC63-C809-1975A8CF4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2E3BA-A0AB-6428-DC89-97AC84BFE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552A6-8A0A-1B46-C338-5BF51257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05DB2-5472-EAA5-3401-FFA02E2B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A5BAB-9D1A-6489-D764-B195BEF4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108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EFE-5271-8A10-D416-F826300A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08CEC-EB2E-3C2A-2D6C-979489600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3ECC-9988-AAC8-F31E-E616861D4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EA875-52D8-4D48-8270-6AC352CE5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A10CA-74A5-9E7D-96FD-89466E80B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6CA53-97B7-D5B1-7575-C691219E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28770F-8FA2-D91A-5A07-2D8656ED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6F841-F04D-6B8A-855D-F326D87E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880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3F4D-85AF-4370-6FCA-02F49E58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B6C15-8DBE-486E-047B-72816E26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8D775-DA75-7F00-037D-AF62710E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6DF79-42CB-ED7E-FF6A-6D974180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567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1055C-7131-191A-F144-67FF2E4A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6B5D4-4977-63CC-FD01-BDF0031C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15FA6-0575-EAD3-7F3D-09762DDA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257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B9E9-36A3-1255-6FBB-5F640C74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F1D38-E2B0-912A-FE41-3C7CC6270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BB181-8766-E5E7-F2C5-C7D189C21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B24A4-F6FD-7682-74E4-44D14F6F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103AC-8AC3-ED14-067D-031F6DF0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F5FA2-355F-67C3-C9D2-473E59EE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556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123E-A3A1-70C2-514A-30DA679D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F617D-2766-CF81-58F7-013D451E9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6095D-5240-03D5-2227-73F700F31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61A6E-505E-8392-9265-F0CA755C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D082D-4D6A-3551-402D-E9F4AB3E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66FA5-4A3E-A260-D192-AB3DC82B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96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C693-448D-689F-EBB0-0292C88D2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CEE17-78C8-2445-CDF1-86F522AC4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7DF42-8EE2-F9D7-1A80-E38DC439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417A4-76E2-5E18-901A-B0FC170C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588DF-AFA4-53B8-6909-732205F4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17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6BDBB-12FE-F3FD-E6A9-3D053D2EC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8A760-0FD6-5CD9-9564-67E237211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8BB4-AF8E-FB99-5432-27292510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C1D40-B2CD-AF51-019D-6AC5B0B7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D63A3-399D-CEB0-0383-F07762B4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487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C109E-4D9E-696D-CC55-E6060CBB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BADB2-1E99-2DF1-5082-CC6FA3EC6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256B0-7952-4777-715E-FE1A3A216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5F7AE-9FCD-4D2F-9979-9A9C15B9C5FC}" type="datetimeFigureOut">
              <a:rPr lang="da-DK" smtClean="0"/>
              <a:t>30-11-2023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3EE08-17DA-9DB6-0CB0-4BC182315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B952-E807-DC82-21D4-C9B8E7CF2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E46E4-BD7C-41F8-99B5-775FE83F36B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862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.maths.org/content/agner-krarup-erlang-1878-192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CA1D-E732-1E6B-D51C-CE2899CA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Køteori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2EC1F-11C8-B8BF-9968-8FE67517D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Agenda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FF0000"/>
                </a:solidFill>
              </a:rPr>
              <a:t>Indledende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begrebsafklaring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Little’s </a:t>
            </a:r>
            <a:r>
              <a:rPr lang="en-US" dirty="0" err="1">
                <a:solidFill>
                  <a:srgbClr val="00B0F0"/>
                </a:solidFill>
              </a:rPr>
              <a:t>lov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Det </a:t>
            </a:r>
            <a:r>
              <a:rPr lang="en-US" dirty="0" err="1">
                <a:solidFill>
                  <a:srgbClr val="00B050"/>
                </a:solidFill>
              </a:rPr>
              <a:t>klassiske</a:t>
            </a:r>
            <a:r>
              <a:rPr lang="en-US" dirty="0">
                <a:solidFill>
                  <a:srgbClr val="00B050"/>
                </a:solidFill>
              </a:rPr>
              <a:t> M/M/1/∞ </a:t>
            </a:r>
            <a:r>
              <a:rPr lang="en-US" dirty="0" err="1">
                <a:solidFill>
                  <a:srgbClr val="00B050"/>
                </a:solidFill>
              </a:rPr>
              <a:t>køsystem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 et </a:t>
            </a:r>
            <a:r>
              <a:rPr lang="en-US" dirty="0" err="1">
                <a:solidFill>
                  <a:srgbClr val="00B050"/>
                </a:solidFill>
              </a:rPr>
              <a:t>hopdiagram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FFC000"/>
                </a:solidFill>
              </a:rPr>
              <a:t>Analyse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af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andre</a:t>
            </a:r>
            <a:r>
              <a:rPr lang="en-US" dirty="0">
                <a:solidFill>
                  <a:srgbClr val="FFC000"/>
                </a:solidFill>
              </a:rPr>
              <a:t> M/M/… </a:t>
            </a:r>
            <a:r>
              <a:rPr lang="en-US" dirty="0" err="1">
                <a:solidFill>
                  <a:srgbClr val="FFC000"/>
                </a:solidFill>
              </a:rPr>
              <a:t>systemer</a:t>
            </a:r>
            <a:endParaRPr lang="en-US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7030A0"/>
                </a:solidFill>
              </a:rPr>
              <a:t>Det </a:t>
            </a:r>
            <a:r>
              <a:rPr lang="en-US" dirty="0" err="1">
                <a:solidFill>
                  <a:srgbClr val="7030A0"/>
                </a:solidFill>
              </a:rPr>
              <a:t>helt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generelle</a:t>
            </a:r>
            <a:r>
              <a:rPr lang="en-US" dirty="0">
                <a:solidFill>
                  <a:srgbClr val="7030A0"/>
                </a:solidFill>
              </a:rPr>
              <a:t> G/G/s/∞ - </a:t>
            </a:r>
            <a:r>
              <a:rPr lang="en-US" dirty="0" err="1">
                <a:solidFill>
                  <a:srgbClr val="7030A0"/>
                </a:solidFill>
              </a:rPr>
              <a:t>en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approksimativ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formel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5243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5D27-3F53-7943-FAAD-82BC3215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Hvad</a:t>
            </a:r>
            <a:r>
              <a:rPr lang="en-US" b="1" dirty="0"/>
              <a:t> er </a:t>
            </a:r>
            <a:r>
              <a:rPr lang="en-US" b="1" dirty="0" err="1"/>
              <a:t>køteori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0A8E6-68E1-BBE8-D1AB-138C11CC5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Brug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matematik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og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sandsynlighedsteori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beskrive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ventetidsfænomener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Køteori</a:t>
            </a:r>
            <a:r>
              <a:rPr lang="en-US" dirty="0">
                <a:solidFill>
                  <a:srgbClr val="00B050"/>
                </a:solidFill>
              </a:rPr>
              <a:t> er </a:t>
            </a:r>
            <a:r>
              <a:rPr lang="en-US" dirty="0" err="1">
                <a:solidFill>
                  <a:srgbClr val="00B050"/>
                </a:solidFill>
              </a:rPr>
              <a:t>dansk</a:t>
            </a:r>
            <a:r>
              <a:rPr lang="en-US" dirty="0">
                <a:solidFill>
                  <a:srgbClr val="00B050"/>
                </a:solidFill>
              </a:rPr>
              <a:t> “</a:t>
            </a:r>
            <a:r>
              <a:rPr lang="en-US" dirty="0" err="1">
                <a:solidFill>
                  <a:srgbClr val="00B050"/>
                </a:solidFill>
              </a:rPr>
              <a:t>opfindelse</a:t>
            </a:r>
            <a:r>
              <a:rPr lang="en-US" dirty="0">
                <a:solidFill>
                  <a:srgbClr val="00B050"/>
                </a:solidFill>
              </a:rPr>
              <a:t>”: </a:t>
            </a:r>
            <a:r>
              <a:rPr lang="en-US" dirty="0" err="1">
                <a:solidFill>
                  <a:srgbClr val="00B050"/>
                </a:solidFill>
              </a:rPr>
              <a:t>dimensionering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af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telefon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systemet</a:t>
            </a:r>
            <a:r>
              <a:rPr lang="en-US" dirty="0">
                <a:solidFill>
                  <a:srgbClr val="00B050"/>
                </a:solidFill>
              </a:rPr>
              <a:t> hos KTAS (</a:t>
            </a:r>
            <a:r>
              <a:rPr lang="en-US" dirty="0" err="1">
                <a:solidFill>
                  <a:srgbClr val="00B050"/>
                </a:solidFill>
              </a:rPr>
              <a:t>Københavns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Telefon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Aktie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Selskab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dirty="0" err="1">
                <a:solidFill>
                  <a:srgbClr val="00B050"/>
                </a:solidFill>
              </a:rPr>
              <a:t>omkring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år</a:t>
            </a:r>
            <a:r>
              <a:rPr lang="en-US" dirty="0">
                <a:solidFill>
                  <a:srgbClr val="00B050"/>
                </a:solidFill>
              </a:rPr>
              <a:t> 1900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https://plus.maths.org/content/agner-krarup-erlang-1878-1929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27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17638"/>
          </a:xfrm>
        </p:spPr>
        <p:txBody>
          <a:bodyPr>
            <a:normAutofit/>
          </a:bodyPr>
          <a:lstStyle/>
          <a:p>
            <a:pPr algn="ctr"/>
            <a:r>
              <a:rPr lang="da-DK" b="1" dirty="0" err="1">
                <a:solidFill>
                  <a:srgbClr val="FF0000"/>
                </a:solidFill>
              </a:rPr>
              <a:t>Possible</a:t>
            </a:r>
            <a:r>
              <a:rPr lang="da-DK" b="1" dirty="0">
                <a:solidFill>
                  <a:srgbClr val="FF0000"/>
                </a:solidFill>
              </a:rPr>
              <a:t> </a:t>
            </a:r>
            <a:r>
              <a:rPr lang="da-DK" b="1" dirty="0" err="1">
                <a:solidFill>
                  <a:srgbClr val="FF0000"/>
                </a:solidFill>
              </a:rPr>
              <a:t>structures</a:t>
            </a:r>
            <a:r>
              <a:rPr lang="da-DK" b="1" dirty="0">
                <a:solidFill>
                  <a:srgbClr val="FF0000"/>
                </a:solidFill>
              </a:rPr>
              <a:t> (I)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/>
          <a:lstStyle/>
          <a:p>
            <a:endParaRPr lang="da-DK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2" y="1556792"/>
            <a:ext cx="6588223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56240" y="2636913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Only one queue and one server</a:t>
            </a:r>
          </a:p>
        </p:txBody>
      </p:sp>
    </p:spTree>
    <p:extLst>
      <p:ext uri="{BB962C8B-B14F-4D97-AF65-F5344CB8AC3E}">
        <p14:creationId xmlns:p14="http://schemas.microsoft.com/office/powerpoint/2010/main" val="410778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17638"/>
          </a:xfrm>
        </p:spPr>
        <p:txBody>
          <a:bodyPr>
            <a:normAutofit/>
          </a:bodyPr>
          <a:lstStyle/>
          <a:p>
            <a:pPr algn="ctr"/>
            <a:r>
              <a:rPr lang="da-DK" b="1" dirty="0" err="1">
                <a:solidFill>
                  <a:srgbClr val="FF0000"/>
                </a:solidFill>
              </a:rPr>
              <a:t>Possible</a:t>
            </a:r>
            <a:r>
              <a:rPr lang="da-DK" b="1" dirty="0">
                <a:solidFill>
                  <a:srgbClr val="FF0000"/>
                </a:solidFill>
              </a:rPr>
              <a:t> </a:t>
            </a:r>
            <a:r>
              <a:rPr lang="da-DK" b="1" dirty="0" err="1">
                <a:solidFill>
                  <a:srgbClr val="FF0000"/>
                </a:solidFill>
              </a:rPr>
              <a:t>structure</a:t>
            </a:r>
            <a:r>
              <a:rPr lang="da-DK" b="1" dirty="0">
                <a:solidFill>
                  <a:srgbClr val="FF0000"/>
                </a:solidFill>
              </a:rPr>
              <a:t> (II)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54" y="1600200"/>
            <a:ext cx="12094346" cy="5257800"/>
          </a:xfrm>
        </p:spPr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1969509"/>
            <a:ext cx="7632848" cy="3303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832304" y="2420889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>
                <a:solidFill>
                  <a:srgbClr val="C00000"/>
                </a:solidFill>
              </a:rPr>
              <a:t>Only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one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queue</a:t>
            </a:r>
            <a:r>
              <a:rPr lang="da-DK" dirty="0">
                <a:solidFill>
                  <a:srgbClr val="C00000"/>
                </a:solidFill>
              </a:rPr>
              <a:t> but </a:t>
            </a:r>
            <a:r>
              <a:rPr lang="da-DK" dirty="0" err="1">
                <a:solidFill>
                  <a:srgbClr val="C00000"/>
                </a:solidFill>
              </a:rPr>
              <a:t>several</a:t>
            </a:r>
            <a:r>
              <a:rPr lang="da-DK" dirty="0">
                <a:solidFill>
                  <a:srgbClr val="C00000"/>
                </a:solidFill>
              </a:rPr>
              <a:t> servers</a:t>
            </a:r>
          </a:p>
        </p:txBody>
      </p:sp>
    </p:spTree>
    <p:extLst>
      <p:ext uri="{BB962C8B-B14F-4D97-AF65-F5344CB8AC3E}">
        <p14:creationId xmlns:p14="http://schemas.microsoft.com/office/powerpoint/2010/main" val="178105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417638"/>
          </a:xfrm>
        </p:spPr>
        <p:txBody>
          <a:bodyPr>
            <a:normAutofit/>
          </a:bodyPr>
          <a:lstStyle/>
          <a:p>
            <a:pPr algn="ctr"/>
            <a:r>
              <a:rPr lang="da-DK" b="1" dirty="0" err="1">
                <a:solidFill>
                  <a:srgbClr val="FF0000"/>
                </a:solidFill>
              </a:rPr>
              <a:t>Possible</a:t>
            </a:r>
            <a:r>
              <a:rPr lang="da-DK" b="1" dirty="0">
                <a:solidFill>
                  <a:srgbClr val="FF0000"/>
                </a:solidFill>
              </a:rPr>
              <a:t> </a:t>
            </a:r>
            <a:r>
              <a:rPr lang="da-DK" b="1" dirty="0" err="1">
                <a:solidFill>
                  <a:srgbClr val="FF0000"/>
                </a:solidFill>
              </a:rPr>
              <a:t>structure</a:t>
            </a:r>
            <a:r>
              <a:rPr lang="da-DK" b="1" dirty="0">
                <a:solidFill>
                  <a:srgbClr val="FF0000"/>
                </a:solidFill>
              </a:rPr>
              <a:t> (III)?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7488" y="1600200"/>
            <a:ext cx="9180512" cy="5257800"/>
          </a:xfrm>
        </p:spPr>
        <p:txBody>
          <a:bodyPr/>
          <a:lstStyle/>
          <a:p>
            <a:pPr marL="0" indent="0">
              <a:buNone/>
            </a:pPr>
            <a:endParaRPr lang="da-DK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807"/>
            <a:ext cx="12192000" cy="489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5DBC09-CD49-4665-BB2C-36A13B5BF14C}"/>
              </a:ext>
            </a:extLst>
          </p:cNvPr>
          <p:cNvSpPr txBox="1"/>
          <p:nvPr/>
        </p:nvSpPr>
        <p:spPr>
          <a:xfrm>
            <a:off x="1029810" y="5257800"/>
            <a:ext cx="38262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Actually, this structure can be too complicated for developing math formulas as it concerns several activities. But formulas can still make sense for approximations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5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B175-07FC-4A1A-A016-80ABFEE28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Terminologi</a:t>
            </a:r>
            <a:r>
              <a:rPr lang="en-US" b="1" dirty="0"/>
              <a:t> </a:t>
            </a:r>
            <a:r>
              <a:rPr lang="en-US" b="1" dirty="0" err="1"/>
              <a:t>og</a:t>
            </a:r>
            <a:r>
              <a:rPr lang="en-US" b="1" dirty="0"/>
              <a:t> notation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AD124-AE52-70E6-50FF-5711C7652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374" y="1690689"/>
            <a:ext cx="11372294" cy="4557677"/>
          </a:xfrm>
        </p:spPr>
      </p:pic>
    </p:spTree>
    <p:extLst>
      <p:ext uri="{BB962C8B-B14F-4D97-AF65-F5344CB8AC3E}">
        <p14:creationId xmlns:p14="http://schemas.microsoft.com/office/powerpoint/2010/main" val="493299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17AA-BE15-73E3-1E2B-65B426861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Performancemål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99AC6-9DC7-B671-64C3-A8A8C671D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87" y="1750641"/>
            <a:ext cx="10164931" cy="47600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4A39BB-AB24-5C8A-FE58-6D73550F3072}"/>
              </a:ext>
            </a:extLst>
          </p:cNvPr>
          <p:cNvSpPr txBox="1"/>
          <p:nvPr/>
        </p:nvSpPr>
        <p:spPr>
          <a:xfrm>
            <a:off x="10093911" y="2263806"/>
            <a:ext cx="1973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Lidt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samme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talte</a:t>
            </a:r>
            <a:r>
              <a:rPr lang="en-US" dirty="0">
                <a:solidFill>
                  <a:srgbClr val="FF0000"/>
                </a:solidFill>
              </a:rPr>
              <a:t> om </a:t>
            </a:r>
            <a:r>
              <a:rPr lang="en-US" dirty="0" err="1">
                <a:solidFill>
                  <a:srgbClr val="FF0000"/>
                </a:solidFill>
              </a:rPr>
              <a:t>sidst</a:t>
            </a:r>
            <a:r>
              <a:rPr lang="en-US" dirty="0">
                <a:solidFill>
                  <a:srgbClr val="FF0000"/>
                </a:solidFill>
              </a:rPr>
              <a:t> med Markov </a:t>
            </a:r>
            <a:r>
              <a:rPr lang="en-US" dirty="0" err="1">
                <a:solidFill>
                  <a:srgbClr val="FF0000"/>
                </a:solidFill>
              </a:rPr>
              <a:t>kæder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bevæger</a:t>
            </a:r>
            <a:r>
              <a:rPr lang="en-US" dirty="0">
                <a:solidFill>
                  <a:srgbClr val="FF0000"/>
                </a:solidFill>
              </a:rPr>
              <a:t> sig </a:t>
            </a:r>
            <a:r>
              <a:rPr lang="en-US" dirty="0" err="1">
                <a:solidFill>
                  <a:srgbClr val="FF0000"/>
                </a:solidFill>
              </a:rPr>
              <a:t>ind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ligevægt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3A52F0-0501-A2BA-94A9-474093D52D1B}"/>
              </a:ext>
            </a:extLst>
          </p:cNvPr>
          <p:cNvCxnSpPr/>
          <p:nvPr/>
        </p:nvCxnSpPr>
        <p:spPr>
          <a:xfrm flipH="1">
            <a:off x="9579006" y="2592280"/>
            <a:ext cx="514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06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303E-5DAC-54E1-E686-CE8BC009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3884"/>
          </a:xfrm>
        </p:spPr>
        <p:txBody>
          <a:bodyPr/>
          <a:lstStyle/>
          <a:p>
            <a:pPr algn="ctr"/>
            <a:r>
              <a:rPr lang="en-US" b="1" dirty="0" err="1"/>
              <a:t>Klassifikation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køsystemer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0CB4CC-151F-D815-BCCD-F45A8682F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872" y="2584450"/>
            <a:ext cx="8925924" cy="2743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67B683-C231-1759-6ED9-86C9B3F96EB1}"/>
              </a:ext>
            </a:extLst>
          </p:cNvPr>
          <p:cNvSpPr txBox="1"/>
          <p:nvPr/>
        </p:nvSpPr>
        <p:spPr>
          <a:xfrm>
            <a:off x="7012983" y="2169763"/>
            <a:ext cx="3696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sætter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jeg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ekstra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for at </a:t>
            </a:r>
            <a:r>
              <a:rPr lang="en-US" dirty="0" err="1">
                <a:solidFill>
                  <a:srgbClr val="FF0000"/>
                </a:solidFill>
              </a:rPr>
              <a:t>angive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samlede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antal</a:t>
            </a:r>
            <a:r>
              <a:rPr lang="en-US" dirty="0">
                <a:solidFill>
                  <a:srgbClr val="FF0000"/>
                </a:solidFill>
              </a:rPr>
              <a:t> jobs der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være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systemet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 M/M/1/∞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23E555-5FF3-E009-4D2A-78695FBF0C28}"/>
              </a:ext>
            </a:extLst>
          </p:cNvPr>
          <p:cNvCxnSpPr/>
          <p:nvPr/>
        </p:nvCxnSpPr>
        <p:spPr>
          <a:xfrm flipH="1">
            <a:off x="5695627" y="2464231"/>
            <a:ext cx="1456841" cy="64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1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DB70-10FD-8262-B66E-ADAA0AB2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b="1" dirty="0"/>
              <a:t>Little’s </a:t>
            </a:r>
            <a:r>
              <a:rPr lang="en-US" b="1" dirty="0" err="1"/>
              <a:t>lov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0090-4FAF-2C23-4B6F-4243CA5A1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073"/>
            <a:ext cx="12192000" cy="5495927"/>
          </a:xfrm>
        </p:spPr>
        <p:txBody>
          <a:bodyPr/>
          <a:lstStyle/>
          <a:p>
            <a:pPr marL="0" indent="0">
              <a:buNone/>
            </a:pP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Nedenstående figur illustrer essensen af </a:t>
            </a:r>
            <a:r>
              <a:rPr lang="da-DK" sz="24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Little’s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lov. Her ser vi et </a:t>
            </a:r>
            <a:r>
              <a:rPr lang="da-DK" sz="2400" dirty="0" err="1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køsystem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observeret fra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0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til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T = 25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hvor der er i dette tidsrum er ankommet i alt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n = 3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kunder. Kunde 1 ankommer på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8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, kunde 2 på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10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og kunde 3 på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12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. En kunde forlader systemet på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15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, en forlader det på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19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og en forlader det på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23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hvorefter systemet er tomt indtil tidspunkt </a:t>
            </a:r>
            <a:r>
              <a:rPr lang="da-DK" sz="24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25</a:t>
            </a:r>
            <a:r>
              <a:rPr lang="da-DK" sz="24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hvor vi er holdt op med at observere systemet.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68D82-1D87-315A-E7A7-2FC8F6333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831" y="3837073"/>
            <a:ext cx="612267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945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4E45-3C4D-607D-05EF-82957ED8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Little’s </a:t>
            </a:r>
            <a:r>
              <a:rPr lang="en-US" b="1" dirty="0" err="1"/>
              <a:t>lov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68602-88C5-E548-CB1C-808F966DA5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40528"/>
                <a:ext cx="12192000" cy="5517471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Antallet der opholder sig systemet på </a:t>
                </a:r>
                <a:r>
                  <a:rPr lang="da-DK" sz="1800" dirty="0" err="1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tidpunkt</a:t>
                </a:r>
                <a:r>
                  <a:rPr lang="da-DK" sz="18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t</a:t>
                </a:r>
                <a:r>
                  <a:rPr lang="da-DK" sz="18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 er 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L(t)</a:t>
                </a:r>
                <a:r>
                  <a:rPr lang="da-DK" sz="18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 og det gennemsnitlige antal kunder der opholder sig i systemet i observationsperioden er 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80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𝐿</m:t>
                      </m:r>
                      <m:r>
                        <a:rPr lang="da-DK" sz="180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𝐿</m:t>
                          </m:r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  <m:r>
                            <a:rPr lang="da-DK" sz="18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a-DK" sz="1800" dirty="0">
                  <a:solidFill>
                    <a:srgbClr val="FF0000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eller blot arealet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A = 27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divideret med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T=25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. Hvad er den gennemsnitlige opholdstid pr. kunde? Hvis vi antager der kun er én ekspedient og FIFO kø så har kunde 1 opholdt sig i systemet i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7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tidsenheder, kunde 2 i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9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tidsenheder og kunde 3 i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11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tidsenheder. Hvilket giver at den gennemsnitlige opholdstid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W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er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W = (7 + 9 + 11)/3 = 27/3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. Altså </a:t>
                </a:r>
                <a:r>
                  <a:rPr lang="da-DK" sz="1800" b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det samme areal 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blot divideret med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n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hvor vi før dividerede med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T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Så vi har relation 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L = (n/T)W</a:t>
                </a:r>
                <a:endParaRPr lang="da-DK" sz="1800" dirty="0">
                  <a:solidFill>
                    <a:srgbClr val="00B050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Her er </a:t>
                </a:r>
                <a:r>
                  <a:rPr lang="da-DK" sz="1800" i="1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n/T</a:t>
                </a:r>
                <a:r>
                  <a:rPr lang="da-DK" sz="18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 (i dette tilfælde </a:t>
                </a:r>
                <a:r>
                  <a:rPr lang="da-DK" sz="1800" i="1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3/25</a:t>
                </a:r>
                <a:r>
                  <a:rPr lang="da-DK" sz="1800" dirty="0">
                    <a:solidFill>
                      <a:srgbClr val="00B050"/>
                    </a:solidFill>
                    <a:effectLst/>
                    <a:ea typeface="Times New Roman" panose="02020603050405020304" pitchFamily="18" charset="0"/>
                  </a:rPr>
                  <a:t>) er den estimerede ankomstrate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FFC000"/>
                    </a:solidFill>
                    <a:effectLst/>
                    <a:ea typeface="Times New Roman" panose="02020603050405020304" pitchFamily="18" charset="0"/>
                  </a:rPr>
                  <a:t>Så vi har relation at det gennemsnitlige antal der opholder sig i systemet lig ankomstraten multipliceret den gennemsnitlige opholdstid. </a:t>
                </a:r>
                <a:r>
                  <a:rPr lang="da-DK" sz="2400" b="1" dirty="0">
                    <a:solidFill>
                      <a:srgbClr val="FFC000"/>
                    </a:solidFill>
                    <a:effectLst/>
                    <a:ea typeface="Times New Roman" panose="02020603050405020304" pitchFamily="18" charset="0"/>
                  </a:rPr>
                  <a:t>Dette er </a:t>
                </a:r>
                <a:r>
                  <a:rPr lang="da-DK" sz="2400" b="1" dirty="0" err="1">
                    <a:solidFill>
                      <a:srgbClr val="FFC000"/>
                    </a:solidFill>
                    <a:effectLst/>
                    <a:ea typeface="Times New Roman" panose="02020603050405020304" pitchFamily="18" charset="0"/>
                  </a:rPr>
                  <a:t>Little’s</a:t>
                </a:r>
                <a:r>
                  <a:rPr lang="da-DK" sz="2400" b="1" dirty="0">
                    <a:solidFill>
                      <a:srgbClr val="FFC000"/>
                    </a:solidFill>
                    <a:effectLst/>
                    <a:ea typeface="Times New Roman" panose="02020603050405020304" pitchFamily="18" charset="0"/>
                  </a:rPr>
                  <a:t> lov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F68602-88C5-E548-CB1C-808F966DA5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40528"/>
                <a:ext cx="12192000" cy="5517471"/>
              </a:xfrm>
              <a:blipFill>
                <a:blip r:embed="rId2"/>
                <a:stretch>
                  <a:fillRect l="-400" t="-1547" r="-400" b="-232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599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27C9-7FF8-D0E9-B083-6DA44B6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5218"/>
          </a:xfrm>
        </p:spPr>
        <p:txBody>
          <a:bodyPr/>
          <a:lstStyle/>
          <a:p>
            <a:pPr algn="ctr"/>
            <a:r>
              <a:rPr lang="en-US" b="1" dirty="0"/>
              <a:t>Littles’ </a:t>
            </a:r>
            <a:r>
              <a:rPr lang="en-US" b="1" dirty="0" err="1"/>
              <a:t>lov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45B3D-65F2-C704-EE1A-CCFE246BC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145219"/>
                <a:ext cx="12191999" cy="571278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da-DK" sz="20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Hvad nu hvis vi havde fokuseret på kø længder og ventetid i kø i stedet? Med kun én server er det gennemsnitlige antal der står i kø</a:t>
                </a:r>
              </a:p>
              <a:p>
                <a:pPr marL="0" indent="0" algn="just">
                  <a:buNone/>
                </a:pPr>
                <a:r>
                  <a:rPr lang="da-DK" sz="20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da-DK" sz="2000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da-DK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max</m:t>
                        </m:r>
                        <m:r>
                          <a:rPr lang="da-DK" sz="20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⁡</m:t>
                        </m:r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a-DK" sz="20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da-DK" sz="2000" i="1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−1,0)</m:t>
                        </m:r>
                        <m:r>
                          <a:rPr lang="da-DK" sz="20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da-DK" sz="20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  </a:t>
                </a:r>
                <a:r>
                  <a:rPr lang="da-DK" sz="2000" i="1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= 12/25</a:t>
                </a:r>
                <a:r>
                  <a:rPr lang="da-DK" sz="2000" dirty="0">
                    <a:solidFill>
                      <a:srgbClr val="FF0000"/>
                    </a:solidFill>
                    <a:effectLst/>
                    <a:ea typeface="Times New Roman" panose="02020603050405020304" pitchFamily="18" charset="0"/>
                  </a:rPr>
                  <a:t>   </a:t>
                </a:r>
              </a:p>
              <a:p>
                <a:pPr marL="0" indent="0" algn="just">
                  <a:buNone/>
                </a:pPr>
                <a:endParaRPr lang="da-DK" sz="2000" dirty="0">
                  <a:effectLst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20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Med FIFO kø-disciplin har kunde 1 ingen ventetid, kunde 2 har ventetid på </a:t>
                </a:r>
                <a:r>
                  <a:rPr lang="da-DK" sz="20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5</a:t>
                </a:r>
                <a:r>
                  <a:rPr lang="da-DK" sz="20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tidsenheder og kunde 3 venter i på </a:t>
                </a:r>
                <a:r>
                  <a:rPr lang="da-DK" sz="20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7</a:t>
                </a:r>
                <a:r>
                  <a:rPr lang="da-DK" sz="20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tidsenheder så den gennemsnitlige ventetid pr kunde er </a:t>
                </a:r>
                <a:r>
                  <a:rPr lang="da-DK" sz="20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(0 + 5 + 7)/3 = 12/3</a:t>
                </a:r>
                <a:r>
                  <a:rPr lang="da-DK" sz="2000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Så igen har vi at</a:t>
                </a:r>
              </a:p>
              <a:p>
                <a:pPr marL="0" indent="0" algn="just">
                  <a:buNone/>
                </a:pPr>
                <a:endParaRPr lang="da-DK" sz="2000" dirty="0">
                  <a:solidFill>
                    <a:srgbClr val="00B0F0"/>
                  </a:solidFill>
                  <a:effectLst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2000" i="1" dirty="0" err="1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L</a:t>
                </a:r>
                <a:r>
                  <a:rPr lang="da-DK" sz="2000" i="1" baseline="-25000" dirty="0" err="1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q</a:t>
                </a:r>
                <a:r>
                  <a:rPr lang="da-DK" sz="2000" i="1" dirty="0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 = (n/T)</a:t>
                </a:r>
                <a:r>
                  <a:rPr lang="da-DK" sz="2000" i="1" dirty="0" err="1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W</a:t>
                </a:r>
                <a:r>
                  <a:rPr lang="da-DK" sz="2000" i="1" baseline="-25000" dirty="0" err="1">
                    <a:solidFill>
                      <a:srgbClr val="00B0F0"/>
                    </a:solidFill>
                    <a:effectLst/>
                    <a:ea typeface="Times New Roman" panose="02020603050405020304" pitchFamily="18" charset="0"/>
                  </a:rPr>
                  <a:t>q</a:t>
                </a:r>
                <a:endParaRPr lang="da-DK" sz="2000" dirty="0">
                  <a:solidFill>
                    <a:srgbClr val="00B0F0"/>
                  </a:solidFill>
                  <a:effectLst/>
                  <a:ea typeface="Times New Roman" panose="02020603050405020304" pitchFamily="18" charset="0"/>
                </a:endParaRPr>
              </a:p>
              <a:p>
                <a:pPr algn="just"/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>
                  <a:buNone/>
                </a:pPr>
                <a:r>
                  <a:rPr lang="da-DK" sz="2000" dirty="0">
                    <a:solidFill>
                      <a:srgbClr val="00B050"/>
                    </a:solidFill>
                  </a:rPr>
                  <a:t>Hvad nu hvis vi havde en anden kø-disciplin </a:t>
                </a:r>
                <a:r>
                  <a:rPr lang="da-DK" sz="2000" dirty="0" err="1">
                    <a:solidFill>
                      <a:srgbClr val="00B050"/>
                    </a:solidFill>
                  </a:rPr>
                  <a:t>evt</a:t>
                </a:r>
                <a:r>
                  <a:rPr lang="da-DK" sz="2000" dirty="0">
                    <a:solidFill>
                      <a:srgbClr val="00B050"/>
                    </a:solidFill>
                  </a:rPr>
                  <a:t> flere servere gælder </a:t>
                </a:r>
                <a:r>
                  <a:rPr lang="da-DK" sz="2000" dirty="0" err="1">
                    <a:solidFill>
                      <a:srgbClr val="00B050"/>
                    </a:solidFill>
                  </a:rPr>
                  <a:t>Little’s</a:t>
                </a:r>
                <a:r>
                  <a:rPr lang="da-DK" sz="2000" dirty="0">
                    <a:solidFill>
                      <a:srgbClr val="00B050"/>
                    </a:solidFill>
                  </a:rPr>
                  <a:t> lov stadig? </a:t>
                </a:r>
                <a:r>
                  <a:rPr lang="da-DK" sz="3200" dirty="0">
                    <a:solidFill>
                      <a:srgbClr val="00B050"/>
                    </a:solidFill>
                  </a:rPr>
                  <a:t>Ja det gør den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45B3D-65F2-C704-EE1A-CCFE246BC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145219"/>
                <a:ext cx="12191999" cy="5712780"/>
              </a:xfrm>
              <a:blipFill>
                <a:blip r:embed="rId2"/>
                <a:stretch>
                  <a:fillRect l="-500" t="-1174" r="-5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981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784B-EB66-2F57-9BD9-03041A70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02671"/>
          </a:xfrm>
        </p:spPr>
        <p:txBody>
          <a:bodyPr/>
          <a:lstStyle/>
          <a:p>
            <a:pPr algn="ctr"/>
            <a:r>
              <a:rPr lang="en-US" b="1" dirty="0"/>
              <a:t>Det </a:t>
            </a:r>
            <a:r>
              <a:rPr lang="en-US" b="1" dirty="0" err="1"/>
              <a:t>klassiske</a:t>
            </a:r>
            <a:r>
              <a:rPr lang="en-US" b="1" dirty="0"/>
              <a:t> M/M/1/∞ </a:t>
            </a:r>
            <a:r>
              <a:rPr lang="en-US" b="1" dirty="0" err="1"/>
              <a:t>køsystem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3A77-EF4D-04EC-73F9-FFFEA439C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0528"/>
            <a:ext cx="12191999" cy="551747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Der er kun én server og kø-systemet er karakteriseret af to stokastiske variable:</a:t>
            </a:r>
          </a:p>
          <a:p>
            <a:pPr marL="0" indent="0" algn="just">
              <a:buNone/>
            </a:pPr>
            <a:endParaRPr lang="da-DK" sz="18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Service tid pr. job kan beskrives af en stokastisk variabel </a:t>
            </a:r>
            <a:r>
              <a:rPr lang="da-DK" sz="18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Y</a:t>
            </a:r>
            <a:endParaRPr lang="da-DK" sz="18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Ankomst interval kan beskrives af en stokastisk variabel </a:t>
            </a:r>
            <a:r>
              <a:rPr lang="da-DK" sz="18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X</a:t>
            </a:r>
            <a:endParaRPr lang="da-DK" sz="18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effectLst/>
                <a:ea typeface="Times New Roman" panose="02020603050405020304" pitchFamily="18" charset="0"/>
              </a:rPr>
              <a:t>Vi antager </a:t>
            </a:r>
          </a:p>
          <a:p>
            <a:pPr marL="0" indent="0" algn="just">
              <a:buNone/>
            </a:pPr>
            <a:r>
              <a:rPr lang="da-DK" sz="18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X</a:t>
            </a:r>
            <a:r>
              <a:rPr lang="da-DK" sz="18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 er </a:t>
            </a:r>
            <a:r>
              <a:rPr lang="da-DK" sz="1800" dirty="0" err="1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eksponential</a:t>
            </a:r>
            <a:r>
              <a:rPr lang="da-DK" sz="18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 fordelt med middelværdi </a:t>
            </a:r>
            <a:r>
              <a:rPr lang="da-DK" sz="18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1/</a:t>
            </a:r>
            <a:r>
              <a:rPr lang="en-US" sz="18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λ</a:t>
            </a:r>
            <a:endParaRPr lang="da-DK" sz="1800" dirty="0">
              <a:solidFill>
                <a:srgbClr val="00B0F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 err="1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Dvs</a:t>
            </a:r>
            <a:r>
              <a:rPr lang="da-DK" sz="18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 har tæthedsfunktion	f(x) = </a:t>
            </a:r>
            <a:r>
              <a:rPr lang="en-US" sz="18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λ</a:t>
            </a:r>
            <a:r>
              <a:rPr lang="da-DK" sz="18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e</a:t>
            </a:r>
            <a:r>
              <a:rPr lang="da-DK" sz="1800" baseline="300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-</a:t>
            </a:r>
            <a:r>
              <a:rPr lang="en-US" sz="1800" baseline="300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λ</a:t>
            </a:r>
            <a:r>
              <a:rPr lang="da-DK" sz="1800" baseline="300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x</a:t>
            </a:r>
            <a:endParaRPr lang="da-DK" sz="1800" dirty="0">
              <a:solidFill>
                <a:srgbClr val="00B0F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Y er </a:t>
            </a:r>
            <a:r>
              <a:rPr lang="da-DK" sz="1800" dirty="0" err="1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eksponential</a:t>
            </a:r>
            <a:r>
              <a:rPr lang="da-DK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 fordelt med middelværdi </a:t>
            </a:r>
            <a:r>
              <a:rPr lang="da-DK" sz="1800" i="1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1/</a:t>
            </a:r>
            <a:r>
              <a:rPr lang="en-US" sz="1800" i="1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μ</a:t>
            </a:r>
            <a:endParaRPr lang="da-DK" sz="1800" dirty="0">
              <a:solidFill>
                <a:srgbClr val="00B05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 err="1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Dvs</a:t>
            </a:r>
            <a:r>
              <a:rPr lang="da-DK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 har tæthedsfunktion	f(x) = </a:t>
            </a:r>
            <a:r>
              <a:rPr lang="en-US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μ</a:t>
            </a:r>
            <a:r>
              <a:rPr lang="da-DK" sz="18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e</a:t>
            </a:r>
            <a:r>
              <a:rPr lang="da-DK" sz="1800" baseline="300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-</a:t>
            </a:r>
            <a:r>
              <a:rPr lang="en-US" sz="1800" baseline="300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μ</a:t>
            </a:r>
            <a:r>
              <a:rPr lang="da-DK" sz="1800" baseline="30000" dirty="0">
                <a:solidFill>
                  <a:srgbClr val="00B050"/>
                </a:solidFill>
                <a:effectLst/>
                <a:ea typeface="Times New Roman" panose="02020603050405020304" pitchFamily="18" charset="0"/>
              </a:rPr>
              <a:t>x</a:t>
            </a:r>
            <a:endParaRPr lang="da-DK" sz="1800" dirty="0">
              <a:solidFill>
                <a:srgbClr val="00B05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C000"/>
                </a:solidFill>
                <a:effectLst/>
                <a:ea typeface="Times New Roman" panose="02020603050405020304" pitchFamily="18" charset="0"/>
              </a:rPr>
              <a:t>Vi antager også at </a:t>
            </a:r>
            <a:r>
              <a:rPr lang="en-US" sz="1800" i="1" dirty="0">
                <a:solidFill>
                  <a:srgbClr val="FFC000"/>
                </a:solidFill>
                <a:effectLst/>
                <a:ea typeface="Times New Roman" panose="02020603050405020304" pitchFamily="18" charset="0"/>
              </a:rPr>
              <a:t>μ</a:t>
            </a:r>
            <a:r>
              <a:rPr lang="da-DK" sz="1800" i="1" dirty="0">
                <a:solidFill>
                  <a:srgbClr val="FFC000"/>
                </a:solidFill>
                <a:effectLst/>
                <a:ea typeface="Times New Roman" panose="02020603050405020304" pitchFamily="18" charset="0"/>
              </a:rPr>
              <a:t> &gt; </a:t>
            </a:r>
            <a:r>
              <a:rPr lang="en-US" sz="1800" i="1" dirty="0">
                <a:solidFill>
                  <a:srgbClr val="FFC000"/>
                </a:solidFill>
                <a:effectLst/>
                <a:ea typeface="Times New Roman" panose="02020603050405020304" pitchFamily="18" charset="0"/>
              </a:rPr>
              <a:t>λ</a:t>
            </a:r>
            <a:r>
              <a:rPr lang="da-DK" sz="1800" dirty="0">
                <a:solidFill>
                  <a:srgbClr val="FFC000"/>
                </a:solidFill>
                <a:effectLst/>
                <a:ea typeface="Times New Roman" panose="02020603050405020304" pitchFamily="18" charset="0"/>
              </a:rPr>
              <a:t> (ekspeditionsrates &gt; ankomstrate), dvs. der er nok kapacitet ud fra en gennemsnitsbetragtning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7196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3A7F-FC28-617E-E768-9D953332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HL Property 2 p. 769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01AA-54F3-1701-E039-B9E20CB07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76038"/>
            <a:ext cx="12191999" cy="548196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da-DK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Eksponential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fordelingen er </a:t>
            </a:r>
            <a:r>
              <a:rPr lang="da-DK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hukommelsesløs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P(Y &gt; </a:t>
            </a:r>
            <a:r>
              <a:rPr lang="da-DK" sz="1800" i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s+h│Y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&gt;s) = P(Y &gt;h) = e</a:t>
            </a:r>
            <a:r>
              <a:rPr lang="da-DK" sz="1800" i="1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GB" sz="1800" i="1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da-DK" sz="1800" i="1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endParaRPr lang="da-DK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Så givet vi har været under servicering i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TE, så er sandsynlighed for at restvarighed af service er større end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endParaRPr lang="da-DK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da-DK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sandsynligheden for at en servicetid er større end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endParaRPr lang="da-DK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da-DK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D.v.s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uafhængig af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Lyder det skørt ! Så tænk på møntkast og terningekast. Lad den stokastiske variabel 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betegne antallet af terning kast indtil vi slår en f. eks en sekser. Denne har, når fair terning, sandsynlighedsfordeling (er en geometrisk fordeling)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P(Z = z) = (5/6)</a:t>
            </a:r>
            <a:r>
              <a:rPr lang="da-DK" sz="1800" i="1" baseline="30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z-1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(1/6)	z=1,2,…</a:t>
            </a:r>
            <a:endParaRPr lang="da-DK" sz="18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Så 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P(Z =z)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har nøjagtig samme aftagende forløb som tæthedsfunktionen for en </a:t>
            </a:r>
            <a:r>
              <a:rPr lang="da-DK" sz="180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eksponential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fordeling. Så </a:t>
            </a:r>
            <a:r>
              <a:rPr lang="da-DK" sz="180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eksponential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fordelingen er en kontinuert version af den geometriske fordeling, som I måske allerede kender.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39717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A8CC-6B78-FBDB-6525-CC51B650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HL Property 5, p. 771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0CC9-43A4-00B9-1C42-0DDCFF37F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55938"/>
            <a:ext cx="12191999" cy="5326602"/>
          </a:xfrm>
        </p:spPr>
        <p:txBody>
          <a:bodyPr/>
          <a:lstStyle/>
          <a:p>
            <a:pPr marL="0" indent="0">
              <a:buNone/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a-DK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a-DK" sz="4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Når </a:t>
            </a:r>
            <a:r>
              <a:rPr lang="da-DK" sz="40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a-DK" sz="4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lille, så er </a:t>
            </a:r>
            <a:r>
              <a:rPr lang="da-DK" sz="40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da-DK" sz="4000" i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4000" i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</a:t>
            </a:r>
            <a:r>
              <a:rPr lang="da-DK" sz="4000" i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a-DK" sz="40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≈ 1 – </a:t>
            </a:r>
            <a:r>
              <a:rPr lang="en-US" sz="40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μ</a:t>
            </a:r>
            <a:r>
              <a:rPr lang="da-DK" sz="4000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</a:p>
          <a:p>
            <a:pPr marL="0" indent="0">
              <a:buNone/>
            </a:pPr>
            <a:endParaRPr lang="da-DK" sz="4000" i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a-DK" sz="4000" dirty="0">
                <a:latin typeface="Calibri" panose="020F0502020204030204" pitchFamily="34" charset="0"/>
                <a:cs typeface="Times New Roman" panose="02020603050405020304" pitchFamily="18" charset="0"/>
              </a:rPr>
              <a:t>(Hvis I vil nørde videre i bevis for dette så lav Taylor udvikling)</a:t>
            </a:r>
            <a:endParaRPr lang="da-DK" sz="4000" dirty="0"/>
          </a:p>
        </p:txBody>
      </p:sp>
    </p:spTree>
    <p:extLst>
      <p:ext uri="{BB962C8B-B14F-4D97-AF65-F5344CB8AC3E}">
        <p14:creationId xmlns:p14="http://schemas.microsoft.com/office/powerpoint/2010/main" val="2519667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15A0-AB79-6D09-0E59-24038898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Kombiner</a:t>
            </a:r>
            <a:r>
              <a:rPr lang="en-US" b="1" dirty="0"/>
              <a:t> Property 2 </a:t>
            </a:r>
            <a:r>
              <a:rPr lang="en-US" b="1" dirty="0" err="1"/>
              <a:t>og</a:t>
            </a:r>
            <a:r>
              <a:rPr lang="en-US" b="1" dirty="0"/>
              <a:t> 5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05C5D-46AC-74E9-E98B-47901F648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0"/>
            <a:ext cx="12192000" cy="5333999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da-DK" sz="33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Når vi observerer et job der er under service. Så er</a:t>
            </a:r>
          </a:p>
          <a:p>
            <a:pPr marL="0" indent="0" algn="just">
              <a:buNone/>
            </a:pPr>
            <a:r>
              <a:rPr lang="da-DK" sz="33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33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sandsynlighed for at job færdiggøres i løbet af de næste </a:t>
            </a:r>
            <a:r>
              <a:rPr lang="da-DK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h</a:t>
            </a:r>
            <a:r>
              <a:rPr lang="da-DK" sz="33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 (lille) tidsenheder (TE)</a:t>
            </a:r>
          </a:p>
          <a:p>
            <a:pPr marL="0" indent="0" algn="just">
              <a:buNone/>
            </a:pPr>
            <a:r>
              <a:rPr lang="da-DK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= </a:t>
            </a:r>
            <a:r>
              <a:rPr lang="en-US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μ</a:t>
            </a:r>
            <a:r>
              <a:rPr lang="da-DK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h</a:t>
            </a:r>
            <a:endParaRPr lang="da-DK" sz="33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33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3300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Sandsynlighed for at job ikke færdiggøres i løbet af de næste h (lille) TE </a:t>
            </a:r>
          </a:p>
          <a:p>
            <a:pPr marL="0" indent="0" algn="just">
              <a:buNone/>
            </a:pPr>
            <a:r>
              <a:rPr lang="da-DK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= 1 - </a:t>
            </a:r>
            <a:r>
              <a:rPr lang="en-US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μ</a:t>
            </a:r>
            <a:r>
              <a:rPr lang="da-DK" sz="3300" i="1" dirty="0">
                <a:solidFill>
                  <a:srgbClr val="FF0000"/>
                </a:solidFill>
                <a:effectLst/>
                <a:ea typeface="Times New Roman" panose="02020603050405020304" pitchFamily="18" charset="0"/>
              </a:rPr>
              <a:t>h</a:t>
            </a:r>
            <a:endParaRPr lang="da-DK" sz="3300" dirty="0">
              <a:solidFill>
                <a:srgbClr val="FF000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da-DK" sz="3300" dirty="0"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Vi iagttager systemet på et tilfældigt tidspunkt. Så er</a:t>
            </a:r>
          </a:p>
          <a:p>
            <a:pPr marL="0" indent="0" algn="just">
              <a:buNone/>
            </a:pP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Sandsynlighed for at et job ankommer i løbet af de næste </a:t>
            </a:r>
            <a:r>
              <a:rPr lang="da-DK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h</a:t>
            </a: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 (lille) TE </a:t>
            </a:r>
          </a:p>
          <a:p>
            <a:pPr marL="0" indent="0" algn="just">
              <a:buNone/>
            </a:pPr>
            <a:r>
              <a:rPr lang="da-DK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= </a:t>
            </a:r>
            <a:r>
              <a:rPr lang="en-US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λ</a:t>
            </a:r>
            <a:r>
              <a:rPr lang="da-DK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h</a:t>
            </a:r>
            <a:endParaRPr lang="da-DK" sz="3300" dirty="0">
              <a:solidFill>
                <a:srgbClr val="00B0F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Sandsynlighed for at job ikke ankommer i løbet af de næste </a:t>
            </a:r>
            <a:r>
              <a:rPr lang="da-DK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h</a:t>
            </a:r>
            <a:r>
              <a:rPr lang="da-DK" sz="3300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 (lille) TE </a:t>
            </a:r>
          </a:p>
          <a:p>
            <a:pPr marL="0" indent="0" algn="just">
              <a:buNone/>
            </a:pPr>
            <a:r>
              <a:rPr lang="da-DK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= 1 - </a:t>
            </a:r>
            <a:r>
              <a:rPr lang="en-US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λ</a:t>
            </a:r>
            <a:r>
              <a:rPr lang="da-DK" sz="3300" i="1" dirty="0">
                <a:solidFill>
                  <a:srgbClr val="00B0F0"/>
                </a:solidFill>
                <a:effectLst/>
                <a:ea typeface="Times New Roman" panose="02020603050405020304" pitchFamily="18" charset="0"/>
              </a:rPr>
              <a:t>h</a:t>
            </a:r>
            <a:endParaRPr lang="da-DK" sz="3300" dirty="0">
              <a:solidFill>
                <a:srgbClr val="00B0F0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2956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CFAF-D5FE-193D-7942-B088401F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Indføj</a:t>
            </a:r>
            <a:r>
              <a:rPr lang="en-US" b="1" dirty="0"/>
              <a:t> </a:t>
            </a:r>
            <a:r>
              <a:rPr lang="en-US" b="1" dirty="0" err="1"/>
              <a:t>begrebet</a:t>
            </a:r>
            <a:r>
              <a:rPr lang="en-US" b="1" dirty="0"/>
              <a:t> </a:t>
            </a:r>
            <a:r>
              <a:rPr lang="en-US" b="1" dirty="0" err="1"/>
              <a:t>systemtilstand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analysen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9631B-6D3B-7F79-F81D-3C3DCB3D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0960"/>
            <a:ext cx="12192000" cy="5527039"/>
          </a:xfrm>
        </p:spPr>
        <p:txBody>
          <a:bodyPr/>
          <a:lstStyle/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 kan nu definere begrebet systemtilstand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Systemet befinder sig i tilstand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når der i alt er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kunder (under servicering og i kø) i systemet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da-DK" sz="1800" i="1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(t)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er sandsynlighed for at systemet på tidspunkt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da-DK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befinder sig i tilstand </a:t>
            </a:r>
            <a:r>
              <a:rPr lang="da-DK" sz="180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</a:t>
            </a:r>
            <a:endParaRPr lang="da-DK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Antag system starter tomt, så initialbetingelserne er</a:t>
            </a:r>
          </a:p>
          <a:p>
            <a:pPr marL="0" indent="0" algn="just">
              <a:buNone/>
            </a:pP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da-DK" sz="1800" i="1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(0) = 1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og 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da-DK" sz="1800" i="1" baseline="-25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(0) = 0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</a:t>
            </a:r>
            <a:r>
              <a:rPr lang="da-DK" sz="1800" i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 &gt; 0</a:t>
            </a:r>
            <a:r>
              <a:rPr lang="da-DK" sz="18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(altså ikke sandsynligheder blot det vi observerer)</a:t>
            </a:r>
          </a:p>
          <a:p>
            <a:pPr marL="0" indent="0" algn="just">
              <a:buNone/>
            </a:pPr>
            <a: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</a:t>
            </a:r>
          </a:p>
          <a:p>
            <a:pPr marL="0" indent="0" algn="just">
              <a:buNone/>
            </a:pPr>
            <a:endParaRPr lang="da-D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da-DK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Hvorledes bestemme </a:t>
            </a:r>
            <a:r>
              <a:rPr lang="da-DK" sz="1800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da-DK" sz="1800" i="1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da-DK" sz="1800" i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(t)</a:t>
            </a:r>
            <a:r>
              <a:rPr lang="da-DK" sz="18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79099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4C3D-FBDE-5B56-CE7E-3B4B10BB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07439"/>
          </a:xfrm>
        </p:spPr>
        <p:txBody>
          <a:bodyPr/>
          <a:lstStyle/>
          <a:p>
            <a:pPr algn="ctr"/>
            <a:r>
              <a:rPr lang="en-US" b="1" dirty="0" err="1"/>
              <a:t>Omskrive</a:t>
            </a:r>
            <a:r>
              <a:rPr lang="en-US" b="1" dirty="0"/>
              <a:t> </a:t>
            </a:r>
            <a:r>
              <a:rPr lang="en-US" b="1" dirty="0" err="1"/>
              <a:t>til</a:t>
            </a:r>
            <a:r>
              <a:rPr lang="en-US" b="1" dirty="0"/>
              <a:t> differential </a:t>
            </a:r>
            <a:r>
              <a:rPr lang="en-US" b="1" dirty="0" err="1"/>
              <a:t>kvotienter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72D00-14AF-D4E2-1F75-AAD313E64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80160"/>
                <a:ext cx="12192000" cy="5577839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Vi fokuser på 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da-DK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da-DK" sz="1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og antager 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 </a:t>
                </a:r>
                <a:r>
                  <a:rPr lang="da-DK" sz="1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er så lille at højst én ”hændelse” (enten en ankomst eller en afgang) er sket i tidsrummet 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</a:t>
                </a:r>
                <a:endParaRPr lang="da-DK" sz="18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Tilfældet </a:t>
                </a:r>
                <a:r>
                  <a:rPr lang="da-DK" sz="1800" i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0</a:t>
                </a:r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da-DK" sz="1800" i="1" baseline="-250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da-DK" sz="1800" i="1" dirty="0" err="1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t+h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=  P</a:t>
                </a:r>
                <a:r>
                  <a:rPr lang="da-DK" sz="1800" i="1" baseline="-250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(t)*P(ingen ankomst i løbet af tidsrummet [</a:t>
                </a:r>
                <a:r>
                  <a:rPr lang="da-DK" sz="1800" i="1" dirty="0" err="1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</a:t>
                </a:r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+ P</a:t>
                </a:r>
                <a:r>
                  <a:rPr lang="da-DK" sz="1800" i="1" baseline="-250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(t)*P(en serviceafslutning i løbet af tidsrummet [</a:t>
                </a:r>
                <a:r>
                  <a:rPr lang="da-DK" sz="1800" i="1" dirty="0" err="1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</a:t>
                </a: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 P</a:t>
                </a:r>
                <a:r>
                  <a:rPr lang="da-DK" sz="1800" i="1" baseline="-250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(t)( 1 – </a:t>
                </a:r>
                <a:r>
                  <a:rPr lang="en-US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λ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h) + P</a:t>
                </a:r>
                <a:r>
                  <a:rPr lang="da-DK" sz="1800" i="1" baseline="-250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</a:t>
                </a:r>
                <a:r>
                  <a:rPr lang="en-US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μ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som omskrives til 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da-DK" sz="1800" i="1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h</m:t>
                          </m:r>
                        </m:den>
                      </m:f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−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og når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går mod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=−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072D00-14AF-D4E2-1F75-AAD313E64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80160"/>
                <a:ext cx="12192000" cy="5577839"/>
              </a:xfrm>
              <a:blipFill>
                <a:blip r:embed="rId2"/>
                <a:stretch>
                  <a:fillRect l="-400" t="-984" r="-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105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A2A3-D4BD-52D8-D5D9-35A08939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37919"/>
          </a:xfrm>
        </p:spPr>
        <p:txBody>
          <a:bodyPr/>
          <a:lstStyle/>
          <a:p>
            <a:pPr algn="ctr"/>
            <a:r>
              <a:rPr lang="en-US" b="1" dirty="0" err="1"/>
              <a:t>Omskrive</a:t>
            </a:r>
            <a:r>
              <a:rPr lang="en-US" b="1" dirty="0"/>
              <a:t> </a:t>
            </a:r>
            <a:r>
              <a:rPr lang="en-US" b="1" dirty="0" err="1"/>
              <a:t>til</a:t>
            </a:r>
            <a:r>
              <a:rPr lang="en-US" b="1" dirty="0"/>
              <a:t> differential </a:t>
            </a:r>
            <a:r>
              <a:rPr lang="en-US" b="1" dirty="0" err="1"/>
              <a:t>kvotienter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92BD0-F419-DA79-28B4-1E30D4E188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37920"/>
                <a:ext cx="12192000" cy="5720079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Tilfældet </a:t>
                </a:r>
                <a:r>
                  <a:rPr lang="da-DK" sz="1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&gt; 0</a:t>
                </a:r>
                <a:r>
                  <a:rPr lang="da-DK" sz="1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endParaRPr lang="da-DK" sz="1800" i="1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da-DK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=  P</a:t>
                </a:r>
                <a:r>
                  <a:rPr lang="da-DK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(t)*P(en ankomst i 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])*P(ingen 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serviceafslutn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i 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</a:t>
                </a: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+ P</a:t>
                </a:r>
                <a:r>
                  <a:rPr lang="da-DK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(t)* P(ingen ankomst i 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])*P(ingen 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serviceafslutn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i 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</a:t>
                </a:r>
                <a:endParaRPr lang="da-DK" sz="18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 + P</a:t>
                </a:r>
                <a:r>
                  <a:rPr lang="da-DK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1800" i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+1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(t)* P(ingen ankomst i 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])*P(en 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serviceafslutn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i 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[</a:t>
                </a:r>
                <a:r>
                  <a:rPr lang="da-DK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t,t+h</a:t>
                </a:r>
                <a:r>
                  <a:rPr lang="da-DK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])</a:t>
                </a:r>
                <a:endParaRPr lang="da-DK" sz="18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  P</a:t>
                </a:r>
                <a:r>
                  <a:rPr lang="de-DE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e-DE" sz="1800" i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-1</a:t>
                </a: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</a:t>
                </a:r>
                <a:r>
                  <a:rPr lang="de-DE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λh</a:t>
                </a: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(1 – </a:t>
                </a:r>
                <a:r>
                  <a:rPr lang="de-DE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μh</a:t>
                </a: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+ </a:t>
                </a:r>
                <a:r>
                  <a:rPr lang="de-DE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de-DE" sz="1800" i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(t)(1-λh)(1 – </a:t>
                </a:r>
                <a:r>
                  <a:rPr lang="de-DE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μh</a:t>
                </a: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+ P</a:t>
                </a:r>
                <a:r>
                  <a:rPr lang="de-DE" sz="18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e-DE" sz="1800" i="1" baseline="-250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+1</a:t>
                </a:r>
                <a:r>
                  <a:rPr lang="de-DE" sz="18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(t)(1-λh)</a:t>
                </a:r>
                <a:r>
                  <a:rPr lang="de-DE" sz="1800" i="1" dirty="0" err="1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μh</a:t>
                </a:r>
                <a:endParaRPr lang="da-DK" sz="180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e-DE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e-DE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Som </a:t>
                </a:r>
                <a:r>
                  <a:rPr lang="de-DE" sz="1800" dirty="0" err="1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omskrives</a:t>
                </a:r>
                <a:r>
                  <a:rPr lang="de-DE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de-DE" sz="1800" dirty="0" err="1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til</a:t>
                </a:r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a-DK" sz="1800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</m:den>
                    </m:f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𝜆</m:t>
                    </m:r>
                    <m:sSub>
                      <m:sSub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𝜆</m:t>
                        </m:r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𝜇</m:t>
                        </m:r>
                      </m:e>
                    </m:d>
                    <m:sSub>
                      <m:sSub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𝜇</m:t>
                    </m:r>
                    <m:sSub>
                      <m:sSubPr>
                        <m:ctrlP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da-DK" sz="1800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</m:t>
                    </m:r>
                    <m:r>
                      <a:rPr lang="da-DK" sz="1800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(samt yderligere led som alligevel forsvinder når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går mod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Når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går mod </a:t>
                </a:r>
                <a:r>
                  <a:rPr lang="da-DK" sz="18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</a:t>
                </a: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fås: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𝜆</m:t>
                          </m:r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  <m:r>
                            <a:rPr lang="da-DK" sz="18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𝑡</m:t>
                      </m:r>
                      <m:r>
                        <a:rPr lang="da-DK" sz="18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 </m:t>
                      </m:r>
                    </m:oMath>
                  </m:oMathPara>
                </a14:m>
                <a:endParaRPr lang="da-DK" sz="18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92BD0-F419-DA79-28B4-1E30D4E18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37920"/>
                <a:ext cx="12192000" cy="5720079"/>
              </a:xfrm>
              <a:blipFill>
                <a:blip r:embed="rId2"/>
                <a:stretch>
                  <a:fillRect l="-400" t="-106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458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21A5-63E8-E70D-6ED9-CE7EC4B4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42719"/>
          </a:xfrm>
        </p:spPr>
        <p:txBody>
          <a:bodyPr/>
          <a:lstStyle/>
          <a:p>
            <a:pPr algn="ctr"/>
            <a:r>
              <a:rPr lang="en-US" b="1" dirty="0"/>
              <a:t>Overkill at </a:t>
            </a:r>
            <a:r>
              <a:rPr lang="en-US" b="1" dirty="0" err="1"/>
              <a:t>løse</a:t>
            </a:r>
            <a:r>
              <a:rPr lang="en-US" b="1" dirty="0"/>
              <a:t> differential </a:t>
            </a:r>
            <a:r>
              <a:rPr lang="en-US" b="1" dirty="0" err="1"/>
              <a:t>ligninger</a:t>
            </a:r>
            <a:r>
              <a:rPr lang="en-US" b="1" dirty="0"/>
              <a:t>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EBFDC-9FB4-A2B8-949E-E6B069A8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0000"/>
            <a:ext cx="12192000" cy="55879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Men det </a:t>
            </a:r>
            <a:r>
              <a:rPr lang="en-US" dirty="0" err="1">
                <a:solidFill>
                  <a:srgbClr val="FF0000"/>
                </a:solidFill>
              </a:rPr>
              <a:t>kræves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faktisk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hvis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skal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analysere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transient </a:t>
            </a:r>
            <a:r>
              <a:rPr lang="en-US" b="1" dirty="0" err="1">
                <a:solidFill>
                  <a:srgbClr val="FF0000"/>
                </a:solidFill>
              </a:rPr>
              <a:t>fasen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Derfor</a:t>
            </a:r>
            <a:r>
              <a:rPr lang="en-US" dirty="0">
                <a:solidFill>
                  <a:srgbClr val="00B0F0"/>
                </a:solidFill>
              </a:rPr>
              <a:t> at </a:t>
            </a:r>
            <a:r>
              <a:rPr lang="en-US" dirty="0" err="1">
                <a:solidFill>
                  <a:srgbClr val="00B0F0"/>
                </a:solidFill>
              </a:rPr>
              <a:t>lærebøger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som</a:t>
            </a:r>
            <a:r>
              <a:rPr lang="en-US" dirty="0">
                <a:solidFill>
                  <a:srgbClr val="00B0F0"/>
                </a:solidFill>
              </a:rPr>
              <a:t> HL let </a:t>
            </a:r>
            <a:r>
              <a:rPr lang="en-US" dirty="0" err="1">
                <a:solidFill>
                  <a:srgbClr val="00B0F0"/>
                </a:solidFill>
              </a:rPr>
              <a:t>og</a:t>
            </a:r>
            <a:r>
              <a:rPr lang="en-US" dirty="0">
                <a:solidFill>
                  <a:srgbClr val="00B0F0"/>
                </a:solidFill>
              </a:rPr>
              <a:t> elegant </a:t>
            </a:r>
            <a:r>
              <a:rPr lang="en-US" dirty="0" err="1">
                <a:solidFill>
                  <a:srgbClr val="00B0F0"/>
                </a:solidFill>
              </a:rPr>
              <a:t>vælger</a:t>
            </a:r>
            <a:r>
              <a:rPr lang="en-US" dirty="0">
                <a:solidFill>
                  <a:srgbClr val="00B0F0"/>
                </a:solidFill>
              </a:rPr>
              <a:t> at </a:t>
            </a:r>
            <a:r>
              <a:rPr lang="en-US" dirty="0" err="1">
                <a:solidFill>
                  <a:srgbClr val="00B0F0"/>
                </a:solidFill>
              </a:rPr>
              <a:t>fokusere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på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steady state</a:t>
            </a:r>
            <a:endParaRPr lang="da-DK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965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B851-D15A-4AF4-6D79-036F5D30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Hvad</a:t>
            </a:r>
            <a:r>
              <a:rPr lang="en-US" b="1" dirty="0"/>
              <a:t> </a:t>
            </a:r>
            <a:r>
              <a:rPr lang="en-US" b="1" dirty="0" err="1"/>
              <a:t>betyder</a:t>
            </a:r>
            <a:r>
              <a:rPr lang="en-US" b="1" dirty="0"/>
              <a:t> steady state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vores</a:t>
            </a:r>
            <a:r>
              <a:rPr lang="en-US" b="1" dirty="0"/>
              <a:t> model?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3DF580-5F11-4C9F-AD66-1E59147C8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12240"/>
                <a:ext cx="12192000" cy="5445759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da-DK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Når </a:t>
                </a:r>
                <a:r>
                  <a:rPr lang="da-DK" sz="2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 → ∞</a:t>
                </a:r>
                <a:r>
                  <a:rPr lang="da-DK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vil </a:t>
                </a:r>
                <a:r>
                  <a:rPr lang="da-DK" sz="2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da-DK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2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(t) → P</a:t>
                </a:r>
                <a:r>
                  <a:rPr lang="da-DK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uanset værdi af  </a:t>
                </a:r>
                <a:r>
                  <a:rPr lang="da-DK" sz="2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  <a:r>
                  <a:rPr lang="da-DK" sz="24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2400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(0)</a:t>
                </a:r>
                <a:r>
                  <a:rPr lang="da-DK" sz="24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da-DK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(i princippet kræver det matematisk bevis men det gælder! Og vi så noget tilsvarende da vi gennemgik </a:t>
                </a:r>
                <a:r>
                  <a:rPr lang="da-DK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Markovkæder</a:t>
                </a:r>
                <a:r>
                  <a:rPr lang="da-DK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r>
                  <a:rPr lang="da-DK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Det betyder at når </a:t>
                </a:r>
                <a:r>
                  <a:rPr lang="da-DK" sz="2400" i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 → ∞</a:t>
                </a:r>
                <a:r>
                  <a:rPr lang="da-DK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vil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sz="2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da-DK" sz="2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da-DK" sz="2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da-DK" sz="2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a-DK" sz="2400" i="1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da-DK" sz="2400" i="1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da-DK" sz="24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Det betyder så </a:t>
                </a:r>
                <a:r>
                  <a:rPr lang="da-DK" sz="2400" b="1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vi kan transformere vort differential ligningssystem til et ligningssystem</a:t>
                </a:r>
                <a:r>
                  <a:rPr lang="da-DK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r>
                  <a:rPr lang="da-DK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400" i="1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0</m:t>
                      </m:r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−</m:t>
                      </m:r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a-DK" sz="24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24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24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og for </a:t>
                </a:r>
                <a:r>
                  <a:rPr lang="da-DK" sz="2400" i="1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  <a:r>
                  <a:rPr lang="da-DK" sz="2400" i="1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&gt; 0</a:t>
                </a:r>
                <a:r>
                  <a:rPr lang="da-DK" sz="24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endParaRPr lang="da-DK" sz="24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0=</m:t>
                      </m:r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d>
                        <m:dPr>
                          <m:ctrlP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𝜆</m:t>
                          </m:r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𝜇</m:t>
                          </m:r>
                        </m:e>
                      </m:d>
                      <m:sSub>
                        <m:sSubPr>
                          <m:ctrlP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  <m:r>
                            <a:rPr lang="da-DK" sz="2400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da-DK" sz="2400" i="1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da-DK" sz="2400" dirty="0">
                  <a:solidFill>
                    <a:srgbClr val="00B0F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da-DK" sz="17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 algn="just">
                  <a:buNone/>
                </a:pPr>
                <a:r>
                  <a:rPr lang="da-DK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3DF580-5F11-4C9F-AD66-1E59147C8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12240"/>
                <a:ext cx="12192000" cy="5445759"/>
              </a:xfrm>
              <a:blipFill>
                <a:blip r:embed="rId2"/>
                <a:stretch>
                  <a:fillRect l="-750" t="-1568" r="-7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452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4084-224D-5565-F8F1-E28CC3D3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Bestemmelse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n-US" b="1" dirty="0" err="1"/>
              <a:t>ligevægtsandsynligheder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11BE-37C7-BFD7-7457-839D9278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Det </a:t>
            </a:r>
            <a:r>
              <a:rPr lang="en-US" dirty="0" err="1">
                <a:solidFill>
                  <a:srgbClr val="FF0000"/>
                </a:solidFill>
              </a:rPr>
              <a:t>kræver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kun</a:t>
            </a:r>
            <a:r>
              <a:rPr lang="en-US" dirty="0">
                <a:solidFill>
                  <a:srgbClr val="FF0000"/>
                </a:solidFill>
              </a:rPr>
              <a:t>” at man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løse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ligninger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som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oftest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visualieres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hopdiagram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AC2BA-3445-1E9D-55C3-698BBAC33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73" y="2956264"/>
            <a:ext cx="7421732" cy="259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3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2582-6BBC-B6FD-4005-D19254C0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Løsningsteknik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B2FCE-E3DD-CAAA-604D-20419CC675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Udtryk P</a:t>
                </a:r>
                <a:r>
                  <a:rPr lang="en-US" sz="1600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>
                    <a:solidFill>
                      <a:srgbClr val="FF0000"/>
                    </a:solidFill>
                  </a:rPr>
                  <a:t>, P</a:t>
                </a:r>
                <a:r>
                  <a:rPr lang="en-US" sz="16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,…</a:t>
                </a:r>
                <a:r>
                  <a:rPr lang="en-US" dirty="0" err="1">
                    <a:solidFill>
                      <a:srgbClr val="FF0000"/>
                    </a:solidFill>
                  </a:rPr>
                  <a:t>vha</a:t>
                </a:r>
                <a:r>
                  <a:rPr lang="en-US" dirty="0">
                    <a:solidFill>
                      <a:srgbClr val="FF0000"/>
                    </a:solidFill>
                  </a:rPr>
                  <a:t> P</a:t>
                </a:r>
                <a:r>
                  <a:rPr lang="en-US" sz="1600" dirty="0">
                    <a:solidFill>
                      <a:srgbClr val="FF0000"/>
                    </a:solidFill>
                  </a:rPr>
                  <a:t>0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Ligning for </a:t>
                </a:r>
                <a:r>
                  <a:rPr lang="en-US" dirty="0" err="1">
                    <a:solidFill>
                      <a:srgbClr val="00B0F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tilstand</a:t>
                </a:r>
                <a:r>
                  <a:rPr lang="en-US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rgbClr val="00B0F0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Ligning for </a:t>
                </a:r>
                <a:r>
                  <a:rPr lang="en-US" dirty="0" err="1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tilstand</a:t>
                </a:r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1:</a:t>
                </a:r>
                <a:r>
                  <a:rPr lang="en-US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=</a:t>
                </a:r>
                <a:r>
                  <a:rPr lang="en-US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rgbClr val="00B050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Ligning for </a:t>
                </a:r>
                <a:r>
                  <a:rPr lang="en-US" dirty="0" err="1">
                    <a:solidFill>
                      <a:srgbClr val="FFC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tilstand</a:t>
                </a:r>
                <a:r>
                  <a:rPr 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2:</a:t>
                </a:r>
                <a:r>
                  <a:rPr lang="en-US" dirty="0">
                    <a:solidFill>
                      <a:srgbClr val="FFC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=</a:t>
                </a:r>
                <a:r>
                  <a:rPr lang="en-US" dirty="0">
                    <a:solidFill>
                      <a:srgbClr val="FFC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sSub>
                      <m:sSubPr>
                        <m:ctrlP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rgbClr val="FFC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Altså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b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US" sz="2800" b="0" dirty="0" err="1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og</a:t>
                </a:r>
                <a:r>
                  <a:rPr lang="en-US" sz="2800" b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800" b="0" dirty="0" err="1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dermed</a:t>
                </a:r>
                <a:r>
                  <a:rPr lang="en-US" sz="2800" b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</m:t>
                        </m:r>
                      </m:e>
                    </m:nary>
                  </m:oMath>
                </a14:m>
                <a:endParaRPr lang="en-US" sz="2800" b="0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EB2FCE-E3DD-CAAA-604D-20419CC67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  <a:blipFill>
                <a:blip r:embed="rId2"/>
                <a:stretch>
                  <a:fillRect l="-1000" t="-19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712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7970-5DF1-8B49-745D-2A8A0FEBC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01857"/>
          </a:xfrm>
        </p:spPr>
        <p:txBody>
          <a:bodyPr/>
          <a:lstStyle/>
          <a:p>
            <a:pPr algn="ctr"/>
            <a:r>
              <a:rPr lang="en-US" b="1" dirty="0" err="1"/>
              <a:t>Løsningsteknik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512AF3-D7A3-EDCA-1BC9-AD89CEF08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79348"/>
                <a:ext cx="12192000" cy="547865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a-DK" sz="2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da-DK" sz="28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da-DK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da-DK" sz="28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fås for n=0,1,2,…..</a:t>
                </a:r>
              </a:p>
              <a:p>
                <a:pPr marL="0" indent="0">
                  <a:buNone/>
                </a:pPr>
                <a:endParaRPr lang="da-DK" dirty="0">
                  <a:solidFill>
                    <a:srgbClr val="00B0F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80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B0F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da-DK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a-DK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512AF3-D7A3-EDCA-1BC9-AD89CEF08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79348"/>
                <a:ext cx="12192000" cy="5478651"/>
              </a:xfrm>
              <a:blipFill>
                <a:blip r:embed="rId2"/>
                <a:stretch>
                  <a:fillRect l="-1000" t="-5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994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B33F-911C-F47C-E77B-1CAB0C12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34331"/>
          </a:xfrm>
        </p:spPr>
        <p:txBody>
          <a:bodyPr/>
          <a:lstStyle/>
          <a:p>
            <a:pPr algn="ctr"/>
            <a:r>
              <a:rPr lang="en-US" b="1" dirty="0" err="1"/>
              <a:t>Performancemål</a:t>
            </a:r>
            <a:r>
              <a:rPr lang="en-US" b="1" dirty="0"/>
              <a:t> for M/M/1/∞ system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28BB0-814C-3E52-A1E6-71E00DC9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Forventet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antal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systemet</a:t>
            </a:r>
            <a:r>
              <a:rPr lang="en-US" dirty="0"/>
              <a:t>		</a:t>
            </a:r>
            <a:r>
              <a:rPr lang="en-US" dirty="0" err="1">
                <a:solidFill>
                  <a:srgbClr val="0070C0"/>
                </a:solidFill>
              </a:rPr>
              <a:t>Forventet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antal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kø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3E584-2E1F-8A21-4B13-ABDC9A9E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1" y="2392839"/>
            <a:ext cx="2607013" cy="1235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91B1CD-A825-C2AE-BF07-C702BEB8E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93" y="3628252"/>
            <a:ext cx="2645923" cy="1663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B09E7-7174-6A1F-B8C2-0A024AAC2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329" y="2669500"/>
            <a:ext cx="2295728" cy="14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31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2F905-17D8-441B-BFCF-465F2EA8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49091"/>
          </a:xfrm>
        </p:spPr>
        <p:txBody>
          <a:bodyPr/>
          <a:lstStyle/>
          <a:p>
            <a:pPr algn="ctr"/>
            <a:r>
              <a:rPr lang="en-US" b="1" dirty="0" err="1"/>
              <a:t>Performancemål</a:t>
            </a:r>
            <a:r>
              <a:rPr lang="en-US" b="1" dirty="0"/>
              <a:t> for M/M/1/∞ system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B164F-F3E0-1A11-6F7E-9E23706B5B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Forventet </a:t>
                </a:r>
                <a:r>
                  <a:rPr lang="en-US" dirty="0" err="1">
                    <a:solidFill>
                      <a:srgbClr val="FF0000"/>
                    </a:solidFill>
                  </a:rPr>
                  <a:t>opholdstid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</a:rPr>
                  <a:t> system</a:t>
                </a:r>
                <a:r>
                  <a:rPr lang="en-US" dirty="0"/>
                  <a:t>			</a:t>
                </a:r>
                <a:r>
                  <a:rPr lang="en-US" dirty="0" err="1">
                    <a:solidFill>
                      <a:srgbClr val="00B0F0"/>
                    </a:solidFill>
                  </a:rPr>
                  <a:t>Forventet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kø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tid</a:t>
                </a:r>
                <a:endParaRPr lang="en-US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US" dirty="0" err="1"/>
                  <a:t>Brug</a:t>
                </a:r>
                <a:r>
                  <a:rPr lang="en-US" dirty="0"/>
                  <a:t> Little’s </a:t>
                </a:r>
                <a:r>
                  <a:rPr lang="en-US" dirty="0" err="1"/>
                  <a:t>lov</a:t>
                </a:r>
                <a:r>
                  <a:rPr lang="en-US" dirty="0"/>
                  <a:t>					</a:t>
                </a:r>
                <a:r>
                  <a:rPr lang="en-US" dirty="0" err="1"/>
                  <a:t>Brug</a:t>
                </a:r>
                <a:r>
                  <a:rPr lang="en-US" dirty="0"/>
                  <a:t> Little’s </a:t>
                </a:r>
                <a:r>
                  <a:rPr lang="en-US" dirty="0" err="1"/>
                  <a:t>lov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dirty="0"/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B164F-F3E0-1A11-6F7E-9E23706B5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000" t="-19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3791DDA-DC79-37DF-FDDD-E7C4A06C6204}"/>
              </a:ext>
            </a:extLst>
          </p:cNvPr>
          <p:cNvSpPr txBox="1"/>
          <p:nvPr/>
        </p:nvSpPr>
        <p:spPr>
          <a:xfrm>
            <a:off x="1828800" y="5959098"/>
            <a:ext cx="6075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HL </a:t>
            </a:r>
            <a:r>
              <a:rPr lang="en-US" dirty="0" err="1">
                <a:solidFill>
                  <a:srgbClr val="00B050"/>
                </a:solidFill>
              </a:rPr>
              <a:t>angiver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også</a:t>
            </a:r>
            <a:r>
              <a:rPr lang="en-US" dirty="0">
                <a:solidFill>
                  <a:srgbClr val="00B050"/>
                </a:solidFill>
              </a:rPr>
              <a:t> at </a:t>
            </a:r>
            <a:r>
              <a:rPr lang="en-US" dirty="0" err="1">
                <a:solidFill>
                  <a:srgbClr val="00B050"/>
                </a:solidFill>
              </a:rPr>
              <a:t>når</a:t>
            </a:r>
            <a:r>
              <a:rPr lang="en-US" dirty="0">
                <a:solidFill>
                  <a:srgbClr val="00B050"/>
                </a:solidFill>
              </a:rPr>
              <a:t> man </a:t>
            </a:r>
            <a:r>
              <a:rPr lang="en-US" dirty="0" err="1">
                <a:solidFill>
                  <a:srgbClr val="00B050"/>
                </a:solidFill>
              </a:rPr>
              <a:t>opfatter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Opholdstid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Ventetid_i-kø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stokastiske</a:t>
            </a:r>
            <a:r>
              <a:rPr lang="en-US" dirty="0">
                <a:solidFill>
                  <a:srgbClr val="00B050"/>
                </a:solidFill>
              </a:rPr>
              <a:t> variable </a:t>
            </a:r>
            <a:r>
              <a:rPr lang="en-US" dirty="0" err="1">
                <a:solidFill>
                  <a:srgbClr val="00B050"/>
                </a:solidFill>
              </a:rPr>
              <a:t>hvordan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disse</a:t>
            </a:r>
            <a:r>
              <a:rPr lang="en-US" dirty="0">
                <a:solidFill>
                  <a:srgbClr val="00B050"/>
                </a:solidFill>
              </a:rPr>
              <a:t> er </a:t>
            </a:r>
            <a:r>
              <a:rPr lang="en-US" dirty="0" err="1">
                <a:solidFill>
                  <a:srgbClr val="00B050"/>
                </a:solidFill>
              </a:rPr>
              <a:t>fordelt</a:t>
            </a:r>
            <a:r>
              <a:rPr lang="en-US" dirty="0">
                <a:solidFill>
                  <a:srgbClr val="00B050"/>
                </a:solidFill>
              </a:rPr>
              <a:t>. Her </a:t>
            </a:r>
            <a:r>
              <a:rPr lang="en-US" dirty="0" err="1">
                <a:solidFill>
                  <a:srgbClr val="00B050"/>
                </a:solidFill>
              </a:rPr>
              <a:t>viser</a:t>
            </a:r>
            <a:r>
              <a:rPr lang="en-US" dirty="0">
                <a:solidFill>
                  <a:srgbClr val="00B050"/>
                </a:solidFill>
              </a:rPr>
              <a:t> det sig at den </a:t>
            </a:r>
            <a:r>
              <a:rPr lang="en-US" dirty="0" err="1">
                <a:solidFill>
                  <a:srgbClr val="00B050"/>
                </a:solidFill>
              </a:rPr>
              <a:t>første</a:t>
            </a:r>
            <a:r>
              <a:rPr lang="en-US" dirty="0">
                <a:solidFill>
                  <a:srgbClr val="00B050"/>
                </a:solidFill>
              </a:rPr>
              <a:t> er </a:t>
            </a:r>
            <a:r>
              <a:rPr lang="en-US" dirty="0" err="1">
                <a:solidFill>
                  <a:srgbClr val="00B050"/>
                </a:solidFill>
              </a:rPr>
              <a:t>eksponentialt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fordelt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309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1FDCD-5DC0-E9F4-84C0-73760058C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17355"/>
          </a:xfrm>
        </p:spPr>
        <p:txBody>
          <a:bodyPr/>
          <a:lstStyle/>
          <a:p>
            <a:pPr algn="ctr"/>
            <a:r>
              <a:rPr lang="en-US" b="1" dirty="0" err="1"/>
              <a:t>Betydning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</a:t>
            </a:r>
            <a:r>
              <a:rPr lang="el-GR" b="1" dirty="0"/>
              <a:t>ρ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98AA-AAB2-40C2-572E-AD97B0FFA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33593"/>
            <a:ext cx="12191999" cy="561813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Hvis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denne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går</a:t>
            </a:r>
            <a:r>
              <a:rPr lang="en-US" dirty="0">
                <a:solidFill>
                  <a:srgbClr val="FF0000"/>
                </a:solidFill>
              </a:rPr>
              <a:t> mod 1 </a:t>
            </a:r>
            <a:r>
              <a:rPr lang="en-US" dirty="0" err="1">
                <a:solidFill>
                  <a:srgbClr val="FF0000"/>
                </a:solidFill>
              </a:rPr>
              <a:t>så</a:t>
            </a:r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eksploderer</a:t>
            </a:r>
            <a:r>
              <a:rPr lang="en-US" dirty="0">
                <a:solidFill>
                  <a:srgbClr val="FF0000"/>
                </a:solidFill>
              </a:rPr>
              <a:t>” </a:t>
            </a:r>
            <a:r>
              <a:rPr lang="en-US" dirty="0" err="1">
                <a:solidFill>
                  <a:srgbClr val="FF0000"/>
                </a:solidFill>
              </a:rPr>
              <a:t>systemet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Dvs</a:t>
            </a:r>
            <a:r>
              <a:rPr lang="en-US" dirty="0">
                <a:solidFill>
                  <a:srgbClr val="00B0F0"/>
                </a:solidFill>
              </a:rPr>
              <a:t> det er </a:t>
            </a:r>
            <a:r>
              <a:rPr lang="en-US" dirty="0" err="1">
                <a:solidFill>
                  <a:srgbClr val="00B0F0"/>
                </a:solidFill>
              </a:rPr>
              <a:t>en</a:t>
            </a:r>
            <a:r>
              <a:rPr lang="en-US" dirty="0">
                <a:solidFill>
                  <a:srgbClr val="00B0F0"/>
                </a:solidFill>
              </a:rPr>
              <a:t> illusion at </a:t>
            </a:r>
            <a:r>
              <a:rPr lang="en-US" dirty="0" err="1">
                <a:solidFill>
                  <a:srgbClr val="00B0F0"/>
                </a:solidFill>
              </a:rPr>
              <a:t>planlægge</a:t>
            </a:r>
            <a:r>
              <a:rPr lang="en-US" dirty="0">
                <a:solidFill>
                  <a:srgbClr val="00B0F0"/>
                </a:solidFill>
              </a:rPr>
              <a:t> med </a:t>
            </a:r>
            <a:r>
              <a:rPr lang="en-US" dirty="0" err="1">
                <a:solidFill>
                  <a:srgbClr val="00B0F0"/>
                </a:solidFill>
              </a:rPr>
              <a:t>fuld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kapacitets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udnyttelse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Servicesystemer</a:t>
            </a:r>
            <a:r>
              <a:rPr lang="en-US" dirty="0">
                <a:solidFill>
                  <a:srgbClr val="00B050"/>
                </a:solidFill>
              </a:rPr>
              <a:t> med </a:t>
            </a:r>
            <a:r>
              <a:rPr lang="en-US" dirty="0" err="1">
                <a:solidFill>
                  <a:srgbClr val="00B050"/>
                </a:solidFill>
              </a:rPr>
              <a:t>meget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uplanlagte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kundeankomster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meget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varierende</a:t>
            </a:r>
            <a:r>
              <a:rPr lang="en-US" dirty="0">
                <a:solidFill>
                  <a:srgbClr val="00B050"/>
                </a:solidFill>
              </a:rPr>
              <a:t> service </a:t>
            </a:r>
            <a:r>
              <a:rPr lang="en-US" dirty="0" err="1">
                <a:solidFill>
                  <a:srgbClr val="00B050"/>
                </a:solidFill>
              </a:rPr>
              <a:t>tider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skal</a:t>
            </a:r>
            <a:r>
              <a:rPr lang="en-US" dirty="0">
                <a:solidFill>
                  <a:srgbClr val="00B050"/>
                </a:solidFill>
              </a:rPr>
              <a:t> have </a:t>
            </a:r>
            <a:r>
              <a:rPr lang="en-US" dirty="0" err="1">
                <a:solidFill>
                  <a:srgbClr val="00B050"/>
                </a:solidFill>
              </a:rPr>
              <a:t>rigeligt</a:t>
            </a:r>
            <a:r>
              <a:rPr lang="en-US" dirty="0">
                <a:solidFill>
                  <a:srgbClr val="00B050"/>
                </a:solidFill>
              </a:rPr>
              <a:t> med </a:t>
            </a:r>
            <a:r>
              <a:rPr lang="en-US" dirty="0" err="1">
                <a:solidFill>
                  <a:srgbClr val="00B050"/>
                </a:solidFill>
              </a:rPr>
              <a:t>ledig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kapacitet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så</a:t>
            </a:r>
            <a:r>
              <a:rPr lang="en-US" dirty="0">
                <a:solidFill>
                  <a:srgbClr val="00B050"/>
                </a:solidFill>
              </a:rPr>
              <a:t> her er </a:t>
            </a:r>
            <a:r>
              <a:rPr lang="en-US" dirty="0" err="1">
                <a:solidFill>
                  <a:srgbClr val="00B050"/>
                </a:solidFill>
              </a:rPr>
              <a:t>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kapacitetsudnyttelse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omkring</a:t>
            </a:r>
            <a:r>
              <a:rPr lang="en-US" dirty="0">
                <a:solidFill>
                  <a:srgbClr val="00B050"/>
                </a:solidFill>
              </a:rPr>
              <a:t> ca. 70% ca OK!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674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833B-DE1C-8110-6EDF-BC3F0D7DD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Andre </a:t>
            </a:r>
            <a:r>
              <a:rPr lang="en-US" b="1" dirty="0" err="1"/>
              <a:t>køsystemer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type M/M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6CD9-62B4-CB3B-2372-DE8759AF3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Flere</a:t>
            </a:r>
            <a:r>
              <a:rPr lang="en-US" dirty="0">
                <a:solidFill>
                  <a:srgbClr val="FF0000"/>
                </a:solidFill>
              </a:rPr>
              <a:t>, s, parallel </a:t>
            </a:r>
            <a:r>
              <a:rPr lang="en-US" dirty="0" err="1">
                <a:solidFill>
                  <a:srgbClr val="FF0000"/>
                </a:solidFill>
              </a:rPr>
              <a:t>forbundne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servere</a:t>
            </a:r>
            <a:r>
              <a:rPr lang="en-US" dirty="0"/>
              <a:t>		</a:t>
            </a:r>
            <a:r>
              <a:rPr lang="en-US" dirty="0" err="1">
                <a:solidFill>
                  <a:srgbClr val="00B0F0"/>
                </a:solidFill>
              </a:rPr>
              <a:t>Begrænset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plads</a:t>
            </a:r>
            <a:r>
              <a:rPr lang="en-US" dirty="0">
                <a:solidFill>
                  <a:srgbClr val="00B0F0"/>
                </a:solidFill>
              </a:rPr>
              <a:t> (</a:t>
            </a:r>
            <a:r>
              <a:rPr lang="en-US" dirty="0" err="1">
                <a:solidFill>
                  <a:srgbClr val="00B0F0"/>
                </a:solidFill>
              </a:rPr>
              <a:t>ialt</a:t>
            </a:r>
            <a:r>
              <a:rPr lang="en-US" dirty="0">
                <a:solidFill>
                  <a:srgbClr val="00B0F0"/>
                </a:solidFill>
              </a:rPr>
              <a:t> K </a:t>
            </a:r>
            <a:r>
              <a:rPr lang="en-US" dirty="0" err="1">
                <a:solidFill>
                  <a:srgbClr val="00B0F0"/>
                </a:solidFill>
              </a:rPr>
              <a:t>pladser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B050"/>
                </a:solidFill>
              </a:rPr>
              <a:t>Samme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teknik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 err="1">
                <a:solidFill>
                  <a:srgbClr val="00B050"/>
                </a:solidFill>
              </a:rPr>
              <a:t>lav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hopdiagram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udvikl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ligevægssandynligheder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endParaRPr lang="da-DK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3B8FA-7E65-24C1-A5F7-4051E4A45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4" y="3790737"/>
            <a:ext cx="5646769" cy="2081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537376-FE56-D538-3354-294D96EFD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79" y="3727342"/>
            <a:ext cx="5169329" cy="291912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D5BA7B1-6FAC-E13C-841E-591A8894E6D0}"/>
              </a:ext>
            </a:extLst>
          </p:cNvPr>
          <p:cNvCxnSpPr/>
          <p:nvPr/>
        </p:nvCxnSpPr>
        <p:spPr>
          <a:xfrm>
            <a:off x="7284203" y="2363492"/>
            <a:ext cx="0" cy="1278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1F1B80-2E00-1699-24AB-EE758608ABC4}"/>
              </a:ext>
            </a:extLst>
          </p:cNvPr>
          <p:cNvCxnSpPr/>
          <p:nvPr/>
        </p:nvCxnSpPr>
        <p:spPr>
          <a:xfrm flipH="1">
            <a:off x="2758698" y="2255003"/>
            <a:ext cx="271221" cy="153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2CE524-DDF6-A250-C5E0-BAAC78C432F7}"/>
              </a:ext>
            </a:extLst>
          </p:cNvPr>
          <p:cNvSpPr txBox="1"/>
          <p:nvPr/>
        </p:nvSpPr>
        <p:spPr>
          <a:xfrm>
            <a:off x="193730" y="5537052"/>
            <a:ext cx="4781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Når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flere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servere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i</a:t>
            </a:r>
            <a:r>
              <a:rPr lang="en-US" dirty="0">
                <a:solidFill>
                  <a:srgbClr val="FFC000"/>
                </a:solidFill>
              </a:rPr>
              <a:t> gang </a:t>
            </a:r>
            <a:r>
              <a:rPr lang="en-US" dirty="0" err="1">
                <a:solidFill>
                  <a:srgbClr val="FFC000"/>
                </a:solidFill>
              </a:rPr>
              <a:t>samtidigt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så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vokser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afgangsintensiteten</a:t>
            </a:r>
            <a:r>
              <a:rPr lang="en-US" dirty="0">
                <a:solidFill>
                  <a:srgbClr val="FFC000"/>
                </a:solidFill>
              </a:rPr>
              <a:t> proportional med </a:t>
            </a:r>
            <a:r>
              <a:rPr lang="en-US" dirty="0" err="1">
                <a:solidFill>
                  <a:srgbClr val="FFC000"/>
                </a:solidFill>
              </a:rPr>
              <a:t>antal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servere</a:t>
            </a:r>
            <a:r>
              <a:rPr lang="en-US" dirty="0">
                <a:solidFill>
                  <a:srgbClr val="FFC000"/>
                </a:solidFill>
              </a:rPr>
              <a:t> – </a:t>
            </a:r>
            <a:r>
              <a:rPr lang="en-US" dirty="0" err="1">
                <a:solidFill>
                  <a:srgbClr val="FFC000"/>
                </a:solidFill>
              </a:rPr>
              <a:t>en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egenskab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ved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eksponentiál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fordelingen</a:t>
            </a:r>
            <a:endParaRPr lang="da-DK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717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423A-9D11-1A4F-6AAD-CBAF917A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Hvad</a:t>
            </a:r>
            <a:r>
              <a:rPr lang="en-US" b="1" dirty="0"/>
              <a:t> nu </a:t>
            </a:r>
            <a:r>
              <a:rPr lang="en-US" b="1" dirty="0" err="1"/>
              <a:t>hvis</a:t>
            </a:r>
            <a:r>
              <a:rPr lang="en-US" b="1" dirty="0"/>
              <a:t> </a:t>
            </a:r>
            <a:r>
              <a:rPr lang="en-US" b="1" dirty="0" err="1"/>
              <a:t>antagelser</a:t>
            </a:r>
            <a:r>
              <a:rPr lang="en-US" b="1" dirty="0"/>
              <a:t> om </a:t>
            </a:r>
            <a:r>
              <a:rPr lang="en-US" b="1" dirty="0" err="1"/>
              <a:t>eksponentilal</a:t>
            </a:r>
            <a:r>
              <a:rPr lang="en-US" b="1" dirty="0"/>
              <a:t> </a:t>
            </a:r>
            <a:r>
              <a:rPr lang="en-US" b="1" dirty="0" err="1"/>
              <a:t>fordelinger</a:t>
            </a:r>
            <a:r>
              <a:rPr lang="en-US" b="1" dirty="0"/>
              <a:t> </a:t>
            </a:r>
            <a:r>
              <a:rPr lang="en-US" b="1" dirty="0" err="1"/>
              <a:t>ikke</a:t>
            </a:r>
            <a:r>
              <a:rPr lang="en-US" b="1" dirty="0"/>
              <a:t> holder?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2AF95-FC21-E1B4-C1F1-6B04CE1F2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Det er </a:t>
            </a:r>
            <a:r>
              <a:rPr lang="en-US" dirty="0" err="1">
                <a:solidFill>
                  <a:srgbClr val="FF0000"/>
                </a:solidFill>
              </a:rPr>
              <a:t>lidt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langt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ude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udvikle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sofistikeret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teori</a:t>
            </a:r>
            <a:r>
              <a:rPr lang="en-US" dirty="0">
                <a:solidFill>
                  <a:srgbClr val="FF0000"/>
                </a:solidFill>
              </a:rPr>
              <a:t> der </a:t>
            </a:r>
            <a:r>
              <a:rPr lang="en-US" dirty="0" err="1">
                <a:solidFill>
                  <a:srgbClr val="FF0000"/>
                </a:solidFill>
              </a:rPr>
              <a:t>hviler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meget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specifikke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antagelser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(er </a:t>
            </a:r>
            <a:r>
              <a:rPr lang="en-US" dirty="0" err="1"/>
              <a:t>vores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pyramide</a:t>
            </a:r>
            <a:r>
              <a:rPr lang="en-US" dirty="0"/>
              <a:t> der vender </a:t>
            </a:r>
            <a:r>
              <a:rPr lang="en-US" dirty="0" err="1"/>
              <a:t>spidsen</a:t>
            </a:r>
            <a:r>
              <a:rPr lang="en-US" dirty="0"/>
              <a:t> </a:t>
            </a:r>
            <a:r>
              <a:rPr lang="en-US" dirty="0" err="1"/>
              <a:t>nedad</a:t>
            </a:r>
            <a:r>
              <a:rPr lang="en-US" dirty="0"/>
              <a:t>!!)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Men vi </a:t>
            </a:r>
            <a:r>
              <a:rPr lang="en-US" dirty="0" err="1">
                <a:solidFill>
                  <a:srgbClr val="00B050"/>
                </a:solidFill>
              </a:rPr>
              <a:t>kan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generalisere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bruge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Erlang </a:t>
            </a:r>
            <a:r>
              <a:rPr lang="en-US" b="1" dirty="0" err="1">
                <a:solidFill>
                  <a:srgbClr val="00B050"/>
                </a:solidFill>
              </a:rPr>
              <a:t>fordelinger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stedet</a:t>
            </a:r>
            <a:r>
              <a:rPr lang="en-US" dirty="0">
                <a:solidFill>
                  <a:srgbClr val="00B050"/>
                </a:solidFill>
              </a:rPr>
              <a:t> for </a:t>
            </a:r>
            <a:r>
              <a:rPr lang="en-US" dirty="0" err="1">
                <a:solidFill>
                  <a:srgbClr val="00B050"/>
                </a:solidFill>
              </a:rPr>
              <a:t>eksponential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fordelinger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309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CABD2-74F8-8664-14C3-3EEC4175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4623"/>
          </a:xfrm>
        </p:spPr>
        <p:txBody>
          <a:bodyPr/>
          <a:lstStyle/>
          <a:p>
            <a:pPr algn="ctr"/>
            <a:r>
              <a:rPr lang="en-US" b="1" dirty="0"/>
              <a:t>Erlang </a:t>
            </a:r>
            <a:r>
              <a:rPr lang="en-US" b="1" dirty="0" err="1"/>
              <a:t>fordelingen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E34BA-8C24-7EF9-556B-6BD45BA78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614"/>
            <a:ext cx="12192000" cy="561038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 k-</a:t>
            </a:r>
            <a:r>
              <a:rPr lang="en-US" dirty="0" err="1">
                <a:solidFill>
                  <a:srgbClr val="FF0000"/>
                </a:solidFill>
              </a:rPr>
              <a:t>faset</a:t>
            </a:r>
            <a:r>
              <a:rPr lang="en-US" dirty="0">
                <a:solidFill>
                  <a:srgbClr val="FF0000"/>
                </a:solidFill>
              </a:rPr>
              <a:t> Erlang </a:t>
            </a:r>
            <a:r>
              <a:rPr lang="en-US" dirty="0" err="1">
                <a:solidFill>
                  <a:srgbClr val="FF0000"/>
                </a:solidFill>
              </a:rPr>
              <a:t>fordeling</a:t>
            </a:r>
            <a:r>
              <a:rPr lang="en-US" dirty="0">
                <a:solidFill>
                  <a:srgbClr val="FF0000"/>
                </a:solidFill>
              </a:rPr>
              <a:t> med </a:t>
            </a:r>
            <a:r>
              <a:rPr lang="en-US" dirty="0" err="1">
                <a:solidFill>
                  <a:srgbClr val="FF0000"/>
                </a:solidFill>
              </a:rPr>
              <a:t>middelværdi</a:t>
            </a:r>
            <a:r>
              <a:rPr lang="en-US" dirty="0">
                <a:solidFill>
                  <a:srgbClr val="FF0000"/>
                </a:solidFill>
              </a:rPr>
              <a:t> 1/</a:t>
            </a:r>
            <a:r>
              <a:rPr lang="el-GR" dirty="0">
                <a:solidFill>
                  <a:srgbClr val="FF0000"/>
                </a:solidFill>
              </a:rPr>
              <a:t>μ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tætheds</a:t>
            </a:r>
            <a:r>
              <a:rPr lang="en-US" dirty="0"/>
              <a:t> </a:t>
            </a:r>
            <a:r>
              <a:rPr lang="en-US" dirty="0" err="1"/>
              <a:t>funktion</a:t>
            </a:r>
            <a:endParaRPr lang="da-D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2677BC-BE96-B39A-6EBA-31F1E613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557" y="3142034"/>
            <a:ext cx="3968885" cy="5739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0D433D-A6C1-751B-A71C-4E10D9F4D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557" y="3142034"/>
            <a:ext cx="3968885" cy="573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AB546-3DBB-33FF-D6BA-5F81564F0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1956"/>
            <a:ext cx="3929974" cy="496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958F24-EF51-7D0F-6EC9-C7821E2F4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6" y="3367006"/>
            <a:ext cx="3424136" cy="137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EB6A72-1264-9F3F-4D48-B4974A20F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667" y="2301002"/>
            <a:ext cx="6222569" cy="29713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14CACF-F3C9-F007-9319-B03C0654FF62}"/>
              </a:ext>
            </a:extLst>
          </p:cNvPr>
          <p:cNvSpPr txBox="1"/>
          <p:nvPr/>
        </p:nvSpPr>
        <p:spPr>
          <a:xfrm>
            <a:off x="5005953" y="5726624"/>
            <a:ext cx="5672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Jo </a:t>
            </a:r>
            <a:r>
              <a:rPr lang="en-US" dirty="0" err="1">
                <a:solidFill>
                  <a:srgbClr val="00B050"/>
                </a:solidFill>
              </a:rPr>
              <a:t>større</a:t>
            </a:r>
            <a:r>
              <a:rPr lang="en-US" dirty="0">
                <a:solidFill>
                  <a:srgbClr val="00B050"/>
                </a:solidFill>
              </a:rPr>
              <a:t> k er jo mere </a:t>
            </a:r>
            <a:r>
              <a:rPr lang="en-US" dirty="0" err="1">
                <a:solidFill>
                  <a:srgbClr val="00B050"/>
                </a:solidFill>
              </a:rPr>
              <a:t>regelmæsig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klokkeformet</a:t>
            </a:r>
            <a:r>
              <a:rPr lang="en-US" dirty="0">
                <a:solidFill>
                  <a:srgbClr val="00B050"/>
                </a:solidFill>
              </a:rPr>
              <a:t> er </a:t>
            </a:r>
            <a:r>
              <a:rPr lang="en-US" dirty="0" err="1">
                <a:solidFill>
                  <a:srgbClr val="00B050"/>
                </a:solidFill>
              </a:rPr>
              <a:t>fordelingen</a:t>
            </a:r>
            <a:r>
              <a:rPr lang="en-US" dirty="0">
                <a:solidFill>
                  <a:srgbClr val="00B050"/>
                </a:solidFill>
              </a:rPr>
              <a:t>. </a:t>
            </a:r>
            <a:r>
              <a:rPr lang="en-US" dirty="0" err="1">
                <a:solidFill>
                  <a:srgbClr val="00B050"/>
                </a:solidFill>
              </a:rPr>
              <a:t>Når</a:t>
            </a:r>
            <a:r>
              <a:rPr lang="en-US" dirty="0">
                <a:solidFill>
                  <a:srgbClr val="00B050"/>
                </a:solidFill>
              </a:rPr>
              <a:t> k = 1 haves </a:t>
            </a:r>
            <a:r>
              <a:rPr lang="en-US" dirty="0" err="1">
                <a:solidFill>
                  <a:srgbClr val="00B050"/>
                </a:solidFill>
              </a:rPr>
              <a:t>eksponential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fordeling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som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altså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har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meget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specielt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udseende</a:t>
            </a:r>
            <a:r>
              <a:rPr lang="en-US" dirty="0">
                <a:solidFill>
                  <a:srgbClr val="00B050"/>
                </a:solidFill>
              </a:rPr>
              <a:t> 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129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6A85-2325-AE60-7D9B-7FEC604C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8867"/>
          </a:xfrm>
        </p:spPr>
        <p:txBody>
          <a:bodyPr/>
          <a:lstStyle/>
          <a:p>
            <a:pPr algn="ctr"/>
            <a:r>
              <a:rPr lang="en-US" b="1" dirty="0"/>
              <a:t>Erlang </a:t>
            </a:r>
            <a:r>
              <a:rPr lang="en-US" b="1" dirty="0" err="1"/>
              <a:t>fordelingen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E861-08B9-DB28-08E5-9CECD2C4F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0860"/>
            <a:ext cx="12192000" cy="55871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 k-</a:t>
            </a:r>
            <a:r>
              <a:rPr lang="en-US" dirty="0" err="1">
                <a:solidFill>
                  <a:srgbClr val="FF0000"/>
                </a:solidFill>
              </a:rPr>
              <a:t>faset</a:t>
            </a:r>
            <a:r>
              <a:rPr lang="en-US" dirty="0">
                <a:solidFill>
                  <a:srgbClr val="FF0000"/>
                </a:solidFill>
              </a:rPr>
              <a:t> Erlang </a:t>
            </a:r>
            <a:r>
              <a:rPr lang="en-US" dirty="0" err="1">
                <a:solidFill>
                  <a:srgbClr val="FF0000"/>
                </a:solidFill>
              </a:rPr>
              <a:t>fordeling</a:t>
            </a:r>
            <a:r>
              <a:rPr lang="en-US" dirty="0">
                <a:solidFill>
                  <a:srgbClr val="FF0000"/>
                </a:solidFill>
              </a:rPr>
              <a:t> er </a:t>
            </a:r>
            <a:r>
              <a:rPr lang="en-US" dirty="0" err="1">
                <a:solidFill>
                  <a:srgbClr val="FF0000"/>
                </a:solidFill>
              </a:rPr>
              <a:t>en</a:t>
            </a:r>
            <a:r>
              <a:rPr lang="en-US" dirty="0">
                <a:solidFill>
                  <a:srgbClr val="FF0000"/>
                </a:solidFill>
              </a:rPr>
              <a:t> sum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uafhængige</a:t>
            </a:r>
            <a:r>
              <a:rPr lang="en-US" dirty="0">
                <a:solidFill>
                  <a:srgbClr val="FF0000"/>
                </a:solidFill>
              </a:rPr>
              <a:t> k </a:t>
            </a:r>
            <a:r>
              <a:rPr lang="en-US" dirty="0" err="1">
                <a:solidFill>
                  <a:srgbClr val="FF0000"/>
                </a:solidFill>
              </a:rPr>
              <a:t>eksoponential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fordelinger</a:t>
            </a:r>
            <a:r>
              <a:rPr lang="en-US" dirty="0">
                <a:solidFill>
                  <a:srgbClr val="FF0000"/>
                </a:solidFill>
              </a:rPr>
              <a:t> alle med </a:t>
            </a:r>
            <a:r>
              <a:rPr lang="en-US" dirty="0" err="1">
                <a:solidFill>
                  <a:srgbClr val="FF0000"/>
                </a:solidFill>
              </a:rPr>
              <a:t>middelværdi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en-US" dirty="0">
                <a:solidFill>
                  <a:srgbClr val="FF0000"/>
                </a:solidFill>
              </a:rPr>
              <a:t>/k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F0"/>
                </a:solidFill>
              </a:rPr>
              <a:t>Antag</a:t>
            </a:r>
            <a:r>
              <a:rPr lang="en-US" dirty="0">
                <a:solidFill>
                  <a:srgbClr val="00B0F0"/>
                </a:solidFill>
              </a:rPr>
              <a:t> service </a:t>
            </a:r>
            <a:r>
              <a:rPr lang="en-US" dirty="0" err="1">
                <a:solidFill>
                  <a:srgbClr val="00B0F0"/>
                </a:solidFill>
              </a:rPr>
              <a:t>tider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følger</a:t>
            </a:r>
            <a:r>
              <a:rPr lang="en-US" dirty="0">
                <a:solidFill>
                  <a:srgbClr val="00B0F0"/>
                </a:solidFill>
              </a:rPr>
              <a:t> k </a:t>
            </a:r>
            <a:r>
              <a:rPr lang="en-US" dirty="0" err="1">
                <a:solidFill>
                  <a:srgbClr val="00B0F0"/>
                </a:solidFill>
              </a:rPr>
              <a:t>faset</a:t>
            </a:r>
            <a:r>
              <a:rPr lang="en-US" dirty="0">
                <a:solidFill>
                  <a:srgbClr val="00B0F0"/>
                </a:solidFill>
              </a:rPr>
              <a:t> Erlang </a:t>
            </a:r>
            <a:r>
              <a:rPr lang="en-US" dirty="0" err="1">
                <a:solidFill>
                  <a:srgbClr val="00B0F0"/>
                </a:solidFill>
              </a:rPr>
              <a:t>fordeling</a:t>
            </a:r>
            <a:r>
              <a:rPr lang="en-US" dirty="0">
                <a:solidFill>
                  <a:srgbClr val="00B0F0"/>
                </a:solidFill>
              </a:rPr>
              <a:t>. </a:t>
            </a:r>
            <a:r>
              <a:rPr lang="en-US" dirty="0" err="1">
                <a:solidFill>
                  <a:srgbClr val="00B0F0"/>
                </a:solidFill>
              </a:rPr>
              <a:t>Så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kan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servicetiden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fortolkes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som</a:t>
            </a:r>
            <a:r>
              <a:rPr lang="en-US" dirty="0">
                <a:solidFill>
                  <a:srgbClr val="00B0F0"/>
                </a:solidFill>
              </a:rPr>
              <a:t> at man </a:t>
            </a:r>
            <a:r>
              <a:rPr lang="en-US" dirty="0" err="1">
                <a:solidFill>
                  <a:srgbClr val="00B0F0"/>
                </a:solidFill>
              </a:rPr>
              <a:t>gennemgår</a:t>
            </a:r>
            <a:r>
              <a:rPr lang="en-US" dirty="0">
                <a:solidFill>
                  <a:srgbClr val="00B0F0"/>
                </a:solidFill>
              </a:rPr>
              <a:t> k </a:t>
            </a:r>
            <a:r>
              <a:rPr lang="en-US" dirty="0" err="1">
                <a:solidFill>
                  <a:srgbClr val="00B0F0"/>
                </a:solidFill>
              </a:rPr>
              <a:t>faser</a:t>
            </a:r>
            <a:r>
              <a:rPr lang="en-US" dirty="0">
                <a:solidFill>
                  <a:srgbClr val="00B0F0"/>
                </a:solidFill>
              </a:rPr>
              <a:t> der all er </a:t>
            </a:r>
            <a:r>
              <a:rPr lang="en-US" dirty="0" err="1">
                <a:solidFill>
                  <a:srgbClr val="00B0F0"/>
                </a:solidFill>
              </a:rPr>
              <a:t>eksponential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fordelte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Og </a:t>
            </a:r>
            <a:r>
              <a:rPr lang="en-US" dirty="0" err="1">
                <a:solidFill>
                  <a:srgbClr val="00B050"/>
                </a:solidFill>
              </a:rPr>
              <a:t>så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kan</a:t>
            </a:r>
            <a:r>
              <a:rPr lang="en-US" dirty="0">
                <a:solidFill>
                  <a:srgbClr val="00B050"/>
                </a:solidFill>
              </a:rPr>
              <a:t> man </a:t>
            </a:r>
            <a:r>
              <a:rPr lang="en-US" dirty="0" err="1">
                <a:solidFill>
                  <a:srgbClr val="00B050"/>
                </a:solidFill>
              </a:rPr>
              <a:t>stadig</a:t>
            </a:r>
            <a:r>
              <a:rPr lang="en-US" dirty="0">
                <a:solidFill>
                  <a:srgbClr val="00B050"/>
                </a:solidFill>
              </a:rPr>
              <a:t> lave </a:t>
            </a:r>
            <a:r>
              <a:rPr lang="en-US" dirty="0" err="1">
                <a:solidFill>
                  <a:srgbClr val="00B050"/>
                </a:solidFill>
              </a:rPr>
              <a:t>hopdiagrammer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løse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>
                <a:solidFill>
                  <a:srgbClr val="00B050"/>
                </a:solidFill>
              </a:rPr>
              <a:t>måske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kun</a:t>
            </a:r>
            <a:r>
              <a:rPr lang="en-US" dirty="0">
                <a:solidFill>
                  <a:srgbClr val="00B050"/>
                </a:solidFill>
              </a:rPr>
              <a:t> nu </a:t>
            </a:r>
            <a:r>
              <a:rPr lang="en-US" dirty="0" err="1">
                <a:solidFill>
                  <a:srgbClr val="00B050"/>
                </a:solidFill>
              </a:rPr>
              <a:t>numerisk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dirty="0" err="1">
                <a:solidFill>
                  <a:srgbClr val="00B050"/>
                </a:solidFill>
              </a:rPr>
              <a:t>ligninger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71429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FE7A-B756-7444-83D9-C01F8DD7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11084"/>
          </a:xfrm>
        </p:spPr>
        <p:txBody>
          <a:bodyPr/>
          <a:lstStyle/>
          <a:p>
            <a:pPr algn="ctr"/>
            <a:r>
              <a:rPr lang="en-US" b="1" dirty="0" err="1"/>
              <a:t>Hopdiagram</a:t>
            </a:r>
            <a:r>
              <a:rPr lang="en-US" b="1" dirty="0"/>
              <a:t> for M/E</a:t>
            </a:r>
            <a:r>
              <a:rPr lang="en-US" sz="2000" b="1" dirty="0"/>
              <a:t>k</a:t>
            </a:r>
            <a:r>
              <a:rPr lang="en-US" b="1" dirty="0"/>
              <a:t>/1/∞ system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5DC9EE-901E-05AE-2D07-6FE3D8AAD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442" y="1825625"/>
            <a:ext cx="8260595" cy="5032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0F4F7C-8BB0-CF51-7AA3-8116456184C3}"/>
              </a:ext>
            </a:extLst>
          </p:cNvPr>
          <p:cNvSpPr txBox="1"/>
          <p:nvPr/>
        </p:nvSpPr>
        <p:spPr>
          <a:xfrm>
            <a:off x="9407471" y="1441342"/>
            <a:ext cx="180555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Tilstand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n,r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betyder</a:t>
            </a:r>
            <a:r>
              <a:rPr lang="en-US" dirty="0">
                <a:solidFill>
                  <a:srgbClr val="FF0000"/>
                </a:solidFill>
              </a:rPr>
              <a:t> der er n jobs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systemet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jobbet</a:t>
            </a:r>
            <a:r>
              <a:rPr lang="en-US" dirty="0">
                <a:solidFill>
                  <a:srgbClr val="FF0000"/>
                </a:solidFill>
              </a:rPr>
              <a:t> under </a:t>
            </a:r>
            <a:r>
              <a:rPr lang="en-US" dirty="0" err="1">
                <a:solidFill>
                  <a:srgbClr val="FF0000"/>
                </a:solidFill>
              </a:rPr>
              <a:t>udførelse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resterer</a:t>
            </a:r>
            <a:r>
              <a:rPr lang="en-US" dirty="0">
                <a:solidFill>
                  <a:srgbClr val="FF0000"/>
                </a:solidFill>
              </a:rPr>
              <a:t> r </a:t>
            </a:r>
            <a:r>
              <a:rPr lang="en-US" dirty="0" err="1">
                <a:solidFill>
                  <a:srgbClr val="FF0000"/>
                </a:solidFill>
              </a:rPr>
              <a:t>faser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Vi springer </a:t>
            </a:r>
            <a:r>
              <a:rPr lang="en-US" dirty="0" err="1">
                <a:solidFill>
                  <a:srgbClr val="00B0F0"/>
                </a:solidFill>
              </a:rPr>
              <a:t>fra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tilstand</a:t>
            </a:r>
            <a:r>
              <a:rPr lang="en-US" dirty="0">
                <a:solidFill>
                  <a:srgbClr val="00B0F0"/>
                </a:solidFill>
              </a:rPr>
              <a:t> (</a:t>
            </a:r>
            <a:r>
              <a:rPr lang="en-US" dirty="0" err="1">
                <a:solidFill>
                  <a:srgbClr val="00B0F0"/>
                </a:solidFill>
              </a:rPr>
              <a:t>n,r</a:t>
            </a:r>
            <a:r>
              <a:rPr lang="en-US" dirty="0">
                <a:solidFill>
                  <a:srgbClr val="00B0F0"/>
                </a:solidFill>
              </a:rPr>
              <a:t>)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tilstand</a:t>
            </a:r>
            <a:r>
              <a:rPr lang="en-US" dirty="0">
                <a:solidFill>
                  <a:srgbClr val="00B0F0"/>
                </a:solidFill>
              </a:rPr>
              <a:t> (n,r-1) (</a:t>
            </a:r>
            <a:r>
              <a:rPr lang="en-US" dirty="0" err="1">
                <a:solidFill>
                  <a:srgbClr val="00B0F0"/>
                </a:solidFill>
              </a:rPr>
              <a:t>og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fra</a:t>
            </a:r>
            <a:r>
              <a:rPr lang="en-US" dirty="0">
                <a:solidFill>
                  <a:srgbClr val="00B0F0"/>
                </a:solidFill>
              </a:rPr>
              <a:t> (n,1) </a:t>
            </a:r>
            <a:r>
              <a:rPr lang="en-US" dirty="0" err="1">
                <a:solidFill>
                  <a:srgbClr val="00B0F0"/>
                </a:solidFill>
              </a:rPr>
              <a:t>til</a:t>
            </a:r>
            <a:r>
              <a:rPr lang="en-US" dirty="0">
                <a:solidFill>
                  <a:srgbClr val="00B0F0"/>
                </a:solidFill>
              </a:rPr>
              <a:t> (n-1,k) med </a:t>
            </a:r>
            <a:r>
              <a:rPr lang="en-US" dirty="0" err="1">
                <a:solidFill>
                  <a:srgbClr val="00B0F0"/>
                </a:solidFill>
              </a:rPr>
              <a:t>intensitet</a:t>
            </a:r>
            <a:r>
              <a:rPr lang="en-US" dirty="0">
                <a:solidFill>
                  <a:srgbClr val="00B0F0"/>
                </a:solidFill>
              </a:rPr>
              <a:t> μ/k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Vi springer </a:t>
            </a:r>
            <a:r>
              <a:rPr lang="en-US" dirty="0" err="1">
                <a:solidFill>
                  <a:srgbClr val="00B050"/>
                </a:solidFill>
              </a:rPr>
              <a:t>fra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tilstand</a:t>
            </a:r>
            <a:r>
              <a:rPr lang="en-US" dirty="0">
                <a:solidFill>
                  <a:srgbClr val="00B050"/>
                </a:solidFill>
              </a:rPr>
              <a:t> (</a:t>
            </a:r>
            <a:r>
              <a:rPr lang="en-US" dirty="0" err="1">
                <a:solidFill>
                  <a:srgbClr val="00B050"/>
                </a:solidFill>
              </a:rPr>
              <a:t>n,r</a:t>
            </a:r>
            <a:r>
              <a:rPr lang="en-US" dirty="0">
                <a:solidFill>
                  <a:srgbClr val="00B050"/>
                </a:solidFill>
              </a:rPr>
              <a:t>) </a:t>
            </a:r>
            <a:r>
              <a:rPr lang="en-US" dirty="0" err="1">
                <a:solidFill>
                  <a:srgbClr val="00B050"/>
                </a:solidFill>
              </a:rPr>
              <a:t>til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tilstand</a:t>
            </a:r>
            <a:r>
              <a:rPr lang="en-US" dirty="0">
                <a:solidFill>
                  <a:srgbClr val="00B050"/>
                </a:solidFill>
              </a:rPr>
              <a:t> (n+1,r) med </a:t>
            </a:r>
            <a:r>
              <a:rPr lang="en-US" dirty="0" err="1">
                <a:solidFill>
                  <a:srgbClr val="00B050"/>
                </a:solidFill>
              </a:rPr>
              <a:t>intensitet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l-GR" dirty="0">
                <a:solidFill>
                  <a:srgbClr val="00B050"/>
                </a:solidFill>
              </a:rPr>
              <a:t>λ</a:t>
            </a:r>
            <a:r>
              <a:rPr lang="en-US" dirty="0">
                <a:solidFill>
                  <a:srgbClr val="00B050"/>
                </a:solidFill>
              </a:rPr>
              <a:t> 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18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9575-6638-E13A-5A02-CE28158E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/>
              <a:t>G/G/s/∞ </a:t>
            </a:r>
            <a:r>
              <a:rPr lang="en-US" b="1" dirty="0" err="1"/>
              <a:t>kømodellen</a:t>
            </a:r>
            <a:endParaRPr lang="da-DK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F43AC6-7120-BFAA-3C15-7A1645A3EF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En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helt</a:t>
                </a:r>
                <a:r>
                  <a:rPr lang="en-US" b="1" dirty="0">
                    <a:solidFill>
                      <a:srgbClr val="FF0000"/>
                    </a:solidFill>
                  </a:rPr>
                  <a:t> general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kømodel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som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ikke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lader</a:t>
                </a:r>
                <a:r>
                  <a:rPr lang="en-US" dirty="0">
                    <a:solidFill>
                      <a:srgbClr val="FF0000"/>
                    </a:solidFill>
                  </a:rPr>
                  <a:t> sig </a:t>
                </a:r>
                <a:r>
                  <a:rPr lang="en-US" dirty="0" err="1">
                    <a:solidFill>
                      <a:srgbClr val="FF0000"/>
                    </a:solidFill>
                  </a:rPr>
                  <a:t>analysere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eksakt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00B0F0"/>
                    </a:solidFill>
                  </a:rPr>
                  <a:t>Ankomst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intervaller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beskrives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af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stokastisk</a:t>
                </a:r>
                <a:r>
                  <a:rPr lang="en-US" dirty="0">
                    <a:solidFill>
                      <a:srgbClr val="00B0F0"/>
                    </a:solidFill>
                  </a:rPr>
                  <a:t> variable X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</a:rPr>
                  <a:t>Service </a:t>
                </a:r>
                <a:r>
                  <a:rPr lang="en-US" dirty="0" err="1">
                    <a:solidFill>
                      <a:srgbClr val="00B0F0"/>
                    </a:solidFill>
                  </a:rPr>
                  <a:t>tider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beskrives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af</a:t>
                </a:r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 err="1">
                    <a:solidFill>
                      <a:srgbClr val="00B0F0"/>
                    </a:solidFill>
                  </a:rPr>
                  <a:t>stokastisk</a:t>
                </a:r>
                <a:r>
                  <a:rPr lang="en-US" dirty="0">
                    <a:solidFill>
                      <a:srgbClr val="00B0F0"/>
                    </a:solidFill>
                  </a:rPr>
                  <a:t> variable 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Med </a:t>
                </a:r>
                <a:r>
                  <a:rPr lang="en-US" dirty="0" err="1">
                    <a:solidFill>
                      <a:srgbClr val="00B050"/>
                    </a:solidFill>
                  </a:rPr>
                  <a:t>variationskoefficienter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 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Variations </a:t>
                </a:r>
                <a:r>
                  <a:rPr lang="en-US" dirty="0" err="1">
                    <a:solidFill>
                      <a:srgbClr val="00B050"/>
                    </a:solidFill>
                  </a:rPr>
                  <a:t>koefficienten</a:t>
                </a:r>
                <a:r>
                  <a:rPr lang="en-US" dirty="0">
                    <a:solidFill>
                      <a:srgbClr val="00B050"/>
                    </a:solidFill>
                  </a:rPr>
                  <a:t> er et </a:t>
                </a:r>
                <a:r>
                  <a:rPr lang="en-US" dirty="0" err="1">
                    <a:solidFill>
                      <a:srgbClr val="00B050"/>
                    </a:solidFill>
                  </a:rPr>
                  <a:t>mål</a:t>
                </a:r>
                <a:r>
                  <a:rPr lang="en-US" dirty="0">
                    <a:solidFill>
                      <a:srgbClr val="00B050"/>
                    </a:solidFill>
                  </a:rPr>
                  <a:t> for </a:t>
                </a:r>
                <a:r>
                  <a:rPr lang="en-US" dirty="0" err="1">
                    <a:solidFill>
                      <a:srgbClr val="00B050"/>
                    </a:solidFill>
                  </a:rPr>
                  <a:t>usikkerheden</a:t>
                </a: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F43AC6-7120-BFAA-3C15-7A1645A3EF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5"/>
                <a:ext cx="12192000" cy="5032374"/>
              </a:xfrm>
              <a:blipFill>
                <a:blip r:embed="rId2"/>
                <a:stretch>
                  <a:fillRect l="-1000" t="-266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915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BC1E-6EF9-47B2-91CC-D17BE9C3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33592"/>
          </a:xfrm>
        </p:spPr>
        <p:txBody>
          <a:bodyPr/>
          <a:lstStyle/>
          <a:p>
            <a:pPr algn="ctr"/>
            <a:r>
              <a:rPr lang="en-US" b="1" dirty="0"/>
              <a:t>G/G/s/∞ </a:t>
            </a:r>
            <a:r>
              <a:rPr lang="en-US" b="1" dirty="0" err="1"/>
              <a:t>kømodellen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C7423-8C43-0E02-0EFB-C7EB4ECF6E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25624"/>
                <a:ext cx="121920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Udnyttelsesgraden </a:t>
                </a:r>
                <a:r>
                  <a:rPr lang="el-GR" dirty="0">
                    <a:solidFill>
                      <a:srgbClr val="FF0000"/>
                    </a:solidFill>
                  </a:rPr>
                  <a:t>ρ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bestemmes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som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>
                    <a:solidFill>
                      <a:srgbClr val="00B0F0"/>
                    </a:solidFill>
                  </a:rPr>
                  <a:t>Antal ankomster pr TE: 1/E[X]</a:t>
                </a:r>
              </a:p>
              <a:p>
                <a:pPr marL="0" indent="0">
                  <a:buNone/>
                </a:pPr>
                <a:endParaRPr lang="da-DK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da-DK" dirty="0">
                    <a:solidFill>
                      <a:srgbClr val="00B0F0"/>
                    </a:solidFill>
                  </a:rPr>
                  <a:t>Antal jobs der kan forarbejdes pr. TE: s/E[Y]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50"/>
                    </a:solidFill>
                  </a:rPr>
                  <a:t>Så </a:t>
                </a:r>
                <a:r>
                  <a:rPr lang="en-US" dirty="0" err="1">
                    <a:solidFill>
                      <a:srgbClr val="00B050"/>
                    </a:solidFill>
                  </a:rPr>
                  <a:t>ved</a:t>
                </a:r>
                <a:r>
                  <a:rPr lang="en-US" dirty="0">
                    <a:solidFill>
                      <a:srgbClr val="00B050"/>
                    </a:solidFill>
                  </a:rPr>
                  <a:t> at </a:t>
                </a:r>
                <a:r>
                  <a:rPr lang="en-US" dirty="0" err="1">
                    <a:solidFill>
                      <a:srgbClr val="00B050"/>
                    </a:solidFill>
                  </a:rPr>
                  <a:t>dividere</a:t>
                </a:r>
                <a:r>
                  <a:rPr lang="en-US" dirty="0">
                    <a:solidFill>
                      <a:srgbClr val="00B050"/>
                    </a:solidFill>
                  </a:rPr>
                  <a:t> det </a:t>
                </a:r>
                <a:r>
                  <a:rPr lang="en-US" dirty="0" err="1">
                    <a:solidFill>
                      <a:srgbClr val="00B050"/>
                    </a:solidFill>
                  </a:rPr>
                  <a:t>øverste</a:t>
                </a:r>
                <a:r>
                  <a:rPr lang="en-US" dirty="0">
                    <a:solidFill>
                      <a:srgbClr val="00B050"/>
                    </a:solidFill>
                  </a:rPr>
                  <a:t> med det </a:t>
                </a:r>
                <a:r>
                  <a:rPr lang="en-US" dirty="0" err="1">
                    <a:solidFill>
                      <a:srgbClr val="00B050"/>
                    </a:solidFill>
                  </a:rPr>
                  <a:t>nederste</a:t>
                </a:r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</a:rPr>
                  <a:t>fås</a:t>
                </a:r>
                <a:r>
                  <a:rPr lang="en-US" dirty="0">
                    <a:solidFill>
                      <a:srgbClr val="00B050"/>
                    </a:solidFill>
                  </a:rPr>
                  <a:t> at </a:t>
                </a:r>
                <a:r>
                  <a:rPr lang="en-US" dirty="0" err="1">
                    <a:solidFill>
                      <a:srgbClr val="00B050"/>
                    </a:solidFill>
                  </a:rPr>
                  <a:t>udnyttelsesgraden</a:t>
                </a:r>
                <a:r>
                  <a:rPr lang="en-US" dirty="0">
                    <a:solidFill>
                      <a:srgbClr val="00B050"/>
                    </a:solidFill>
                  </a:rPr>
                  <a:t> er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𝑠𝐸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C7423-8C43-0E02-0EFB-C7EB4ECF6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25624"/>
                <a:ext cx="12192000" cy="5032375"/>
              </a:xfrm>
              <a:blipFill>
                <a:blip r:embed="rId2"/>
                <a:stretch>
                  <a:fillRect l="-1000" t="-193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80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0756-D9C0-2F85-91D5-9EFB6452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8385"/>
          </a:xfrm>
        </p:spPr>
        <p:txBody>
          <a:bodyPr/>
          <a:lstStyle/>
          <a:p>
            <a:pPr algn="ctr"/>
            <a:r>
              <a:rPr lang="en-US" b="1" dirty="0"/>
              <a:t>G/G/s/∞ </a:t>
            </a:r>
            <a:r>
              <a:rPr lang="en-US" b="1" dirty="0" err="1"/>
              <a:t>kømodellen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8211C4-DD5B-06F4-85B7-F796899557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62373"/>
                <a:ext cx="12192000" cy="569562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En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approksimativ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formel</a:t>
                </a:r>
                <a:r>
                  <a:rPr lang="en-US" dirty="0">
                    <a:solidFill>
                      <a:srgbClr val="FF0000"/>
                    </a:solidFill>
                  </a:rPr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2(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e>
                              </m:rad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>
                    <a:solidFill>
                      <a:srgbClr val="FF0000"/>
                    </a:solidFill>
                  </a:rPr>
                  <a:t>og (</a:t>
                </a:r>
                <a:r>
                  <a:rPr lang="da-DK" dirty="0" err="1">
                    <a:solidFill>
                      <a:srgbClr val="FF0000"/>
                    </a:solidFill>
                  </a:rPr>
                  <a:t>Little’s</a:t>
                </a:r>
                <a:r>
                  <a:rPr lang="da-DK" dirty="0">
                    <a:solidFill>
                      <a:srgbClr val="FF0000"/>
                    </a:solidFill>
                  </a:rPr>
                  <a:t> lov)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2(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e>
                              </m:rad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8211C4-DD5B-06F4-85B7-F79689955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62373"/>
                <a:ext cx="12192000" cy="5695626"/>
              </a:xfrm>
              <a:blipFill>
                <a:blip r:embed="rId2"/>
                <a:stretch>
                  <a:fillRect l="-1000" t="-182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180B3A7-735F-761F-9A84-BD25700F943D}"/>
              </a:ext>
            </a:extLst>
          </p:cNvPr>
          <p:cNvSpPr txBox="1"/>
          <p:nvPr/>
        </p:nvSpPr>
        <p:spPr>
          <a:xfrm>
            <a:off x="7501180" y="2163526"/>
            <a:ext cx="30841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For at </a:t>
            </a:r>
            <a:r>
              <a:rPr lang="en-US" dirty="0" err="1">
                <a:solidFill>
                  <a:srgbClr val="00B050"/>
                </a:solidFill>
              </a:rPr>
              <a:t>kontrollere</a:t>
            </a:r>
            <a:r>
              <a:rPr lang="en-US" dirty="0">
                <a:solidFill>
                  <a:srgbClr val="00B050"/>
                </a:solidFill>
              </a:rPr>
              <a:t> et </a:t>
            </a:r>
            <a:r>
              <a:rPr lang="en-US" dirty="0" err="1">
                <a:solidFill>
                  <a:srgbClr val="00B050"/>
                </a:solidFill>
              </a:rPr>
              <a:t>køssystem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skal</a:t>
            </a:r>
            <a:r>
              <a:rPr lang="en-US" dirty="0">
                <a:solidFill>
                  <a:srgbClr val="00B050"/>
                </a:solidFill>
              </a:rPr>
              <a:t> vi </a:t>
            </a:r>
            <a:r>
              <a:rPr lang="en-US" dirty="0" err="1">
                <a:solidFill>
                  <a:srgbClr val="00B050"/>
                </a:solidFill>
              </a:rPr>
              <a:t>kunne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styre</a:t>
            </a:r>
            <a:r>
              <a:rPr lang="en-US" dirty="0">
                <a:solidFill>
                  <a:srgbClr val="00B050"/>
                </a:solidFill>
              </a:rPr>
              <a:t> to ting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C000"/>
                </a:solidFill>
              </a:rPr>
              <a:t>Planlægge</a:t>
            </a:r>
            <a:r>
              <a:rPr lang="en-US" dirty="0">
                <a:solidFill>
                  <a:srgbClr val="FFC000"/>
                </a:solidFill>
              </a:rPr>
              <a:t> et </a:t>
            </a:r>
            <a:r>
              <a:rPr lang="en-US" dirty="0" err="1">
                <a:solidFill>
                  <a:srgbClr val="FFC000"/>
                </a:solidFill>
              </a:rPr>
              <a:t>fornuftigt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niveau</a:t>
            </a:r>
            <a:r>
              <a:rPr lang="en-US" dirty="0">
                <a:solidFill>
                  <a:srgbClr val="FFC000"/>
                </a:solidFill>
              </a:rPr>
              <a:t> for </a:t>
            </a:r>
            <a:r>
              <a:rPr lang="en-US" dirty="0" err="1">
                <a:solidFill>
                  <a:srgbClr val="FFC000"/>
                </a:solidFill>
              </a:rPr>
              <a:t>udnyttelsesgraden</a:t>
            </a: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solidFill>
                  <a:srgbClr val="7030A0"/>
                </a:solidFill>
              </a:rPr>
              <a:t>Få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styr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på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variationen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både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hvad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angår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ankomster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og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servicetider</a:t>
            </a:r>
            <a:r>
              <a:rPr lang="en-US" dirty="0">
                <a:solidFill>
                  <a:srgbClr val="7030A0"/>
                </a:solidFill>
              </a:rPr>
              <a:t>: </a:t>
            </a:r>
            <a:r>
              <a:rPr lang="en-US" dirty="0" err="1">
                <a:solidFill>
                  <a:srgbClr val="7030A0"/>
                </a:solidFill>
              </a:rPr>
              <a:t>dvs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fokuser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på</a:t>
            </a:r>
            <a:r>
              <a:rPr lang="en-US" dirty="0">
                <a:solidFill>
                  <a:srgbClr val="7030A0"/>
                </a:solidFill>
              </a:rPr>
              <a:t> at </a:t>
            </a:r>
            <a:r>
              <a:rPr lang="en-US" dirty="0" err="1">
                <a:solidFill>
                  <a:srgbClr val="7030A0"/>
                </a:solidFill>
              </a:rPr>
              <a:t>standardisere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processerne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og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opdrag</a:t>
            </a:r>
            <a:r>
              <a:rPr lang="en-US" dirty="0">
                <a:solidFill>
                  <a:srgbClr val="7030A0"/>
                </a:solidFill>
              </a:rPr>
              <a:t> (nudge) </a:t>
            </a:r>
            <a:r>
              <a:rPr lang="en-US" dirty="0" err="1">
                <a:solidFill>
                  <a:srgbClr val="7030A0"/>
                </a:solidFill>
              </a:rPr>
              <a:t>kunderne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til</a:t>
            </a:r>
            <a:r>
              <a:rPr lang="en-US" dirty="0">
                <a:solidFill>
                  <a:srgbClr val="7030A0"/>
                </a:solidFill>
              </a:rPr>
              <a:t> at </a:t>
            </a:r>
            <a:r>
              <a:rPr lang="en-US" dirty="0" err="1">
                <a:solidFill>
                  <a:srgbClr val="7030A0"/>
                </a:solidFill>
              </a:rPr>
              <a:t>ankomme</a:t>
            </a:r>
            <a:r>
              <a:rPr lang="en-US" dirty="0">
                <a:solidFill>
                  <a:srgbClr val="7030A0"/>
                </a:solidFill>
              </a:rPr>
              <a:t> mere </a:t>
            </a:r>
            <a:r>
              <a:rPr lang="en-US" dirty="0" err="1">
                <a:solidFill>
                  <a:srgbClr val="7030A0"/>
                </a:solidFill>
              </a:rPr>
              <a:t>regelmæssigt</a:t>
            </a:r>
            <a:endParaRPr lang="da-DK" dirty="0">
              <a:solidFill>
                <a:srgbClr val="7030A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45399-03C9-F1B3-5856-BF1FF5916060}"/>
              </a:ext>
            </a:extLst>
          </p:cNvPr>
          <p:cNvCxnSpPr/>
          <p:nvPr/>
        </p:nvCxnSpPr>
        <p:spPr>
          <a:xfrm flipH="1" flipV="1">
            <a:off x="4843220" y="1720312"/>
            <a:ext cx="2712204" cy="1619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BAA841-2D0F-490E-27A4-24E430BA2CAE}"/>
              </a:ext>
            </a:extLst>
          </p:cNvPr>
          <p:cNvCxnSpPr/>
          <p:nvPr/>
        </p:nvCxnSpPr>
        <p:spPr>
          <a:xfrm flipH="1" flipV="1">
            <a:off x="1697064" y="1666068"/>
            <a:ext cx="3146156" cy="54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74F011-8747-EAAD-EA6F-6AACD05B9E03}"/>
              </a:ext>
            </a:extLst>
          </p:cNvPr>
          <p:cNvCxnSpPr/>
          <p:nvPr/>
        </p:nvCxnSpPr>
        <p:spPr>
          <a:xfrm flipH="1">
            <a:off x="1542081" y="1693190"/>
            <a:ext cx="154983" cy="220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5E765D-5079-328E-1D55-D6FB3B1684B8}"/>
              </a:ext>
            </a:extLst>
          </p:cNvPr>
          <p:cNvCxnSpPr/>
          <p:nvPr/>
        </p:nvCxnSpPr>
        <p:spPr>
          <a:xfrm flipH="1" flipV="1">
            <a:off x="3727342" y="2828441"/>
            <a:ext cx="3828082" cy="1503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47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2340</Words>
  <Application>Microsoft Office PowerPoint</Application>
  <PresentationFormat>Widescreen</PresentationFormat>
  <Paragraphs>266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Times New Roman</vt:lpstr>
      <vt:lpstr>Office Theme</vt:lpstr>
      <vt:lpstr>Køteori</vt:lpstr>
      <vt:lpstr>Hvad er køteori</vt:lpstr>
      <vt:lpstr>Possible structures (I)</vt:lpstr>
      <vt:lpstr>Possible structure (II)</vt:lpstr>
      <vt:lpstr>Possible structure (III)?</vt:lpstr>
      <vt:lpstr>Terminologi og notation</vt:lpstr>
      <vt:lpstr>Performancemål</vt:lpstr>
      <vt:lpstr>Klassifikation af køsystemer</vt:lpstr>
      <vt:lpstr>Little’s lov</vt:lpstr>
      <vt:lpstr>Little’s lov</vt:lpstr>
      <vt:lpstr>Littles’ lov</vt:lpstr>
      <vt:lpstr>Det klassiske M/M/1/∞ køsystem</vt:lpstr>
      <vt:lpstr>HL Property 2 p. 769</vt:lpstr>
      <vt:lpstr>HL Property 5, p. 771</vt:lpstr>
      <vt:lpstr>Kombiner Property 2 og 5</vt:lpstr>
      <vt:lpstr>Indføj begrebet systemtilstand i analysen</vt:lpstr>
      <vt:lpstr>Omskrive til differential kvotienter</vt:lpstr>
      <vt:lpstr>Omskrive til differential kvotienter</vt:lpstr>
      <vt:lpstr>Overkill at løse differential ligninger?</vt:lpstr>
      <vt:lpstr>Hvad betyder steady state i vores model?</vt:lpstr>
      <vt:lpstr>Bestemmelse af ligevægtsandsynligheder</vt:lpstr>
      <vt:lpstr>Løsningsteknik</vt:lpstr>
      <vt:lpstr>Løsningsteknik</vt:lpstr>
      <vt:lpstr>Performancemål for M/M/1/∞ system</vt:lpstr>
      <vt:lpstr>Performancemål for M/M/1/∞ system</vt:lpstr>
      <vt:lpstr>Betydning af ρ</vt:lpstr>
      <vt:lpstr>Andre køsystemer af type M/M</vt:lpstr>
      <vt:lpstr>Hvad nu hvis antagelser om eksponentilal fordelinger ikke holder?</vt:lpstr>
      <vt:lpstr>Erlang fordelingen</vt:lpstr>
      <vt:lpstr>Erlang fordelingen</vt:lpstr>
      <vt:lpstr>Hopdiagram for M/Ek/1/∞ system</vt:lpstr>
      <vt:lpstr>G/G/s/∞ kømodellen</vt:lpstr>
      <vt:lpstr>G/G/s/∞ kømodellen</vt:lpstr>
      <vt:lpstr>G/G/s/∞ kømodellen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Køteori</dc:title>
  <dc:creator>Christian Larsen</dc:creator>
  <cp:lastModifiedBy>Christian Larsen</cp:lastModifiedBy>
  <cp:revision>25</cp:revision>
  <dcterms:created xsi:type="dcterms:W3CDTF">2023-10-10T08:41:19Z</dcterms:created>
  <dcterms:modified xsi:type="dcterms:W3CDTF">2023-11-30T12:25:41Z</dcterms:modified>
</cp:coreProperties>
</file>