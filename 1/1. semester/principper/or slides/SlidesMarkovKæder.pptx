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13E41-4509-0828-9781-CF6FE6408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461AB-9E23-596F-4983-9BE8BD934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1E36A-6B90-B3B8-32F1-C64AE276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C2AC5-E059-ADCE-9F5E-64BFCF0F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C735-CE7F-27BD-C56E-3653A50C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681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6FBF3-B428-FACE-1AEF-89E33BDC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BBCD5-33C1-8FA1-4794-935BD03D1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DEFD0-0770-7CFE-5F4B-7384EF02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1A3F3-4FD9-63FB-CCD1-B1243CC0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0C46E-7134-7858-0277-2FEC8736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5065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05FB-065C-5735-EBB1-ECC32AE3F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30C91-D536-6E47-872F-814C26B70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6D9E5-F85C-495A-D15F-2281E3E44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21E66-2406-B9A8-CA69-F849C0AD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8874D-913E-749D-C458-731B52F4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508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92541-EB36-D2BF-605A-B9853F08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504F-54EB-9F6E-FD8D-A38F713DD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2D352-7EA5-8EF8-0F61-F09AD7AA6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E62D6-97DF-BE2A-750A-127B5561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F8463-DE1B-7A62-A70D-45C9965D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A196F-9C77-7227-0C5D-5C0CAC63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245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469D-A1BC-F229-1CE5-C023795B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942F1-E243-6C21-EA86-B91BD1C47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BDF64-77D7-0B5A-FE81-F35AD85AC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FF540-8585-A1D2-7CE0-96E61BCEEC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C79E3-E9A5-C82A-A155-49B14FC10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2EC5D7-17C4-01FF-2E31-DEFA205D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4E56B-E64B-E038-B6B8-7B4D919C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F92C9E-D497-7EE0-D274-D12ED92E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5419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22C6C-C045-9128-B7B4-9583C9C97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D8EE-C32C-A4EF-D53C-40600FD57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3C94F-E048-BB23-9270-CE8212E6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208E3-926E-CEC8-AF38-03E39D70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0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E4C5E-A065-227E-8D73-A21B5323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D0430-8B8D-C7D0-9A5E-0CF81BF3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3B651-EA64-3A09-4302-EF62E73B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040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BA67A-CBBD-C61D-2CD6-AC9CFDF5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AE7F8-BF46-2836-3013-BBB02E0F8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2CA90-6B24-4F00-325B-2480EB472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AAE78-C8A2-698E-F233-51AA21335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F9F8D-6E7B-0450-11A1-94949C514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AFAAF-9001-0519-CE93-595B9CA6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296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227CA-803A-46C1-4A37-848DAA536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79795C-92E1-792E-AF98-2A3C8E0E3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1B1E3-2436-050D-66A6-DB686790F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9DFAF-8E32-DE7B-8BAB-396D5B607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AD2AD-C835-82AA-091D-39FA2FD9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AD3B9-4C20-9328-D89E-DDA04858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6526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8705-878F-DBC6-9129-4A38DEB0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335FA-C39E-F22F-D8B3-0DEA94283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9E0DA-5705-84A3-0990-58B55D9A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57CE3-4539-33B5-E0EE-17C4288E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55F5A-307F-0B7E-C23B-28D4560E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645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29F96-C488-A019-FA01-95626E0CD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9C3C7-9896-EADA-B068-395154D35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287EE-491B-D954-19DC-6976A25A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67115-5858-525D-9B3B-AB4380EB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5792D-346A-1103-35F5-53B9B599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7939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FF196-0D77-AD9F-9EC4-18C1FA0E7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2BA00-52E4-B9BC-A551-C362D9ADC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D6830-CC51-495B-09AD-8252B2F5A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0072F-B9B0-47E0-8F42-D5AB5053B7B6}" type="datetimeFigureOut">
              <a:rPr lang="da-DK" smtClean="0"/>
              <a:t>20-10-2023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01A12-B29A-76D0-FF53-34E78A834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5CF75-9DB1-5DA9-A976-330A7FCA5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DC8AC-8BC0-48F2-90B5-768A40C472D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6688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0529-979C-16C4-DC50-BEC05501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Markov </a:t>
            </a:r>
            <a:r>
              <a:rPr lang="en-US" b="1" dirty="0" err="1"/>
              <a:t>kæder</a:t>
            </a:r>
            <a:endParaRPr lang="da-DK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E97942-B4B8-E8EA-71FF-0C73DB4FEA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25625"/>
                <a:ext cx="12192000" cy="503237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En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stokastisk</a:t>
                </a:r>
                <a:r>
                  <a:rPr lang="en-US" b="1" dirty="0">
                    <a:solidFill>
                      <a:srgbClr val="FF0000"/>
                    </a:solidFill>
                  </a:rPr>
                  <a:t> process</a:t>
                </a:r>
              </a:p>
              <a:p>
                <a:pPr marL="0" indent="0">
                  <a:buNone/>
                </a:pPr>
                <a:r>
                  <a:rPr lang="da-DK" dirty="0">
                    <a:solidFill>
                      <a:srgbClr val="FF0000"/>
                    </a:solidFill>
                  </a:rPr>
                  <a:t>er en sekvens af stokastiske variable indiceret </a:t>
                </a:r>
                <a:r>
                  <a:rPr lang="da-DK" dirty="0" err="1">
                    <a:solidFill>
                      <a:srgbClr val="FF0000"/>
                    </a:solidFill>
                  </a:rPr>
                  <a:t>vha</a:t>
                </a:r>
                <a:r>
                  <a:rPr lang="da-DK" dirty="0">
                    <a:solidFill>
                      <a:srgbClr val="FF0000"/>
                    </a:solidFill>
                  </a:rPr>
                  <a:t> tid</a:t>
                </a:r>
              </a:p>
              <a:p>
                <a:pPr marL="0" indent="0">
                  <a:buNone/>
                </a:pPr>
                <a:endParaRPr lang="da-DK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,…..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 algn="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Markov </a:t>
                </a:r>
                <a:r>
                  <a:rPr lang="en-US" b="1" dirty="0" err="1">
                    <a:solidFill>
                      <a:srgbClr val="00B0F0"/>
                    </a:solidFill>
                  </a:rPr>
                  <a:t>egenskab</a:t>
                </a:r>
                <a:r>
                  <a:rPr lang="en-US" b="1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betyder</a:t>
                </a:r>
                <a:r>
                  <a:rPr lang="en-US" dirty="0">
                    <a:solidFill>
                      <a:srgbClr val="00B0F0"/>
                    </a:solidFill>
                  </a:rPr>
                  <a:t> at </a:t>
                </a:r>
                <a:r>
                  <a:rPr lang="en-US" dirty="0" err="1">
                    <a:solidFill>
                      <a:srgbClr val="00B0F0"/>
                    </a:solidFill>
                  </a:rPr>
                  <a:t>når</a:t>
                </a:r>
                <a:r>
                  <a:rPr lang="en-US" dirty="0">
                    <a:solidFill>
                      <a:srgbClr val="00B0F0"/>
                    </a:solidFill>
                  </a:rPr>
                  <a:t> vi </a:t>
                </a:r>
                <a:r>
                  <a:rPr lang="en-US" dirty="0" err="1">
                    <a:solidFill>
                      <a:srgbClr val="00B0F0"/>
                    </a:solidFill>
                  </a:rPr>
                  <a:t>skal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evaluere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sandsynlighederne</a:t>
                </a:r>
                <a:r>
                  <a:rPr lang="en-US" dirty="0">
                    <a:solidFill>
                      <a:srgbClr val="00B0F0"/>
                    </a:solidFill>
                  </a:rPr>
                  <a:t> for </a:t>
                </a:r>
                <a:r>
                  <a:rPr lang="en-US" dirty="0" err="1">
                    <a:solidFill>
                      <a:srgbClr val="00B0F0"/>
                    </a:solidFill>
                  </a:rPr>
                  <a:t>hvilke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tilstande</a:t>
                </a:r>
                <a:r>
                  <a:rPr lang="en-US" dirty="0">
                    <a:solidFill>
                      <a:srgbClr val="00B0F0"/>
                    </a:solidFill>
                  </a:rPr>
                  <a:t> vi er </a:t>
                </a:r>
                <a:r>
                  <a:rPr lang="en-US" dirty="0" err="1">
                    <a:solidFill>
                      <a:srgbClr val="00B0F0"/>
                    </a:solidFill>
                  </a:rPr>
                  <a:t>i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på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tidspunkt</a:t>
                </a:r>
                <a:r>
                  <a:rPr lang="en-US" dirty="0">
                    <a:solidFill>
                      <a:srgbClr val="00B0F0"/>
                    </a:solidFill>
                  </a:rPr>
                  <a:t> t+1 </a:t>
                </a:r>
                <a:r>
                  <a:rPr lang="en-US" dirty="0" err="1">
                    <a:solidFill>
                      <a:srgbClr val="00B0F0"/>
                    </a:solidFill>
                  </a:rPr>
                  <a:t>så</a:t>
                </a:r>
                <a:r>
                  <a:rPr lang="en-US" dirty="0">
                    <a:solidFill>
                      <a:srgbClr val="00B0F0"/>
                    </a:solidFill>
                  </a:rPr>
                  <a:t> er det </a:t>
                </a:r>
                <a:r>
                  <a:rPr lang="en-US" dirty="0" err="1">
                    <a:solidFill>
                      <a:srgbClr val="00B0F0"/>
                    </a:solidFill>
                  </a:rPr>
                  <a:t>nok</a:t>
                </a:r>
                <a:r>
                  <a:rPr lang="en-US" dirty="0">
                    <a:solidFill>
                      <a:srgbClr val="00B0F0"/>
                    </a:solidFill>
                  </a:rPr>
                  <a:t> at vide </a:t>
                </a:r>
                <a:r>
                  <a:rPr lang="en-US" dirty="0" err="1">
                    <a:solidFill>
                      <a:srgbClr val="00B0F0"/>
                    </a:solidFill>
                  </a:rPr>
                  <a:t>hvilken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tilstand</a:t>
                </a:r>
                <a:r>
                  <a:rPr lang="en-US" dirty="0">
                    <a:solidFill>
                      <a:srgbClr val="00B0F0"/>
                    </a:solidFill>
                  </a:rPr>
                  <a:t> vi er </a:t>
                </a:r>
                <a:r>
                  <a:rPr lang="en-US" dirty="0" err="1">
                    <a:solidFill>
                      <a:srgbClr val="00B0F0"/>
                    </a:solidFill>
                  </a:rPr>
                  <a:t>i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på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tidspunkt</a:t>
                </a:r>
                <a:r>
                  <a:rPr lang="en-US" dirty="0">
                    <a:solidFill>
                      <a:srgbClr val="00B0F0"/>
                    </a:solidFill>
                  </a:rPr>
                  <a:t> t </a:t>
                </a:r>
                <a:r>
                  <a:rPr lang="en-US" dirty="0"/>
                  <a:t>(</a:t>
                </a:r>
                <a:r>
                  <a:rPr lang="en-US" dirty="0" err="1">
                    <a:solidFill>
                      <a:srgbClr val="00B050"/>
                    </a:solidFill>
                  </a:rPr>
                  <a:t>og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>
                    <a:solidFill>
                      <a:srgbClr val="00B050"/>
                    </a:solidFill>
                  </a:rPr>
                  <a:t>altså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>
                    <a:solidFill>
                      <a:srgbClr val="00B050"/>
                    </a:solidFill>
                  </a:rPr>
                  <a:t>fuldstædig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>
                    <a:solidFill>
                      <a:srgbClr val="00B050"/>
                    </a:solidFill>
                  </a:rPr>
                  <a:t>ligegyldigt</a:t>
                </a:r>
                <a:r>
                  <a:rPr lang="en-US" dirty="0">
                    <a:solidFill>
                      <a:srgbClr val="00B050"/>
                    </a:solidFill>
                  </a:rPr>
                  <a:t> at </a:t>
                </a:r>
                <a:r>
                  <a:rPr lang="en-US" dirty="0" err="1">
                    <a:solidFill>
                      <a:srgbClr val="00B050"/>
                    </a:solidFill>
                  </a:rPr>
                  <a:t>kende</a:t>
                </a:r>
                <a:r>
                  <a:rPr lang="en-US" dirty="0">
                    <a:solidFill>
                      <a:srgbClr val="00B050"/>
                    </a:solidFill>
                  </a:rPr>
                  <a:t> hele </a:t>
                </a:r>
                <a:r>
                  <a:rPr lang="en-US" dirty="0" err="1">
                    <a:solidFill>
                      <a:srgbClr val="00B050"/>
                    </a:solidFill>
                  </a:rPr>
                  <a:t>forhistorien</a:t>
                </a:r>
                <a:r>
                  <a:rPr lang="en-US" dirty="0">
                    <a:solidFill>
                      <a:srgbClr val="00B050"/>
                    </a:solidFill>
                  </a:rPr>
                  <a:t>: </a:t>
                </a:r>
                <a:r>
                  <a:rPr lang="en-US" dirty="0" err="1">
                    <a:solidFill>
                      <a:srgbClr val="00B050"/>
                    </a:solidFill>
                  </a:rPr>
                  <a:t>tilstandene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>
                    <a:solidFill>
                      <a:srgbClr val="00B050"/>
                    </a:solidFill>
                  </a:rPr>
                  <a:t>i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>
                    <a:solidFill>
                      <a:srgbClr val="00B050"/>
                    </a:solidFill>
                  </a:rPr>
                  <a:t>tidspunkt</a:t>
                </a:r>
                <a:r>
                  <a:rPr lang="en-US" dirty="0">
                    <a:solidFill>
                      <a:srgbClr val="00B050"/>
                    </a:solidFill>
                  </a:rPr>
                  <a:t> 0, </a:t>
                </a:r>
                <a:r>
                  <a:rPr lang="en-US" dirty="0" err="1">
                    <a:solidFill>
                      <a:srgbClr val="00B050"/>
                    </a:solidFill>
                  </a:rPr>
                  <a:t>tidspunkt</a:t>
                </a:r>
                <a:r>
                  <a:rPr lang="en-US" dirty="0">
                    <a:solidFill>
                      <a:srgbClr val="00B050"/>
                    </a:solidFill>
                  </a:rPr>
                  <a:t> 1,…, </a:t>
                </a:r>
                <a:r>
                  <a:rPr lang="en-US" dirty="0" err="1">
                    <a:solidFill>
                      <a:srgbClr val="00B050"/>
                    </a:solidFill>
                  </a:rPr>
                  <a:t>tidspunkt</a:t>
                </a:r>
                <a:r>
                  <a:rPr lang="en-US" dirty="0">
                    <a:solidFill>
                      <a:srgbClr val="00B050"/>
                    </a:solidFill>
                  </a:rPr>
                  <a:t> t-1</a:t>
                </a:r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E97942-B4B8-E8EA-71FF-0C73DB4FEA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25625"/>
                <a:ext cx="12192000" cy="5032374"/>
              </a:xfrm>
              <a:blipFill>
                <a:blip r:embed="rId2"/>
                <a:stretch>
                  <a:fillRect l="-1000" t="-193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470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5ADB-010C-2D9E-CDD5-92201028B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Gennemgående</a:t>
            </a:r>
            <a:r>
              <a:rPr lang="en-US" b="1" dirty="0"/>
              <a:t> </a:t>
            </a:r>
            <a:r>
              <a:rPr lang="en-US" b="1" dirty="0" err="1"/>
              <a:t>eksempel</a:t>
            </a:r>
            <a:r>
              <a:rPr lang="en-US" b="1" dirty="0"/>
              <a:t>: </a:t>
            </a:r>
            <a:r>
              <a:rPr lang="en-US" b="1" dirty="0" err="1"/>
              <a:t>Daves</a:t>
            </a:r>
            <a:r>
              <a:rPr lang="en-US" b="1" dirty="0"/>
              <a:t> photography store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71DA5-C9FC-0EE4-13FA-E3755449E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07432"/>
            <a:ext cx="12191999" cy="55505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og</a:t>
            </a:r>
            <a:r>
              <a:rPr lang="en-US" dirty="0"/>
              <a:t> lad </a:t>
            </a:r>
            <a:r>
              <a:rPr lang="en-US" dirty="0" err="1"/>
              <a:t>os</a:t>
            </a:r>
            <a:r>
              <a:rPr lang="en-US" dirty="0"/>
              <a:t> et </a:t>
            </a:r>
            <a:r>
              <a:rPr lang="en-US" dirty="0" err="1"/>
              <a:t>øjeblik</a:t>
            </a:r>
            <a:r>
              <a:rPr lang="en-US" dirty="0"/>
              <a:t> </a:t>
            </a:r>
            <a:r>
              <a:rPr lang="en-US" dirty="0" err="1"/>
              <a:t>glemme</a:t>
            </a:r>
            <a:r>
              <a:rPr lang="en-US" dirty="0"/>
              <a:t> at vi </a:t>
            </a:r>
            <a:r>
              <a:rPr lang="en-US" dirty="0" err="1"/>
              <a:t>bruger</a:t>
            </a:r>
            <a:r>
              <a:rPr lang="en-US" dirty="0"/>
              <a:t> </a:t>
            </a:r>
            <a:r>
              <a:rPr lang="en-US" dirty="0" err="1"/>
              <a:t>vores</a:t>
            </a:r>
            <a:r>
              <a:rPr lang="en-US" dirty="0"/>
              <a:t> </a:t>
            </a:r>
            <a:r>
              <a:rPr lang="en-US" dirty="0" err="1"/>
              <a:t>telefoner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fotografere</a:t>
            </a:r>
            <a:r>
              <a:rPr lang="en-US" dirty="0"/>
              <a:t> med)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Systemet</a:t>
            </a:r>
            <a:r>
              <a:rPr lang="en-US" dirty="0">
                <a:solidFill>
                  <a:srgbClr val="FF0000"/>
                </a:solidFill>
              </a:rPr>
              <a:t> er et lager 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vi </a:t>
            </a:r>
            <a:r>
              <a:rPr lang="en-US" dirty="0" err="1">
                <a:solidFill>
                  <a:srgbClr val="FF0000"/>
                </a:solidFill>
              </a:rPr>
              <a:t>observerer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slutningen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hver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uge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Der </a:t>
            </a:r>
            <a:r>
              <a:rPr lang="en-US" dirty="0" err="1">
                <a:solidFill>
                  <a:srgbClr val="00B0F0"/>
                </a:solidFill>
              </a:rPr>
              <a:t>bruges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en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lager </a:t>
            </a:r>
            <a:r>
              <a:rPr lang="en-US" b="1" dirty="0" err="1">
                <a:solidFill>
                  <a:srgbClr val="00B0F0"/>
                </a:solidFill>
              </a:rPr>
              <a:t>politik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hvor</a:t>
            </a:r>
            <a:r>
              <a:rPr lang="en-US" dirty="0">
                <a:solidFill>
                  <a:srgbClr val="00B0F0"/>
                </a:solidFill>
              </a:rPr>
              <a:t> der </a:t>
            </a:r>
            <a:r>
              <a:rPr lang="en-US" dirty="0" err="1">
                <a:solidFill>
                  <a:srgbClr val="00B0F0"/>
                </a:solidFill>
              </a:rPr>
              <a:t>fredag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aften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bestilles</a:t>
            </a:r>
            <a:r>
              <a:rPr lang="en-US" dirty="0">
                <a:solidFill>
                  <a:srgbClr val="00B0F0"/>
                </a:solidFill>
              </a:rPr>
              <a:t> 3 </a:t>
            </a:r>
            <a:r>
              <a:rPr lang="en-US" dirty="0" err="1">
                <a:solidFill>
                  <a:srgbClr val="00B0F0"/>
                </a:solidFill>
              </a:rPr>
              <a:t>kamereer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hjem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hvis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lageret</a:t>
            </a:r>
            <a:r>
              <a:rPr lang="en-US" dirty="0">
                <a:solidFill>
                  <a:srgbClr val="00B0F0"/>
                </a:solidFill>
              </a:rPr>
              <a:t> er </a:t>
            </a:r>
            <a:r>
              <a:rPr lang="en-US" dirty="0" err="1">
                <a:solidFill>
                  <a:srgbClr val="00B0F0"/>
                </a:solidFill>
              </a:rPr>
              <a:t>tomt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Den </a:t>
            </a:r>
            <a:r>
              <a:rPr lang="en-US" b="1" dirty="0" err="1">
                <a:solidFill>
                  <a:srgbClr val="00B050"/>
                </a:solidFill>
              </a:rPr>
              <a:t>ugentlige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eftersprøgsel</a:t>
            </a:r>
            <a:r>
              <a:rPr lang="en-US" b="1" dirty="0">
                <a:solidFill>
                  <a:srgbClr val="00B050"/>
                </a:solidFill>
              </a:rPr>
              <a:t> er </a:t>
            </a:r>
            <a:r>
              <a:rPr lang="en-US" b="1" dirty="0" err="1">
                <a:solidFill>
                  <a:srgbClr val="00B050"/>
                </a:solidFill>
              </a:rPr>
              <a:t>stokastisk</a:t>
            </a:r>
            <a:r>
              <a:rPr lang="en-US" dirty="0">
                <a:solidFill>
                  <a:srgbClr val="00B050"/>
                </a:solidFill>
              </a:rPr>
              <a:t>. </a:t>
            </a:r>
            <a:r>
              <a:rPr lang="en-US" dirty="0" err="1">
                <a:solidFill>
                  <a:srgbClr val="00B050"/>
                </a:solidFill>
              </a:rPr>
              <a:t>Efterspørgslen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Uge</a:t>
            </a:r>
            <a:r>
              <a:rPr lang="en-US" dirty="0">
                <a:solidFill>
                  <a:srgbClr val="00B050"/>
                </a:solidFill>
              </a:rPr>
              <a:t> t </a:t>
            </a:r>
            <a:r>
              <a:rPr lang="en-US" dirty="0" err="1">
                <a:solidFill>
                  <a:srgbClr val="00B050"/>
                </a:solidFill>
              </a:rPr>
              <a:t>beskrives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af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stokastisk</a:t>
            </a:r>
            <a:r>
              <a:rPr lang="en-US" dirty="0">
                <a:solidFill>
                  <a:srgbClr val="00B050"/>
                </a:solidFill>
              </a:rPr>
              <a:t> variable D</a:t>
            </a:r>
            <a:r>
              <a:rPr lang="en-US" sz="1800" dirty="0">
                <a:solidFill>
                  <a:srgbClr val="00B050"/>
                </a:solidFill>
              </a:rPr>
              <a:t>t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Al </a:t>
            </a:r>
            <a:r>
              <a:rPr lang="en-US" dirty="0" err="1">
                <a:solidFill>
                  <a:srgbClr val="FFC000"/>
                </a:solidFill>
              </a:rPr>
              <a:t>utilfredstillet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efterspørgsel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tabes</a:t>
            </a:r>
            <a:r>
              <a:rPr lang="en-US" dirty="0">
                <a:solidFill>
                  <a:srgbClr val="FFC000"/>
                </a:solidFill>
              </a:rPr>
              <a:t> (</a:t>
            </a:r>
            <a:r>
              <a:rPr lang="en-US" dirty="0" err="1">
                <a:solidFill>
                  <a:srgbClr val="FFC000"/>
                </a:solidFill>
              </a:rPr>
              <a:t>dvs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kunder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går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andetsteds</a:t>
            </a:r>
            <a:r>
              <a:rPr lang="en-US" dirty="0">
                <a:solidFill>
                  <a:srgbClr val="FFC000"/>
                </a:solidFill>
              </a:rPr>
              <a:t> hen)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Lad </a:t>
            </a:r>
            <a:r>
              <a:rPr lang="en-US" dirty="0" err="1">
                <a:solidFill>
                  <a:srgbClr val="7030A0"/>
                </a:solidFill>
              </a:rPr>
              <a:t>X</a:t>
            </a:r>
            <a:r>
              <a:rPr lang="en-US" sz="1600" dirty="0" err="1">
                <a:solidFill>
                  <a:srgbClr val="7030A0"/>
                </a:solidFill>
              </a:rPr>
              <a:t>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betegne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ultimolageret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i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Uge</a:t>
            </a:r>
            <a:r>
              <a:rPr lang="en-US" dirty="0">
                <a:solidFill>
                  <a:srgbClr val="7030A0"/>
                </a:solidFill>
              </a:rPr>
              <a:t> t</a:t>
            </a:r>
          </a:p>
        </p:txBody>
      </p:sp>
    </p:spTree>
    <p:extLst>
      <p:ext uri="{BB962C8B-B14F-4D97-AF65-F5344CB8AC3E}">
        <p14:creationId xmlns:p14="http://schemas.microsoft.com/office/powerpoint/2010/main" val="19146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A1448-5080-A7CF-EE40-EFF34ADBB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Fundamental </a:t>
            </a:r>
            <a:r>
              <a:rPr lang="en-US" b="1" dirty="0" err="1"/>
              <a:t>egenskab</a:t>
            </a:r>
            <a:r>
              <a:rPr lang="en-US" b="1" dirty="0"/>
              <a:t> </a:t>
            </a:r>
            <a:r>
              <a:rPr lang="en-US" b="1" dirty="0" err="1"/>
              <a:t>ved</a:t>
            </a:r>
            <a:r>
              <a:rPr lang="en-US" b="1" dirty="0"/>
              <a:t> Markov </a:t>
            </a:r>
            <a:r>
              <a:rPr lang="en-US" b="1" dirty="0" err="1"/>
              <a:t>kæde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61CF8D-FA12-19C9-6219-95FCBEB86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811" y="1949116"/>
            <a:ext cx="7194884" cy="31903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17143B-9F09-E3DD-13D0-D6A3AE0A1F28}"/>
              </a:ext>
            </a:extLst>
          </p:cNvPr>
          <p:cNvSpPr txBox="1"/>
          <p:nvPr/>
        </p:nvSpPr>
        <p:spPr>
          <a:xfrm>
            <a:off x="1387642" y="5261811"/>
            <a:ext cx="7130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 at </a:t>
            </a:r>
            <a:r>
              <a:rPr lang="en-US" dirty="0" err="1">
                <a:solidFill>
                  <a:srgbClr val="FF0000"/>
                </a:solidFill>
              </a:rPr>
              <a:t>kunne</a:t>
            </a:r>
            <a:r>
              <a:rPr lang="en-US" dirty="0">
                <a:solidFill>
                  <a:srgbClr val="FF0000"/>
                </a:solidFill>
              </a:rPr>
              <a:t> give </a:t>
            </a:r>
            <a:r>
              <a:rPr lang="en-US" dirty="0" err="1">
                <a:solidFill>
                  <a:srgbClr val="FF0000"/>
                </a:solidFill>
              </a:rPr>
              <a:t>sandsynlighedsvurdring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næste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tilstand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behøves</a:t>
            </a:r>
            <a:r>
              <a:rPr lang="en-US" dirty="0">
                <a:solidFill>
                  <a:srgbClr val="FF0000"/>
                </a:solidFill>
              </a:rPr>
              <a:t> man med Markov </a:t>
            </a:r>
            <a:r>
              <a:rPr lang="en-US" dirty="0" err="1">
                <a:solidFill>
                  <a:srgbClr val="FF0000"/>
                </a:solidFill>
              </a:rPr>
              <a:t>egenskab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ikke</a:t>
            </a:r>
            <a:r>
              <a:rPr lang="en-US" dirty="0">
                <a:solidFill>
                  <a:srgbClr val="FF0000"/>
                </a:solidFill>
              </a:rPr>
              <a:t> at </a:t>
            </a:r>
            <a:r>
              <a:rPr lang="en-US" dirty="0" err="1">
                <a:solidFill>
                  <a:srgbClr val="FF0000"/>
                </a:solidFill>
              </a:rPr>
              <a:t>kende</a:t>
            </a:r>
            <a:r>
              <a:rPr lang="en-US" dirty="0">
                <a:solidFill>
                  <a:srgbClr val="FF0000"/>
                </a:solidFill>
              </a:rPr>
              <a:t> hele </a:t>
            </a:r>
            <a:r>
              <a:rPr lang="en-US" dirty="0" err="1">
                <a:solidFill>
                  <a:srgbClr val="FF0000"/>
                </a:solidFill>
              </a:rPr>
              <a:t>fortiden</a:t>
            </a:r>
            <a:r>
              <a:rPr lang="en-US" dirty="0">
                <a:solidFill>
                  <a:srgbClr val="FF0000"/>
                </a:solidFill>
              </a:rPr>
              <a:t>. Det er </a:t>
            </a:r>
            <a:r>
              <a:rPr lang="en-US" dirty="0" err="1">
                <a:solidFill>
                  <a:srgbClr val="FF0000"/>
                </a:solidFill>
              </a:rPr>
              <a:t>nok</a:t>
            </a:r>
            <a:r>
              <a:rPr lang="en-US" dirty="0">
                <a:solidFill>
                  <a:srgbClr val="FF0000"/>
                </a:solidFill>
              </a:rPr>
              <a:t> at </a:t>
            </a:r>
            <a:r>
              <a:rPr lang="en-US" dirty="0" err="1">
                <a:solidFill>
                  <a:srgbClr val="FF0000"/>
                </a:solidFill>
              </a:rPr>
              <a:t>kende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nuværende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tilstand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081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C658-0CD7-19CE-9C34-0936ECFAA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Har </a:t>
            </a:r>
            <a:r>
              <a:rPr lang="en-US" b="1" dirty="0" err="1"/>
              <a:t>vores</a:t>
            </a:r>
            <a:r>
              <a:rPr lang="en-US" b="1" dirty="0"/>
              <a:t> case Markov </a:t>
            </a:r>
            <a:r>
              <a:rPr lang="en-US" b="1" dirty="0" err="1"/>
              <a:t>egenskab</a:t>
            </a:r>
            <a:r>
              <a:rPr lang="en-US" b="1" dirty="0"/>
              <a:t>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2BD3F-4ACA-8FF4-B4AC-FABAA4360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Ja det </a:t>
            </a:r>
            <a:r>
              <a:rPr lang="en-US" dirty="0" err="1">
                <a:solidFill>
                  <a:srgbClr val="FF0000"/>
                </a:solidFill>
              </a:rPr>
              <a:t>har</a:t>
            </a:r>
            <a:r>
              <a:rPr lang="en-US" dirty="0">
                <a:solidFill>
                  <a:srgbClr val="FF0000"/>
                </a:solidFill>
              </a:rPr>
              <a:t> den </a:t>
            </a:r>
            <a:r>
              <a:rPr lang="en-US" dirty="0" err="1">
                <a:solidFill>
                  <a:srgbClr val="FF0000"/>
                </a:solidFill>
              </a:rPr>
              <a:t>hvis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stokastiske</a:t>
            </a:r>
            <a:r>
              <a:rPr lang="en-US" dirty="0">
                <a:solidFill>
                  <a:srgbClr val="FF0000"/>
                </a:solidFill>
              </a:rPr>
              <a:t> variable der </a:t>
            </a:r>
            <a:r>
              <a:rPr lang="en-US" dirty="0" err="1">
                <a:solidFill>
                  <a:srgbClr val="FF0000"/>
                </a:solidFill>
              </a:rPr>
              <a:t>repræsenter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efterspørgslerne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,D</a:t>
            </a:r>
            <a:r>
              <a:rPr lang="en-US" sz="16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,D</a:t>
            </a:r>
            <a:r>
              <a:rPr lang="en-US" sz="16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,…..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er </a:t>
            </a:r>
            <a:r>
              <a:rPr lang="en-US" b="1" dirty="0" err="1">
                <a:solidFill>
                  <a:srgbClr val="FF0000"/>
                </a:solidFill>
              </a:rPr>
              <a:t>uafhængige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stokastiske</a:t>
            </a:r>
            <a:r>
              <a:rPr lang="en-US" b="1" dirty="0">
                <a:solidFill>
                  <a:srgbClr val="FF0000"/>
                </a:solidFill>
              </a:rPr>
              <a:t> variable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 err="1">
                <a:solidFill>
                  <a:srgbClr val="FF0000"/>
                </a:solidFill>
              </a:rPr>
              <a:t>Dvs</a:t>
            </a:r>
            <a:r>
              <a:rPr lang="en-US" dirty="0">
                <a:solidFill>
                  <a:srgbClr val="FF0000"/>
                </a:solidFill>
              </a:rPr>
              <a:t> der er </a:t>
            </a:r>
            <a:r>
              <a:rPr lang="en-US" dirty="0" err="1">
                <a:solidFill>
                  <a:srgbClr val="FF0000"/>
                </a:solidFill>
              </a:rPr>
              <a:t>ingen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korrelation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mellem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efterspørgslerne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enkelte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dage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Derfor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kan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lagerudvikling</a:t>
            </a:r>
            <a:r>
              <a:rPr lang="en-US" dirty="0">
                <a:solidFill>
                  <a:srgbClr val="00B050"/>
                </a:solidFill>
              </a:rPr>
              <a:t> over </a:t>
            </a:r>
            <a:r>
              <a:rPr lang="en-US" dirty="0" err="1">
                <a:solidFill>
                  <a:srgbClr val="00B050"/>
                </a:solidFill>
              </a:rPr>
              <a:t>tid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skrives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som</a:t>
            </a:r>
            <a:r>
              <a:rPr lang="en-US" dirty="0">
                <a:solidFill>
                  <a:srgbClr val="00B050"/>
                </a:solidFill>
              </a:rPr>
              <a:t>:</a:t>
            </a: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CAC92-D2AB-C8A5-9506-8CA346DAF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765" y="5850384"/>
            <a:ext cx="4096497" cy="8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68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2648-84DC-FC3F-94CF-13D00D238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En </a:t>
            </a:r>
            <a:r>
              <a:rPr lang="en-US" b="1" dirty="0" err="1"/>
              <a:t>grund-byggesten</a:t>
            </a:r>
            <a:r>
              <a:rPr lang="en-US" b="1" dirty="0"/>
              <a:t>: </a:t>
            </a:r>
            <a:r>
              <a:rPr lang="en-US" b="1" dirty="0" err="1"/>
              <a:t>overgangssansynligheder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5614F-0227-35D1-1D83-30D9B31CE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5768"/>
            <a:ext cx="12192000" cy="548639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Det er de </a:t>
            </a:r>
            <a:r>
              <a:rPr lang="en-US" dirty="0" err="1">
                <a:solidFill>
                  <a:srgbClr val="FF0000"/>
                </a:solidFill>
              </a:rPr>
              <a:t>betingede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sandsynligheder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Hvis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disse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betingede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sandsynligheder</a:t>
            </a:r>
            <a:r>
              <a:rPr lang="en-US" dirty="0">
                <a:solidFill>
                  <a:srgbClr val="00B050"/>
                </a:solidFill>
              </a:rPr>
              <a:t> er </a:t>
            </a:r>
            <a:r>
              <a:rPr lang="en-US" dirty="0" err="1">
                <a:solidFill>
                  <a:srgbClr val="00B050"/>
                </a:solidFill>
              </a:rPr>
              <a:t>uafhængige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af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tid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altså</a:t>
            </a:r>
            <a:r>
              <a:rPr lang="en-US" dirty="0">
                <a:solidFill>
                  <a:srgbClr val="00B050"/>
                </a:solidFill>
              </a:rPr>
              <a:t> for </a:t>
            </a:r>
            <a:r>
              <a:rPr lang="en-US" dirty="0" err="1">
                <a:solidFill>
                  <a:srgbClr val="00B050"/>
                </a:solidFill>
              </a:rPr>
              <a:t>ethvert</a:t>
            </a:r>
            <a:r>
              <a:rPr lang="en-US" dirty="0">
                <a:solidFill>
                  <a:srgbClr val="00B050"/>
                </a:solidFill>
              </a:rPr>
              <a:t> (</a:t>
            </a:r>
            <a:r>
              <a:rPr lang="en-US" dirty="0" err="1">
                <a:solidFill>
                  <a:srgbClr val="00B050"/>
                </a:solidFill>
              </a:rPr>
              <a:t>i,j</a:t>
            </a:r>
            <a:r>
              <a:rPr lang="en-US" dirty="0">
                <a:solidFill>
                  <a:srgbClr val="00B050"/>
                </a:solidFill>
              </a:rPr>
              <a:t>) haves: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Så</a:t>
            </a:r>
            <a:r>
              <a:rPr lang="en-US" dirty="0">
                <a:solidFill>
                  <a:srgbClr val="00B050"/>
                </a:solidFill>
              </a:rPr>
              <a:t> er Markov </a:t>
            </a:r>
            <a:r>
              <a:rPr lang="en-US" dirty="0" err="1">
                <a:solidFill>
                  <a:srgbClr val="00B050"/>
                </a:solidFill>
              </a:rPr>
              <a:t>kæden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stationær</a:t>
            </a: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Og vi </a:t>
            </a:r>
            <a:r>
              <a:rPr lang="en-US" dirty="0" err="1">
                <a:solidFill>
                  <a:srgbClr val="0070C0"/>
                </a:solidFill>
              </a:rPr>
              <a:t>bruger</a:t>
            </a:r>
            <a:r>
              <a:rPr lang="en-US" dirty="0">
                <a:solidFill>
                  <a:srgbClr val="0070C0"/>
                </a:solidFill>
              </a:rPr>
              <a:t> notation </a:t>
            </a:r>
            <a:r>
              <a:rPr lang="en-US" dirty="0" err="1">
                <a:solidFill>
                  <a:srgbClr val="0070C0"/>
                </a:solidFill>
              </a:rPr>
              <a:t>p</a:t>
            </a:r>
            <a:r>
              <a:rPr lang="en-US" sz="1800" dirty="0" err="1">
                <a:solidFill>
                  <a:srgbClr val="0070C0"/>
                </a:solidFill>
              </a:rPr>
              <a:t>ij</a:t>
            </a:r>
            <a:r>
              <a:rPr lang="en-US" dirty="0">
                <a:solidFill>
                  <a:srgbClr val="0070C0"/>
                </a:solidFill>
              </a:rPr>
              <a:t> for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Og P er </a:t>
            </a:r>
            <a:r>
              <a:rPr lang="en-US" dirty="0" err="1">
                <a:solidFill>
                  <a:srgbClr val="0070C0"/>
                </a:solidFill>
              </a:rPr>
              <a:t>matricen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af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overgangssandsynligheder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A1294-72DC-1404-76E0-A771BFBA8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15" y="2050744"/>
            <a:ext cx="2140085" cy="350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F3CC68-22FB-06B7-6FFF-FE362091D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33" y="4068100"/>
            <a:ext cx="6692630" cy="4766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5039E0-C283-467B-BE96-E485F5397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289" y="5422232"/>
            <a:ext cx="1867711" cy="41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5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437A-BC9B-B671-4CC4-6E879859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67852"/>
          </a:xfrm>
        </p:spPr>
        <p:txBody>
          <a:bodyPr/>
          <a:lstStyle/>
          <a:p>
            <a:pPr algn="ctr"/>
            <a:r>
              <a:rPr lang="en-US" b="1" dirty="0" err="1"/>
              <a:t>Hvornår</a:t>
            </a:r>
            <a:r>
              <a:rPr lang="en-US" b="1" dirty="0"/>
              <a:t> er </a:t>
            </a:r>
            <a:r>
              <a:rPr lang="en-US" b="1" dirty="0" err="1"/>
              <a:t>vores</a:t>
            </a:r>
            <a:r>
              <a:rPr lang="en-US" b="1" dirty="0"/>
              <a:t> case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stationær</a:t>
            </a:r>
            <a:r>
              <a:rPr lang="en-US" b="1" dirty="0"/>
              <a:t> Markov </a:t>
            </a:r>
            <a:r>
              <a:rPr lang="en-US" b="1" dirty="0" err="1"/>
              <a:t>kæde</a:t>
            </a:r>
            <a:r>
              <a:rPr lang="en-US" b="1" dirty="0"/>
              <a:t>? 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2BDEB5-FD9F-57D5-E8FB-FF96194979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187116"/>
                <a:ext cx="12191999" cy="567088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Det er den, </a:t>
                </a:r>
                <a:r>
                  <a:rPr lang="en-US" dirty="0" err="1">
                    <a:solidFill>
                      <a:srgbClr val="0070C0"/>
                    </a:solidFill>
                  </a:rPr>
                  <a:t>når</a:t>
                </a:r>
                <a:r>
                  <a:rPr lang="en-US" dirty="0">
                    <a:solidFill>
                      <a:srgbClr val="0070C0"/>
                    </a:solidFill>
                  </a:rPr>
                  <a:t> de </a:t>
                </a:r>
                <a:r>
                  <a:rPr lang="en-US" dirty="0" err="1">
                    <a:solidFill>
                      <a:srgbClr val="0070C0"/>
                    </a:solidFill>
                  </a:rPr>
                  <a:t>stokastiske</a:t>
                </a:r>
                <a:r>
                  <a:rPr lang="en-US" dirty="0">
                    <a:solidFill>
                      <a:srgbClr val="0070C0"/>
                    </a:solidFill>
                  </a:rPr>
                  <a:t> variable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D</a:t>
                </a:r>
                <a:r>
                  <a:rPr lang="en-US" sz="1600" dirty="0">
                    <a:solidFill>
                      <a:srgbClr val="0070C0"/>
                    </a:solidFill>
                  </a:rPr>
                  <a:t>1</a:t>
                </a:r>
                <a:r>
                  <a:rPr lang="en-US" dirty="0">
                    <a:solidFill>
                      <a:srgbClr val="0070C0"/>
                    </a:solidFill>
                  </a:rPr>
                  <a:t>,D</a:t>
                </a:r>
                <a:r>
                  <a:rPr lang="en-US" sz="1600" dirty="0">
                    <a:solidFill>
                      <a:srgbClr val="0070C0"/>
                    </a:solidFill>
                  </a:rPr>
                  <a:t>2</a:t>
                </a:r>
                <a:r>
                  <a:rPr lang="en-US" dirty="0">
                    <a:solidFill>
                      <a:srgbClr val="0070C0"/>
                    </a:solidFill>
                  </a:rPr>
                  <a:t>,D</a:t>
                </a:r>
                <a:r>
                  <a:rPr lang="en-US" sz="1600" dirty="0">
                    <a:solidFill>
                      <a:srgbClr val="0070C0"/>
                    </a:solidFill>
                  </a:rPr>
                  <a:t>3</a:t>
                </a:r>
                <a:r>
                  <a:rPr lang="en-US" dirty="0">
                    <a:solidFill>
                      <a:srgbClr val="0070C0"/>
                    </a:solidFill>
                  </a:rPr>
                  <a:t>,…..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er </a:t>
                </a:r>
                <a:r>
                  <a:rPr lang="en-US" dirty="0" err="1">
                    <a:solidFill>
                      <a:srgbClr val="0070C0"/>
                    </a:solidFill>
                  </a:rPr>
                  <a:t>identiske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fordelte</a:t>
                </a:r>
                <a:r>
                  <a:rPr lang="en-US" dirty="0">
                    <a:solidFill>
                      <a:srgbClr val="0070C0"/>
                    </a:solidFill>
                  </a:rPr>
                  <a:t> (</a:t>
                </a:r>
                <a:r>
                  <a:rPr lang="en-US" dirty="0" err="1">
                    <a:solidFill>
                      <a:srgbClr val="0070C0"/>
                    </a:solidFill>
                  </a:rPr>
                  <a:t>udover</a:t>
                </a:r>
                <a:r>
                  <a:rPr lang="en-US" dirty="0">
                    <a:solidFill>
                      <a:srgbClr val="0070C0"/>
                    </a:solidFill>
                  </a:rPr>
                  <a:t> at de </a:t>
                </a:r>
                <a:r>
                  <a:rPr lang="en-US" dirty="0" err="1">
                    <a:solidFill>
                      <a:srgbClr val="0070C0"/>
                    </a:solidFill>
                  </a:rPr>
                  <a:t>selvfølgelig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også</a:t>
                </a:r>
                <a:r>
                  <a:rPr lang="en-US" dirty="0">
                    <a:solidFill>
                      <a:srgbClr val="0070C0"/>
                    </a:solidFill>
                  </a:rPr>
                  <a:t> er </a:t>
                </a:r>
                <a:r>
                  <a:rPr lang="en-US" dirty="0" err="1">
                    <a:solidFill>
                      <a:srgbClr val="0070C0"/>
                    </a:solidFill>
                  </a:rPr>
                  <a:t>ufhængige</a:t>
                </a:r>
                <a:r>
                  <a:rPr lang="en-US" dirty="0">
                    <a:solidFill>
                      <a:srgbClr val="0070C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rgbClr val="00B050"/>
                    </a:solidFill>
                  </a:rPr>
                  <a:t>Så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>
                    <a:solidFill>
                      <a:srgbClr val="00B050"/>
                    </a:solidFill>
                  </a:rPr>
                  <a:t>kan</a:t>
                </a:r>
                <a:r>
                  <a:rPr lang="en-US" dirty="0">
                    <a:solidFill>
                      <a:srgbClr val="00B050"/>
                    </a:solidFill>
                  </a:rPr>
                  <a:t> vi </a:t>
                </a:r>
                <a:r>
                  <a:rPr lang="en-US" dirty="0" err="1">
                    <a:solidFill>
                      <a:srgbClr val="00B050"/>
                    </a:solidFill>
                  </a:rPr>
                  <a:t>skrive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{3−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,0}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h𝑣𝑖𝑠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h𝑣𝑖𝑠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2BDEB5-FD9F-57D5-E8FB-FF9619497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187116"/>
                <a:ext cx="12191999" cy="5670883"/>
              </a:xfrm>
              <a:blipFill>
                <a:blip r:embed="rId2"/>
                <a:stretch>
                  <a:fillRect l="-1000" t="-182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9DD69B1-B2D2-34BB-0EDF-A880B943485A}"/>
              </a:ext>
            </a:extLst>
          </p:cNvPr>
          <p:cNvSpPr txBox="1"/>
          <p:nvPr/>
        </p:nvSpPr>
        <p:spPr>
          <a:xfrm>
            <a:off x="7130716" y="5454316"/>
            <a:ext cx="2510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Her </a:t>
            </a:r>
            <a:r>
              <a:rPr lang="en-US" dirty="0" err="1">
                <a:solidFill>
                  <a:srgbClr val="FF0000"/>
                </a:solidFill>
              </a:rPr>
              <a:t>betegner</a:t>
            </a:r>
            <a:r>
              <a:rPr lang="en-US" dirty="0">
                <a:solidFill>
                  <a:srgbClr val="FF0000"/>
                </a:solidFill>
              </a:rPr>
              <a:t> D den </a:t>
            </a:r>
            <a:r>
              <a:rPr lang="en-US" dirty="0" err="1">
                <a:solidFill>
                  <a:srgbClr val="FF0000"/>
                </a:solidFill>
              </a:rPr>
              <a:t>ugentlige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efterspørgsel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52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AC64C-F751-854C-C604-CE04CE6B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690688"/>
          </a:xfrm>
        </p:spPr>
        <p:txBody>
          <a:bodyPr/>
          <a:lstStyle/>
          <a:p>
            <a:pPr algn="ctr"/>
            <a:r>
              <a:rPr lang="en-US" b="1" dirty="0" err="1"/>
              <a:t>Konkretisering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case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8D9A5-3262-1A29-016E-AE5ED3A6E5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31495"/>
                <a:ext cx="12192000" cy="552650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Antag den </a:t>
                </a:r>
                <a:r>
                  <a:rPr lang="en-US" dirty="0" err="1">
                    <a:solidFill>
                      <a:srgbClr val="FF0000"/>
                    </a:solidFill>
                  </a:rPr>
                  <a:t>ugentlige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efterspørgsel</a:t>
                </a:r>
                <a:r>
                  <a:rPr lang="en-US" dirty="0">
                    <a:solidFill>
                      <a:srgbClr val="FF0000"/>
                    </a:solidFill>
                  </a:rPr>
                  <a:t> er </a:t>
                </a:r>
                <a:r>
                  <a:rPr lang="en-US" b="1" dirty="0">
                    <a:solidFill>
                      <a:srgbClr val="FF0000"/>
                    </a:solidFill>
                  </a:rPr>
                  <a:t>Poisson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fordelt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med </a:t>
                </a:r>
                <a:r>
                  <a:rPr lang="en-US" dirty="0" err="1">
                    <a:solidFill>
                      <a:srgbClr val="FF0000"/>
                    </a:solidFill>
                  </a:rPr>
                  <a:t>middelværdi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l-GR" dirty="0">
                    <a:solidFill>
                      <a:srgbClr val="FF0000"/>
                    </a:solidFill>
                  </a:rPr>
                  <a:t>λ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rgbClr val="FF0000"/>
                    </a:solidFill>
                  </a:rPr>
                  <a:t>Dvs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p>
                      </m:sSup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da-DK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da-DK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da-DK" dirty="0">
                    <a:solidFill>
                      <a:srgbClr val="FF0000"/>
                    </a:solidFill>
                  </a:rPr>
                  <a:t>og λ</a:t>
                </a:r>
                <a:r>
                  <a:rPr lang="en-US" dirty="0">
                    <a:solidFill>
                      <a:srgbClr val="FF0000"/>
                    </a:solidFill>
                  </a:rPr>
                  <a:t> er </a:t>
                </a:r>
                <a:r>
                  <a:rPr lang="en-US" dirty="0" err="1">
                    <a:solidFill>
                      <a:srgbClr val="FF0000"/>
                    </a:solidFill>
                  </a:rPr>
                  <a:t>estimeret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til</a:t>
                </a:r>
                <a:r>
                  <a:rPr lang="en-US" dirty="0">
                    <a:solidFill>
                      <a:srgbClr val="FF0000"/>
                    </a:solidFill>
                  </a:rPr>
                  <a:t> at </a:t>
                </a:r>
                <a:r>
                  <a:rPr lang="en-US" dirty="0" err="1">
                    <a:solidFill>
                      <a:srgbClr val="FF0000"/>
                    </a:solidFill>
                  </a:rPr>
                  <a:t>være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lig</a:t>
                </a:r>
                <a:r>
                  <a:rPr lang="en-US" dirty="0">
                    <a:solidFill>
                      <a:srgbClr val="FF0000"/>
                    </a:solidFill>
                  </a:rPr>
                  <a:t> 1</a:t>
                </a:r>
                <a:endParaRPr lang="da-DK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8D9A5-3262-1A29-016E-AE5ED3A6E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31495"/>
                <a:ext cx="12192000" cy="5526504"/>
              </a:xfrm>
              <a:blipFill>
                <a:blip r:embed="rId2"/>
                <a:stretch>
                  <a:fillRect l="-1000" t="-176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8472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9DCE-74D6-8C95-E55E-FEFCF5F1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Lidt</a:t>
            </a:r>
            <a:r>
              <a:rPr lang="en-US" b="1" dirty="0"/>
              <a:t> om Poisson </a:t>
            </a:r>
            <a:r>
              <a:rPr lang="en-US" b="1" dirty="0" err="1"/>
              <a:t>fordeling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329B61-E725-BE4A-A468-87A7F72F12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25625"/>
                <a:ext cx="12192000" cy="503237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Kan “</a:t>
                </a:r>
                <a:r>
                  <a:rPr lang="en-US" dirty="0" err="1">
                    <a:solidFill>
                      <a:srgbClr val="FF0000"/>
                    </a:solidFill>
                  </a:rPr>
                  <a:t>slås</a:t>
                </a:r>
                <a:r>
                  <a:rPr lang="en-US" dirty="0">
                    <a:solidFill>
                      <a:srgbClr val="FF0000"/>
                    </a:solidFill>
                  </a:rPr>
                  <a:t> op” </a:t>
                </a:r>
                <a:r>
                  <a:rPr lang="en-US" dirty="0" err="1">
                    <a:solidFill>
                      <a:srgbClr val="FF0000"/>
                    </a:solidFill>
                  </a:rPr>
                  <a:t>i</a:t>
                </a:r>
                <a:r>
                  <a:rPr lang="en-US" dirty="0">
                    <a:solidFill>
                      <a:srgbClr val="FF0000"/>
                    </a:solidFill>
                  </a:rPr>
                  <a:t> Excel </a:t>
                </a:r>
                <a:r>
                  <a:rPr lang="en-US" dirty="0" err="1">
                    <a:solidFill>
                      <a:srgbClr val="FF0000"/>
                    </a:solidFill>
                  </a:rPr>
                  <a:t>som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=POISSON(</a:t>
                </a:r>
                <a:r>
                  <a:rPr lang="en-US" dirty="0" err="1">
                    <a:solidFill>
                      <a:srgbClr val="FF0000"/>
                    </a:solidFill>
                  </a:rPr>
                  <a:t>d;Mean;Cumulative</a:t>
                </a:r>
                <a:r>
                  <a:rPr lang="en-US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Kan </a:t>
                </a:r>
                <a:r>
                  <a:rPr lang="en-US" dirty="0" err="1">
                    <a:solidFill>
                      <a:srgbClr val="00B0F0"/>
                    </a:solidFill>
                  </a:rPr>
                  <a:t>beregnes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rekursivt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som</a:t>
                </a:r>
                <a:endParaRPr lang="en-US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	d=1,2,3,…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rgbClr val="00B0F0"/>
                    </a:solidFill>
                  </a:rPr>
                  <a:t>og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329B61-E725-BE4A-A468-87A7F72F1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25625"/>
                <a:ext cx="12192000" cy="5032374"/>
              </a:xfrm>
              <a:blipFill>
                <a:blip r:embed="rId2"/>
                <a:stretch>
                  <a:fillRect l="-900" t="-242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47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6B4E-E854-DC06-B0CE-76D8ADCB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23473"/>
          </a:xfrm>
        </p:spPr>
        <p:txBody>
          <a:bodyPr/>
          <a:lstStyle/>
          <a:p>
            <a:pPr algn="ctr"/>
            <a:r>
              <a:rPr lang="en-US" b="1" dirty="0" err="1"/>
              <a:t>Overgangssandsynlighederne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vores</a:t>
            </a:r>
            <a:r>
              <a:rPr lang="en-US" b="1" dirty="0"/>
              <a:t> case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BC025D-04EA-5DE4-F008-9B2AC11F6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52612"/>
            <a:ext cx="12192000" cy="4572000"/>
          </a:xfrm>
        </p:spPr>
      </p:pic>
    </p:spTree>
    <p:extLst>
      <p:ext uri="{BB962C8B-B14F-4D97-AF65-F5344CB8AC3E}">
        <p14:creationId xmlns:p14="http://schemas.microsoft.com/office/powerpoint/2010/main" val="381830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CB10B-BC92-8F66-A6CE-831E497B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35768"/>
          </a:xfrm>
        </p:spPr>
        <p:txBody>
          <a:bodyPr/>
          <a:lstStyle/>
          <a:p>
            <a:pPr algn="ctr"/>
            <a:r>
              <a:rPr lang="en-US" b="1" dirty="0" err="1"/>
              <a:t>Overgangssandsynlighederne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vores</a:t>
            </a:r>
            <a:r>
              <a:rPr lang="en-US" b="1" dirty="0"/>
              <a:t> case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D9BFC3-2397-EC67-7723-E22FAD3D4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879" y="2550695"/>
            <a:ext cx="9101667" cy="2895600"/>
          </a:xfrm>
        </p:spPr>
      </p:pic>
    </p:spTree>
    <p:extLst>
      <p:ext uri="{BB962C8B-B14F-4D97-AF65-F5344CB8AC3E}">
        <p14:creationId xmlns:p14="http://schemas.microsoft.com/office/powerpoint/2010/main" val="4288940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C559-9A52-F6FB-D7F2-62735459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Hvordan</a:t>
            </a:r>
            <a:r>
              <a:rPr lang="en-US" b="1" dirty="0"/>
              <a:t> </a:t>
            </a:r>
            <a:r>
              <a:rPr lang="en-US" b="1" dirty="0" err="1"/>
              <a:t>udvikler</a:t>
            </a:r>
            <a:r>
              <a:rPr lang="en-US" b="1" dirty="0"/>
              <a:t> Markov </a:t>
            </a:r>
            <a:r>
              <a:rPr lang="en-US" b="1" dirty="0" err="1"/>
              <a:t>kæde</a:t>
            </a:r>
            <a:r>
              <a:rPr lang="en-US" b="1" dirty="0"/>
              <a:t> sig over </a:t>
            </a:r>
            <a:r>
              <a:rPr lang="en-US" b="1" dirty="0" err="1"/>
              <a:t>tid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/>
              <a:t>(</a:t>
            </a:r>
            <a:r>
              <a:rPr lang="en-US" b="1" dirty="0" err="1"/>
              <a:t>på</a:t>
            </a:r>
            <a:r>
              <a:rPr lang="en-US" b="1" dirty="0"/>
              <a:t> </a:t>
            </a:r>
            <a:r>
              <a:rPr lang="en-US" b="1" dirty="0" err="1"/>
              <a:t>langt</a:t>
            </a:r>
            <a:r>
              <a:rPr lang="en-US" b="1" dirty="0"/>
              <a:t> </a:t>
            </a:r>
            <a:r>
              <a:rPr lang="en-US" b="1" dirty="0" err="1"/>
              <a:t>sigt</a:t>
            </a:r>
            <a:r>
              <a:rPr lang="en-US" b="1" dirty="0"/>
              <a:t>)?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A4948-D3F4-1AA4-4B80-64A81A012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Se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n </a:t>
            </a:r>
            <a:r>
              <a:rPr lang="en-US" dirty="0" err="1">
                <a:solidFill>
                  <a:srgbClr val="FF0000"/>
                </a:solidFill>
              </a:rPr>
              <a:t>skridt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overgangssandsynligheder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(</a:t>
            </a:r>
            <a:r>
              <a:rPr lang="en-US" dirty="0">
                <a:solidFill>
                  <a:srgbClr val="7030A0"/>
                </a:solidFill>
              </a:rPr>
              <a:t>OBS der </a:t>
            </a:r>
            <a:r>
              <a:rPr lang="en-US" dirty="0" err="1">
                <a:solidFill>
                  <a:srgbClr val="7030A0"/>
                </a:solidFill>
              </a:rPr>
              <a:t>står</a:t>
            </a:r>
            <a:r>
              <a:rPr lang="en-US" dirty="0">
                <a:solidFill>
                  <a:srgbClr val="7030A0"/>
                </a:solidFill>
              </a:rPr>
              <a:t> IKKE </a:t>
            </a:r>
            <a:r>
              <a:rPr lang="en-US" dirty="0" err="1">
                <a:solidFill>
                  <a:srgbClr val="7030A0"/>
                </a:solidFill>
              </a:rPr>
              <a:t>p</a:t>
            </a:r>
            <a:r>
              <a:rPr lang="en-US" sz="1800" dirty="0" err="1">
                <a:solidFill>
                  <a:srgbClr val="7030A0"/>
                </a:solidFill>
              </a:rPr>
              <a:t>ij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opløftet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til</a:t>
            </a:r>
            <a:r>
              <a:rPr lang="en-US" dirty="0">
                <a:solidFill>
                  <a:srgbClr val="7030A0"/>
                </a:solidFill>
              </a:rPr>
              <a:t> 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5A362-9CC7-A86F-6ACF-F79910FF8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2617"/>
            <a:ext cx="2801566" cy="48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61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C41-2E38-49D9-E29F-C77FE04A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Tilfældet</a:t>
            </a:r>
            <a:r>
              <a:rPr lang="en-US" b="1" dirty="0"/>
              <a:t> n = 2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C1081E-773D-3A46-A765-C18E1E53F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51592"/>
            <a:ext cx="12192000" cy="389466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7D16CF-52C7-A15D-BD60-BDD577D1B738}"/>
              </a:ext>
            </a:extLst>
          </p:cNvPr>
          <p:cNvSpPr txBox="1"/>
          <p:nvPr/>
        </p:nvSpPr>
        <p:spPr>
          <a:xfrm>
            <a:off x="8702842" y="3601453"/>
            <a:ext cx="22298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 </a:t>
            </a:r>
            <a:r>
              <a:rPr lang="en-US" dirty="0" err="1">
                <a:solidFill>
                  <a:srgbClr val="FF0000"/>
                </a:solidFill>
              </a:rPr>
              <a:t>kombinerer</a:t>
            </a:r>
            <a:r>
              <a:rPr lang="en-US" dirty="0">
                <a:solidFill>
                  <a:srgbClr val="FF0000"/>
                </a:solidFill>
              </a:rPr>
              <a:t> alle </a:t>
            </a:r>
            <a:r>
              <a:rPr lang="en-US" dirty="0" err="1">
                <a:solidFill>
                  <a:srgbClr val="FF0000"/>
                </a:solidFill>
              </a:rPr>
              <a:t>muligheder</a:t>
            </a:r>
            <a:r>
              <a:rPr lang="en-US" dirty="0">
                <a:solidFill>
                  <a:srgbClr val="FF0000"/>
                </a:solidFill>
              </a:rPr>
              <a:t> for at </a:t>
            </a:r>
            <a:r>
              <a:rPr lang="en-US" dirty="0" err="1">
                <a:solidFill>
                  <a:srgbClr val="FF0000"/>
                </a:solidFill>
              </a:rPr>
              <a:t>gå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to </a:t>
            </a:r>
            <a:r>
              <a:rPr lang="en-US" dirty="0" err="1">
                <a:solidFill>
                  <a:srgbClr val="FF0000"/>
                </a:solidFill>
              </a:rPr>
              <a:t>skridt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j, </a:t>
            </a:r>
            <a:r>
              <a:rPr lang="en-US" dirty="0" err="1">
                <a:solidFill>
                  <a:srgbClr val="FF0000"/>
                </a:solidFill>
              </a:rPr>
              <a:t>ved</a:t>
            </a:r>
            <a:r>
              <a:rPr lang="en-US" dirty="0">
                <a:solidFill>
                  <a:srgbClr val="FF0000"/>
                </a:solidFill>
              </a:rPr>
              <a:t> at se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hvor</a:t>
            </a:r>
            <a:r>
              <a:rPr lang="en-US" dirty="0">
                <a:solidFill>
                  <a:srgbClr val="FF0000"/>
                </a:solidFill>
              </a:rPr>
              <a:t> vi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være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tidspunkt</a:t>
            </a:r>
            <a:r>
              <a:rPr lang="en-US" dirty="0">
                <a:solidFill>
                  <a:srgbClr val="FF0000"/>
                </a:solidFill>
              </a:rPr>
              <a:t> t+1</a:t>
            </a:r>
            <a:endParaRPr lang="da-DK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0F4C97-6C69-AE9F-9FC7-99DB3FA7950D}"/>
              </a:ext>
            </a:extLst>
          </p:cNvPr>
          <p:cNvCxnSpPr/>
          <p:nvPr/>
        </p:nvCxnSpPr>
        <p:spPr>
          <a:xfrm flipH="1" flipV="1">
            <a:off x="6986337" y="3112168"/>
            <a:ext cx="1716505" cy="649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239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CD886-60A6-AD8D-3712-CF496BC8E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Eksempler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n-</a:t>
            </a:r>
            <a:r>
              <a:rPr lang="en-US" b="1" dirty="0" err="1"/>
              <a:t>skridts</a:t>
            </a:r>
            <a:r>
              <a:rPr lang="en-US" b="1" dirty="0"/>
              <a:t> </a:t>
            </a:r>
            <a:r>
              <a:rPr lang="en-US" b="1" dirty="0" err="1"/>
              <a:t>overgangsmatricer</a:t>
            </a:r>
            <a:r>
              <a:rPr lang="en-US" b="1" dirty="0"/>
              <a:t> for </a:t>
            </a:r>
            <a:r>
              <a:rPr lang="en-US" b="1" dirty="0" err="1"/>
              <a:t>vores</a:t>
            </a:r>
            <a:r>
              <a:rPr lang="en-US" b="1" dirty="0"/>
              <a:t> case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9CF09E-4D96-0A7C-4F88-4B9C4D1DA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6247" y="2216064"/>
            <a:ext cx="7393021" cy="2996119"/>
          </a:xfrm>
        </p:spPr>
      </p:pic>
    </p:spTree>
    <p:extLst>
      <p:ext uri="{BB962C8B-B14F-4D97-AF65-F5344CB8AC3E}">
        <p14:creationId xmlns:p14="http://schemas.microsoft.com/office/powerpoint/2010/main" val="2574765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1CB23-6749-03D9-34DA-A30C2EC43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169"/>
            <a:ext cx="12192000" cy="1626520"/>
          </a:xfrm>
        </p:spPr>
        <p:txBody>
          <a:bodyPr/>
          <a:lstStyle/>
          <a:p>
            <a:pPr algn="ctr"/>
            <a:r>
              <a:rPr lang="en-US" b="1" dirty="0" err="1"/>
              <a:t>Eksempler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n-</a:t>
            </a:r>
            <a:r>
              <a:rPr lang="en-US" b="1" dirty="0" err="1"/>
              <a:t>skridts</a:t>
            </a:r>
            <a:r>
              <a:rPr lang="en-US" b="1" dirty="0"/>
              <a:t> </a:t>
            </a:r>
            <a:r>
              <a:rPr lang="en-US" b="1" dirty="0" err="1"/>
              <a:t>overgangsmatricer</a:t>
            </a:r>
            <a:r>
              <a:rPr lang="en-US" b="1" dirty="0"/>
              <a:t> for </a:t>
            </a:r>
            <a:r>
              <a:rPr lang="en-US" b="1" dirty="0" err="1"/>
              <a:t>vores</a:t>
            </a:r>
            <a:r>
              <a:rPr lang="en-US" b="1" dirty="0"/>
              <a:t> case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1E7DC3-DB84-9FBD-E9D6-267B0E8D4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505" y="2494548"/>
            <a:ext cx="10010274" cy="3777916"/>
          </a:xfrm>
        </p:spPr>
      </p:pic>
    </p:spTree>
    <p:extLst>
      <p:ext uri="{BB962C8B-B14F-4D97-AF65-F5344CB8AC3E}">
        <p14:creationId xmlns:p14="http://schemas.microsoft.com/office/powerpoint/2010/main" val="3799759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191C-E770-72B4-D683-C4FFB63C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Eksempler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n-</a:t>
            </a:r>
            <a:r>
              <a:rPr lang="en-US" b="1" dirty="0" err="1"/>
              <a:t>skridts</a:t>
            </a:r>
            <a:r>
              <a:rPr lang="en-US" b="1" dirty="0"/>
              <a:t> </a:t>
            </a:r>
            <a:r>
              <a:rPr lang="en-US" b="1" dirty="0" err="1"/>
              <a:t>overgangsmatricer</a:t>
            </a:r>
            <a:r>
              <a:rPr lang="en-US" b="1" dirty="0"/>
              <a:t> for </a:t>
            </a:r>
            <a:r>
              <a:rPr lang="en-US" b="1" dirty="0" err="1"/>
              <a:t>vores</a:t>
            </a:r>
            <a:r>
              <a:rPr lang="en-US" b="1" dirty="0"/>
              <a:t> case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6A1973-B3C3-647B-20F3-DE141D03A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979" y="2683246"/>
            <a:ext cx="10274968" cy="331713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B54C6C-A563-695B-B3AC-776471927364}"/>
              </a:ext>
            </a:extLst>
          </p:cNvPr>
          <p:cNvSpPr txBox="1"/>
          <p:nvPr/>
        </p:nvSpPr>
        <p:spPr>
          <a:xfrm>
            <a:off x="8422104" y="5269832"/>
            <a:ext cx="3112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Der er </a:t>
            </a:r>
            <a:r>
              <a:rPr lang="en-US" dirty="0" err="1">
                <a:solidFill>
                  <a:srgbClr val="FF0000"/>
                </a:solidFill>
              </a:rPr>
              <a:t>uploadet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regneark</a:t>
            </a:r>
            <a:r>
              <a:rPr lang="en-US" dirty="0">
                <a:solidFill>
                  <a:srgbClr val="FF0000"/>
                </a:solidFill>
              </a:rPr>
              <a:t> med macro </a:t>
            </a:r>
            <a:r>
              <a:rPr lang="en-US" dirty="0" err="1">
                <a:solidFill>
                  <a:srgbClr val="FF0000"/>
                </a:solidFill>
              </a:rPr>
              <a:t>hvor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beregne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vilkårlig</a:t>
            </a:r>
            <a:r>
              <a:rPr lang="en-US" dirty="0">
                <a:solidFill>
                  <a:srgbClr val="FF0000"/>
                </a:solidFill>
              </a:rPr>
              <a:t> n-step </a:t>
            </a:r>
            <a:r>
              <a:rPr lang="en-US" dirty="0" err="1">
                <a:solidFill>
                  <a:srgbClr val="FF0000"/>
                </a:solidFill>
              </a:rPr>
              <a:t>overgangsmatrice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737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386E-AD90-0009-982A-CDB71A54B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Langsigts</a:t>
            </a:r>
            <a:r>
              <a:rPr lang="en-US" b="1" dirty="0"/>
              <a:t> </a:t>
            </a:r>
            <a:r>
              <a:rPr lang="en-US" b="1" dirty="0" err="1"/>
              <a:t>egenskaber</a:t>
            </a:r>
            <a:r>
              <a:rPr lang="en-US" b="1" dirty="0"/>
              <a:t> </a:t>
            </a:r>
            <a:r>
              <a:rPr lang="en-US" b="1" dirty="0" err="1"/>
              <a:t>ved</a:t>
            </a:r>
            <a:r>
              <a:rPr lang="en-US" b="1" dirty="0"/>
              <a:t> Markov </a:t>
            </a:r>
            <a:r>
              <a:rPr lang="en-US" b="1" dirty="0" err="1"/>
              <a:t>kæderne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252AB-04BC-98D6-B16D-5E4735151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Rækkerne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“P-opløftet-til-8” er </a:t>
            </a:r>
            <a:r>
              <a:rPr lang="en-US" dirty="0" err="1">
                <a:solidFill>
                  <a:srgbClr val="FF0000"/>
                </a:solidFill>
              </a:rPr>
              <a:t>meget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ens</a:t>
            </a:r>
            <a:r>
              <a:rPr lang="en-US" dirty="0">
                <a:solidFill>
                  <a:srgbClr val="FF0000"/>
                </a:solidFill>
              </a:rPr>
              <a:t> – er det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tilfældighed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Nej</a:t>
            </a:r>
            <a:r>
              <a:rPr lang="en-US" dirty="0">
                <a:solidFill>
                  <a:srgbClr val="FF0000"/>
                </a:solidFill>
              </a:rPr>
              <a:t> det </a:t>
            </a:r>
            <a:r>
              <a:rPr lang="en-US" dirty="0" err="1">
                <a:solidFill>
                  <a:srgbClr val="FF0000"/>
                </a:solidFill>
              </a:rPr>
              <a:t>viser</a:t>
            </a:r>
            <a:r>
              <a:rPr lang="en-US" dirty="0">
                <a:solidFill>
                  <a:srgbClr val="FF0000"/>
                </a:solidFill>
              </a:rPr>
              <a:t> at </a:t>
            </a:r>
            <a:r>
              <a:rPr lang="en-US" dirty="0" err="1">
                <a:solidFill>
                  <a:srgbClr val="FF0000"/>
                </a:solidFill>
              </a:rPr>
              <a:t>sandsynligheds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fordelingen</a:t>
            </a:r>
            <a:r>
              <a:rPr lang="en-US" dirty="0">
                <a:solidFill>
                  <a:srgbClr val="FF0000"/>
                </a:solidFill>
              </a:rPr>
              <a:t> for </a:t>
            </a:r>
            <a:r>
              <a:rPr lang="en-US" dirty="0" err="1">
                <a:solidFill>
                  <a:srgbClr val="FF0000"/>
                </a:solidFill>
              </a:rPr>
              <a:t>X</a:t>
            </a:r>
            <a:r>
              <a:rPr lang="en-US" sz="1800" dirty="0" err="1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FF0000"/>
                </a:solidFill>
              </a:rPr>
              <a:t> er </a:t>
            </a:r>
            <a:r>
              <a:rPr lang="en-US" dirty="0" err="1">
                <a:solidFill>
                  <a:srgbClr val="FF0000"/>
                </a:solidFill>
              </a:rPr>
              <a:t>uafhængig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start </a:t>
            </a:r>
            <a:r>
              <a:rPr lang="en-US" dirty="0" err="1">
                <a:solidFill>
                  <a:srgbClr val="FF0000"/>
                </a:solidFill>
              </a:rPr>
              <a:t>tilstanden</a:t>
            </a:r>
            <a:r>
              <a:rPr lang="en-US" dirty="0">
                <a:solidFill>
                  <a:srgbClr val="FF0000"/>
                </a:solidFill>
              </a:rPr>
              <a:t> X</a:t>
            </a:r>
            <a:r>
              <a:rPr lang="en-US" sz="16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når</a:t>
            </a:r>
            <a:r>
              <a:rPr lang="en-US" dirty="0">
                <a:solidFill>
                  <a:srgbClr val="FF0000"/>
                </a:solidFill>
              </a:rPr>
              <a:t> t er </a:t>
            </a:r>
            <a:r>
              <a:rPr lang="en-US" dirty="0" err="1">
                <a:solidFill>
                  <a:srgbClr val="FF0000"/>
                </a:solidFill>
              </a:rPr>
              <a:t>passende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stor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70C0"/>
                </a:solidFill>
              </a:rPr>
              <a:t>Altså</a:t>
            </a:r>
            <a:r>
              <a:rPr lang="en-US" dirty="0">
                <a:solidFill>
                  <a:srgbClr val="0070C0"/>
                </a:solidFill>
              </a:rPr>
              <a:t> at </a:t>
            </a:r>
            <a:r>
              <a:rPr lang="en-US" dirty="0" err="1">
                <a:solidFill>
                  <a:srgbClr val="0070C0"/>
                </a:solidFill>
              </a:rPr>
              <a:t>systemet</a:t>
            </a:r>
            <a:r>
              <a:rPr lang="en-US" dirty="0">
                <a:solidFill>
                  <a:srgbClr val="0070C0"/>
                </a:solidFill>
              </a:rPr>
              <a:t> er </a:t>
            </a:r>
            <a:r>
              <a:rPr lang="en-US" dirty="0" err="1">
                <a:solidFill>
                  <a:srgbClr val="0070C0"/>
                </a:solidFill>
              </a:rPr>
              <a:t>gået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en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statistisk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ligevægt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Rækkerne</a:t>
            </a:r>
            <a:r>
              <a:rPr lang="en-US" dirty="0">
                <a:solidFill>
                  <a:srgbClr val="00B050"/>
                </a:solidFill>
              </a:rPr>
              <a:t> vi ser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 “P-</a:t>
            </a:r>
            <a:r>
              <a:rPr lang="en-US" dirty="0" err="1">
                <a:solidFill>
                  <a:srgbClr val="00B050"/>
                </a:solidFill>
              </a:rPr>
              <a:t>opløftet</a:t>
            </a:r>
            <a:r>
              <a:rPr lang="en-US" dirty="0">
                <a:solidFill>
                  <a:srgbClr val="00B050"/>
                </a:solidFill>
              </a:rPr>
              <a:t>-</a:t>
            </a:r>
            <a:r>
              <a:rPr lang="en-US" dirty="0" err="1">
                <a:solidFill>
                  <a:srgbClr val="00B050"/>
                </a:solidFill>
              </a:rPr>
              <a:t>til</a:t>
            </a:r>
            <a:r>
              <a:rPr lang="en-US" dirty="0">
                <a:solidFill>
                  <a:srgbClr val="00B050"/>
                </a:solidFill>
              </a:rPr>
              <a:t>-n” (</a:t>
            </a:r>
            <a:r>
              <a:rPr lang="en-US" dirty="0" err="1">
                <a:solidFill>
                  <a:srgbClr val="00B050"/>
                </a:solidFill>
              </a:rPr>
              <a:t>og</a:t>
            </a:r>
            <a:r>
              <a:rPr lang="en-US" dirty="0">
                <a:solidFill>
                  <a:srgbClr val="00B050"/>
                </a:solidFill>
              </a:rPr>
              <a:t> n </a:t>
            </a:r>
            <a:r>
              <a:rPr lang="en-US" dirty="0" err="1">
                <a:solidFill>
                  <a:srgbClr val="00B050"/>
                </a:solidFill>
              </a:rPr>
              <a:t>stor</a:t>
            </a:r>
            <a:r>
              <a:rPr lang="en-US" dirty="0">
                <a:solidFill>
                  <a:srgbClr val="00B050"/>
                </a:solidFill>
              </a:rPr>
              <a:t>) er </a:t>
            </a:r>
            <a:r>
              <a:rPr lang="en-US" b="1" dirty="0" err="1">
                <a:solidFill>
                  <a:srgbClr val="00B050"/>
                </a:solidFill>
              </a:rPr>
              <a:t>ligevægtssandsynlighederne</a:t>
            </a: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90404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D5FD4-7D48-A61F-0E45-6498DFC5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Beregning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ligevægsandsynligheder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987DE-04EE-97A9-0599-CF14E7E87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da-DK" dirty="0">
                <a:solidFill>
                  <a:srgbClr val="FF0000"/>
                </a:solidFill>
              </a:rPr>
              <a:t>Gange P matricer sammen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eller 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>
                <a:solidFill>
                  <a:srgbClr val="0070C0"/>
                </a:solidFill>
              </a:rPr>
              <a:t>Løse ligningssystem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E12E7-F32B-8BC0-D179-1AE2B9A17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97" y="4855211"/>
            <a:ext cx="7354111" cy="120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503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F586-4D6F-6791-AD90-D7B901CCD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Løsning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ligningssystem</a:t>
            </a:r>
            <a:r>
              <a:rPr lang="en-US" b="1" dirty="0"/>
              <a:t> for </a:t>
            </a:r>
            <a:r>
              <a:rPr lang="en-US" b="1" dirty="0" err="1"/>
              <a:t>vores</a:t>
            </a:r>
            <a:r>
              <a:rPr lang="en-US" b="1" dirty="0"/>
              <a:t> case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63EF3-DF6E-F411-40AC-90267CAAC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295" y="1989221"/>
            <a:ext cx="9881937" cy="4323347"/>
          </a:xfrm>
        </p:spPr>
      </p:pic>
    </p:spTree>
    <p:extLst>
      <p:ext uri="{BB962C8B-B14F-4D97-AF65-F5344CB8AC3E}">
        <p14:creationId xmlns:p14="http://schemas.microsoft.com/office/powerpoint/2010/main" val="3542945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9AE20-0B6D-AC1C-7F4E-F067000A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Fortolkning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ligevægtsandsynlighederne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7EB48-9415-BCFD-9DC5-4D774EE22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l-GR" dirty="0">
                <a:solidFill>
                  <a:srgbClr val="FF0000"/>
                </a:solidFill>
              </a:rPr>
              <a:t>π</a:t>
            </a:r>
            <a:r>
              <a:rPr lang="en-US" sz="1800" dirty="0">
                <a:solidFill>
                  <a:srgbClr val="FF0000"/>
                </a:solidFill>
              </a:rPr>
              <a:t>j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brøkdel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hvor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systemet</a:t>
            </a:r>
            <a:r>
              <a:rPr lang="en-US" dirty="0">
                <a:solidFill>
                  <a:srgbClr val="FF0000"/>
                </a:solidFill>
              </a:rPr>
              <a:t> er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tilstand</a:t>
            </a:r>
            <a:r>
              <a:rPr lang="en-US" dirty="0">
                <a:solidFill>
                  <a:srgbClr val="FF0000"/>
                </a:solidFill>
              </a:rPr>
              <a:t> j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Eks</a:t>
            </a:r>
            <a:r>
              <a:rPr lang="en-US" dirty="0">
                <a:solidFill>
                  <a:srgbClr val="FF0000"/>
                </a:solidFill>
              </a:rPr>
              <a:t> 26,3 %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alle </a:t>
            </a:r>
            <a:r>
              <a:rPr lang="en-US" dirty="0" err="1">
                <a:solidFill>
                  <a:srgbClr val="FF0000"/>
                </a:solidFill>
              </a:rPr>
              <a:t>uger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vil</a:t>
            </a:r>
            <a:r>
              <a:rPr lang="en-US" dirty="0">
                <a:solidFill>
                  <a:srgbClr val="FF0000"/>
                </a:solidFill>
              </a:rPr>
              <a:t> man observer et </a:t>
            </a:r>
            <a:r>
              <a:rPr lang="en-US" dirty="0" err="1">
                <a:solidFill>
                  <a:srgbClr val="FF0000"/>
                </a:solidFill>
              </a:rPr>
              <a:t>ultimolager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2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76125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CC928-FBD9-8BC7-69AA-D9DB2372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Eksisterer</a:t>
            </a:r>
            <a:r>
              <a:rPr lang="en-US" b="1" dirty="0"/>
              <a:t> </a:t>
            </a:r>
            <a:r>
              <a:rPr lang="en-US" b="1" dirty="0" err="1"/>
              <a:t>ligevægtssandsynligheder</a:t>
            </a:r>
            <a:r>
              <a:rPr lang="en-US" b="1" dirty="0"/>
              <a:t> </a:t>
            </a:r>
            <a:r>
              <a:rPr lang="en-US" b="1" dirty="0" err="1"/>
              <a:t>altid</a:t>
            </a:r>
            <a:r>
              <a:rPr lang="en-US" b="1" dirty="0"/>
              <a:t>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3EE5B-739D-D841-48AF-CB6B319BA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1704"/>
            <a:ext cx="12192000" cy="544629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Ja </a:t>
            </a:r>
            <a:r>
              <a:rPr lang="en-US" dirty="0" err="1">
                <a:solidFill>
                  <a:srgbClr val="FF0000"/>
                </a:solidFill>
              </a:rPr>
              <a:t>hvis</a:t>
            </a:r>
            <a:r>
              <a:rPr lang="en-US" dirty="0">
                <a:solidFill>
                  <a:srgbClr val="FF0000"/>
                </a:solidFill>
              </a:rPr>
              <a:t> man </a:t>
            </a:r>
            <a:r>
              <a:rPr lang="en-US" dirty="0" err="1">
                <a:solidFill>
                  <a:srgbClr val="FF0000"/>
                </a:solidFill>
              </a:rPr>
              <a:t>har</a:t>
            </a:r>
            <a:r>
              <a:rPr lang="en-US" dirty="0">
                <a:solidFill>
                  <a:srgbClr val="FF0000"/>
                </a:solidFill>
              </a:rPr>
              <a:t> et “</a:t>
            </a:r>
            <a:r>
              <a:rPr lang="en-US" dirty="0" err="1">
                <a:solidFill>
                  <a:srgbClr val="FF0000"/>
                </a:solidFill>
              </a:rPr>
              <a:t>pænt</a:t>
            </a:r>
            <a:r>
              <a:rPr lang="en-US" dirty="0">
                <a:solidFill>
                  <a:srgbClr val="FF0000"/>
                </a:solidFill>
              </a:rPr>
              <a:t>” system </a:t>
            </a:r>
            <a:r>
              <a:rPr lang="en-US" dirty="0" err="1">
                <a:solidFill>
                  <a:srgbClr val="FF0000"/>
                </a:solidFill>
              </a:rPr>
              <a:t>hvor</a:t>
            </a:r>
            <a:r>
              <a:rPr lang="en-US" dirty="0">
                <a:solidFill>
                  <a:srgbClr val="FF0000"/>
                </a:solidFill>
              </a:rPr>
              <a:t> alle </a:t>
            </a:r>
            <a:r>
              <a:rPr lang="en-US" dirty="0" err="1">
                <a:solidFill>
                  <a:srgbClr val="FF0000"/>
                </a:solidFill>
              </a:rPr>
              <a:t>tilstande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“</a:t>
            </a:r>
            <a:r>
              <a:rPr lang="en-US" dirty="0" err="1">
                <a:solidFill>
                  <a:srgbClr val="FF0000"/>
                </a:solidFill>
              </a:rPr>
              <a:t>nå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hinanden</a:t>
            </a:r>
            <a:r>
              <a:rPr lang="en-US" dirty="0">
                <a:solidFill>
                  <a:srgbClr val="FF0000"/>
                </a:solidFill>
              </a:rPr>
              <a:t>” (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praksis</a:t>
            </a:r>
            <a:r>
              <a:rPr lang="en-US" dirty="0">
                <a:solidFill>
                  <a:srgbClr val="FF0000"/>
                </a:solidFill>
              </a:rPr>
              <a:t> er det </a:t>
            </a:r>
            <a:r>
              <a:rPr lang="en-US" dirty="0" err="1">
                <a:solidFill>
                  <a:srgbClr val="FF0000"/>
                </a:solidFill>
              </a:rPr>
              <a:t>oftest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sådan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Man </a:t>
            </a:r>
            <a:r>
              <a:rPr lang="en-US" dirty="0" err="1">
                <a:solidFill>
                  <a:srgbClr val="0070C0"/>
                </a:solidFill>
              </a:rPr>
              <a:t>kan</a:t>
            </a:r>
            <a:r>
              <a:rPr lang="en-US" dirty="0">
                <a:solidFill>
                  <a:srgbClr val="0070C0"/>
                </a:solidFill>
              </a:rPr>
              <a:t> dog </a:t>
            </a:r>
            <a:r>
              <a:rPr lang="en-US" dirty="0" err="1">
                <a:solidFill>
                  <a:srgbClr val="0070C0"/>
                </a:solidFill>
              </a:rPr>
              <a:t>konstruere</a:t>
            </a:r>
            <a:r>
              <a:rPr lang="en-US" dirty="0">
                <a:solidFill>
                  <a:srgbClr val="0070C0"/>
                </a:solidFill>
              </a:rPr>
              <a:t> “</a:t>
            </a:r>
            <a:r>
              <a:rPr lang="en-US" dirty="0" err="1">
                <a:solidFill>
                  <a:srgbClr val="0070C0"/>
                </a:solidFill>
              </a:rPr>
              <a:t>patalogiske</a:t>
            </a:r>
            <a:r>
              <a:rPr lang="en-US" dirty="0">
                <a:solidFill>
                  <a:srgbClr val="0070C0"/>
                </a:solidFill>
              </a:rPr>
              <a:t>” </a:t>
            </a:r>
            <a:r>
              <a:rPr lang="en-US" dirty="0" err="1">
                <a:solidFill>
                  <a:srgbClr val="0070C0"/>
                </a:solidFill>
              </a:rPr>
              <a:t>eksepmler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hvor</a:t>
            </a:r>
            <a:r>
              <a:rPr lang="en-US" dirty="0">
                <a:solidFill>
                  <a:srgbClr val="0070C0"/>
                </a:solidFill>
              </a:rPr>
              <a:t> man </a:t>
            </a:r>
            <a:r>
              <a:rPr lang="en-US" dirty="0" err="1">
                <a:solidFill>
                  <a:srgbClr val="0070C0"/>
                </a:solidFill>
              </a:rPr>
              <a:t>ikke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finde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ligevægtsandsynligheder</a:t>
            </a:r>
            <a:r>
              <a:rPr lang="en-US" dirty="0">
                <a:solidFill>
                  <a:srgbClr val="0070C0"/>
                </a:solidFill>
              </a:rPr>
              <a:t>, se p. 736 </a:t>
            </a:r>
            <a:r>
              <a:rPr lang="en-US" dirty="0" err="1">
                <a:solidFill>
                  <a:srgbClr val="0070C0"/>
                </a:solidFill>
              </a:rPr>
              <a:t>forneden</a:t>
            </a:r>
            <a:r>
              <a:rPr lang="en-US" dirty="0">
                <a:solidFill>
                  <a:srgbClr val="0070C0"/>
                </a:solidFill>
              </a:rPr>
              <a:t>.</a:t>
            </a:r>
            <a:endParaRPr lang="da-DK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473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C56E-9114-C279-840F-48FA50B7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Evaluering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økonomisk</a:t>
            </a:r>
            <a:r>
              <a:rPr lang="en-US" b="1" dirty="0"/>
              <a:t> performance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573A8-83CE-3ED5-82B3-2C4ABBAF6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Antag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indkøbspris</a:t>
            </a:r>
            <a:r>
              <a:rPr lang="en-US" dirty="0">
                <a:solidFill>
                  <a:srgbClr val="FF0000"/>
                </a:solidFill>
              </a:rPr>
              <a:t> er 25 kr. per </a:t>
            </a:r>
            <a:r>
              <a:rPr lang="en-US" dirty="0" err="1">
                <a:solidFill>
                  <a:srgbClr val="FF0000"/>
                </a:solidFill>
              </a:rPr>
              <a:t>kamera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der er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fast </a:t>
            </a:r>
            <a:r>
              <a:rPr lang="en-US" dirty="0" err="1">
                <a:solidFill>
                  <a:srgbClr val="FF0000"/>
                </a:solidFill>
              </a:rPr>
              <a:t>transaktionsomkostning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10 kr. </a:t>
            </a:r>
            <a:r>
              <a:rPr lang="en-US" dirty="0" err="1">
                <a:solidFill>
                  <a:srgbClr val="FF0000"/>
                </a:solidFill>
              </a:rPr>
              <a:t>hver</a:t>
            </a:r>
            <a:r>
              <a:rPr lang="en-US" dirty="0">
                <a:solidFill>
                  <a:srgbClr val="FF0000"/>
                </a:solidFill>
              </a:rPr>
              <a:t> gang der </a:t>
            </a:r>
            <a:r>
              <a:rPr lang="en-US" dirty="0" err="1">
                <a:solidFill>
                  <a:srgbClr val="FF0000"/>
                </a:solidFill>
              </a:rPr>
              <a:t>bestilles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hjem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Hver</a:t>
            </a:r>
            <a:r>
              <a:rPr lang="en-US" dirty="0">
                <a:solidFill>
                  <a:srgbClr val="FF0000"/>
                </a:solidFill>
              </a:rPr>
              <a:t> gang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efterspørgsel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ikke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imødekommes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sættes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omkostning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50 kr. (</a:t>
            </a:r>
            <a:r>
              <a:rPr lang="en-US" dirty="0" err="1">
                <a:solidFill>
                  <a:srgbClr val="FF0000"/>
                </a:solidFill>
              </a:rPr>
              <a:t>tabt</a:t>
            </a:r>
            <a:r>
              <a:rPr lang="en-US" dirty="0">
                <a:solidFill>
                  <a:srgbClr val="FF0000"/>
                </a:solidFill>
              </a:rPr>
              <a:t> profit plus tab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goodwill)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Er den </a:t>
            </a:r>
            <a:r>
              <a:rPr lang="en-US" dirty="0" err="1">
                <a:solidFill>
                  <a:srgbClr val="00B050"/>
                </a:solidFill>
              </a:rPr>
              <a:t>valgte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lagerstyringspolitik</a:t>
            </a:r>
            <a:r>
              <a:rPr lang="en-US" dirty="0">
                <a:solidFill>
                  <a:srgbClr val="00B050"/>
                </a:solidFill>
              </a:rPr>
              <a:t> optimal?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28519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A526-3CB7-BBE0-ABF5-8E0AE763E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05017"/>
          </a:xfrm>
        </p:spPr>
        <p:txBody>
          <a:bodyPr/>
          <a:lstStyle/>
          <a:p>
            <a:pPr algn="ctr"/>
            <a:r>
              <a:rPr lang="en-US" b="1" dirty="0" err="1"/>
              <a:t>Evaluering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økonomisk</a:t>
            </a:r>
            <a:r>
              <a:rPr lang="en-US" b="1" dirty="0"/>
              <a:t> performance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5B8DE-C170-76F6-89EA-014C9C2D4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5018"/>
            <a:ext cx="12192000" cy="555298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 </a:t>
            </a:r>
            <a:r>
              <a:rPr lang="en-US" dirty="0" err="1">
                <a:solidFill>
                  <a:srgbClr val="FF0000"/>
                </a:solidFill>
              </a:rPr>
              <a:t>uge</a:t>
            </a:r>
            <a:r>
              <a:rPr lang="en-US" dirty="0">
                <a:solidFill>
                  <a:srgbClr val="FF0000"/>
                </a:solidFill>
              </a:rPr>
              <a:t> t </a:t>
            </a:r>
            <a:r>
              <a:rPr lang="en-US" dirty="0" err="1">
                <a:solidFill>
                  <a:srgbClr val="FF0000"/>
                </a:solidFill>
              </a:rPr>
              <a:t>påføres</a:t>
            </a:r>
            <a:r>
              <a:rPr lang="en-US" dirty="0">
                <a:solidFill>
                  <a:srgbClr val="FF0000"/>
                </a:solidFill>
              </a:rPr>
              <a:t> vi </a:t>
            </a:r>
            <a:r>
              <a:rPr lang="en-US" dirty="0" err="1">
                <a:solidFill>
                  <a:srgbClr val="FF0000"/>
                </a:solidFill>
              </a:rPr>
              <a:t>omkostning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Lad k(j) </a:t>
            </a:r>
            <a:r>
              <a:rPr lang="en-US" dirty="0" err="1">
                <a:solidFill>
                  <a:srgbClr val="0070C0"/>
                </a:solidFill>
              </a:rPr>
              <a:t>betegne</a:t>
            </a:r>
            <a:r>
              <a:rPr lang="en-US" dirty="0">
                <a:solidFill>
                  <a:srgbClr val="0070C0"/>
                </a:solidFill>
              </a:rPr>
              <a:t> de </a:t>
            </a:r>
            <a:r>
              <a:rPr lang="en-US" dirty="0" err="1">
                <a:solidFill>
                  <a:srgbClr val="0070C0"/>
                </a:solidFill>
              </a:rPr>
              <a:t>forventede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omkostninger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når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ultimolageret</a:t>
            </a:r>
            <a:r>
              <a:rPr lang="en-US" dirty="0">
                <a:solidFill>
                  <a:srgbClr val="0070C0"/>
                </a:solidFill>
              </a:rPr>
              <a:t> er j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33CEE-AF1D-AA30-2520-5F95B2D7A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1" y="2166152"/>
            <a:ext cx="8523837" cy="183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49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B567-C0B7-8BA5-0F69-8FA2F79B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Beregning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k(j)’er </a:t>
            </a:r>
            <a:r>
              <a:rPr lang="en-US" b="1" dirty="0" err="1"/>
              <a:t>og</a:t>
            </a:r>
            <a:r>
              <a:rPr lang="en-US" b="1" dirty="0"/>
              <a:t> slut </a:t>
            </a:r>
            <a:r>
              <a:rPr lang="en-US" b="1" dirty="0" err="1"/>
              <a:t>evaluering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DA1B3E-BA1A-8CBE-7ABA-C67028183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069" y="1447060"/>
            <a:ext cx="10617693" cy="5410939"/>
          </a:xfrm>
        </p:spPr>
      </p:pic>
    </p:spTree>
    <p:extLst>
      <p:ext uri="{BB962C8B-B14F-4D97-AF65-F5344CB8AC3E}">
        <p14:creationId xmlns:p14="http://schemas.microsoft.com/office/powerpoint/2010/main" val="2624755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AACD-AEE6-F8B4-7632-818E1956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Er den </a:t>
            </a:r>
            <a:r>
              <a:rPr lang="en-US" b="1" dirty="0" err="1"/>
              <a:t>valgte</a:t>
            </a:r>
            <a:r>
              <a:rPr lang="en-US" b="1" dirty="0"/>
              <a:t> </a:t>
            </a:r>
            <a:r>
              <a:rPr lang="en-US" b="1" dirty="0" err="1"/>
              <a:t>politik</a:t>
            </a:r>
            <a:r>
              <a:rPr lang="en-US" b="1" dirty="0"/>
              <a:t> optimal 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D47A4-F025-BB88-F4BE-F835783BE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Altså</a:t>
            </a:r>
            <a:r>
              <a:rPr lang="en-US" dirty="0">
                <a:solidFill>
                  <a:srgbClr val="FF0000"/>
                </a:solidFill>
              </a:rPr>
              <a:t> er et </a:t>
            </a:r>
            <a:r>
              <a:rPr lang="en-US" dirty="0" err="1">
                <a:solidFill>
                  <a:srgbClr val="FF0000"/>
                </a:solidFill>
              </a:rPr>
              <a:t>genbestillingspunkt</a:t>
            </a:r>
            <a:r>
              <a:rPr lang="en-US" dirty="0">
                <a:solidFill>
                  <a:srgbClr val="FF0000"/>
                </a:solidFill>
              </a:rPr>
              <a:t> s = 0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et order-up-to </a:t>
            </a:r>
            <a:r>
              <a:rPr lang="en-US" dirty="0" err="1">
                <a:solidFill>
                  <a:srgbClr val="FF0000"/>
                </a:solidFill>
              </a:rPr>
              <a:t>punkt</a:t>
            </a:r>
            <a:r>
              <a:rPr lang="en-US" dirty="0">
                <a:solidFill>
                  <a:srgbClr val="FF0000"/>
                </a:solidFill>
              </a:rPr>
              <a:t> S = 3 </a:t>
            </a:r>
            <a:r>
              <a:rPr lang="en-US" dirty="0" err="1">
                <a:solidFill>
                  <a:srgbClr val="FF0000"/>
                </a:solidFill>
              </a:rPr>
              <a:t>optimalt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Det simple </a:t>
            </a:r>
            <a:r>
              <a:rPr lang="en-US" dirty="0" err="1">
                <a:solidFill>
                  <a:srgbClr val="00B050"/>
                </a:solidFill>
              </a:rPr>
              <a:t>svar</a:t>
            </a:r>
            <a:r>
              <a:rPr lang="en-US" dirty="0">
                <a:solidFill>
                  <a:srgbClr val="00B050"/>
                </a:solidFill>
              </a:rPr>
              <a:t> er at </a:t>
            </a:r>
            <a:r>
              <a:rPr lang="en-US" dirty="0" err="1">
                <a:solidFill>
                  <a:srgbClr val="00B050"/>
                </a:solidFill>
              </a:rPr>
              <a:t>prøve</a:t>
            </a:r>
            <a:r>
              <a:rPr lang="en-US" dirty="0">
                <a:solidFill>
                  <a:srgbClr val="00B050"/>
                </a:solidFill>
              </a:rPr>
              <a:t> sig </a:t>
            </a:r>
            <a:r>
              <a:rPr lang="en-US" dirty="0" err="1">
                <a:solidFill>
                  <a:srgbClr val="00B050"/>
                </a:solidFill>
              </a:rPr>
              <a:t>frem</a:t>
            </a:r>
            <a:r>
              <a:rPr lang="en-US" dirty="0">
                <a:solidFill>
                  <a:srgbClr val="00B050"/>
                </a:solidFill>
              </a:rPr>
              <a:t> med </a:t>
            </a:r>
            <a:r>
              <a:rPr lang="en-US" dirty="0" err="1">
                <a:solidFill>
                  <a:srgbClr val="00B050"/>
                </a:solidFill>
              </a:rPr>
              <a:t>andre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værdier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af</a:t>
            </a:r>
            <a:r>
              <a:rPr lang="en-US" dirty="0">
                <a:solidFill>
                  <a:srgbClr val="00B050"/>
                </a:solidFill>
              </a:rPr>
              <a:t> s </a:t>
            </a:r>
            <a:r>
              <a:rPr lang="en-US" dirty="0" err="1">
                <a:solidFill>
                  <a:srgbClr val="00B050"/>
                </a:solidFill>
              </a:rPr>
              <a:t>og</a:t>
            </a:r>
            <a:r>
              <a:rPr lang="en-US" dirty="0">
                <a:solidFill>
                  <a:srgbClr val="00B050"/>
                </a:solidFill>
              </a:rPr>
              <a:t> S, </a:t>
            </a:r>
            <a:r>
              <a:rPr lang="en-US" dirty="0" err="1">
                <a:solidFill>
                  <a:srgbClr val="00B050"/>
                </a:solidFill>
              </a:rPr>
              <a:t>eks</a:t>
            </a:r>
            <a:r>
              <a:rPr lang="en-US" dirty="0">
                <a:solidFill>
                  <a:srgbClr val="00B050"/>
                </a:solidFill>
              </a:rPr>
              <a:t> (</a:t>
            </a:r>
            <a:r>
              <a:rPr lang="en-US" dirty="0" err="1">
                <a:solidFill>
                  <a:srgbClr val="00B050"/>
                </a:solidFill>
              </a:rPr>
              <a:t>s,S</a:t>
            </a:r>
            <a:r>
              <a:rPr lang="en-US" dirty="0">
                <a:solidFill>
                  <a:srgbClr val="00B050"/>
                </a:solidFill>
              </a:rPr>
              <a:t>) = (1,3), (0,4) </a:t>
            </a:r>
            <a:r>
              <a:rPr lang="en-US" dirty="0" err="1">
                <a:solidFill>
                  <a:srgbClr val="00B050"/>
                </a:solidFill>
              </a:rPr>
              <a:t>osv</a:t>
            </a:r>
            <a:r>
              <a:rPr lang="en-US" dirty="0">
                <a:solidFill>
                  <a:srgbClr val="00B050"/>
                </a:solidFill>
              </a:rPr>
              <a:t>. Og </a:t>
            </a:r>
            <a:r>
              <a:rPr lang="en-US" dirty="0" err="1">
                <a:solidFill>
                  <a:srgbClr val="00B050"/>
                </a:solidFill>
              </a:rPr>
              <a:t>altså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søge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indenfor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klassen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af</a:t>
            </a:r>
            <a:r>
              <a:rPr lang="en-US" dirty="0">
                <a:solidFill>
                  <a:srgbClr val="00B050"/>
                </a:solidFill>
              </a:rPr>
              <a:t> (</a:t>
            </a:r>
            <a:r>
              <a:rPr lang="en-US" dirty="0" err="1">
                <a:solidFill>
                  <a:srgbClr val="00B050"/>
                </a:solidFill>
              </a:rPr>
              <a:t>s,S</a:t>
            </a:r>
            <a:r>
              <a:rPr lang="en-US" dirty="0">
                <a:solidFill>
                  <a:srgbClr val="00B050"/>
                </a:solidFill>
              </a:rPr>
              <a:t>) </a:t>
            </a:r>
            <a:r>
              <a:rPr lang="en-US" dirty="0" err="1">
                <a:solidFill>
                  <a:srgbClr val="00B050"/>
                </a:solidFill>
              </a:rPr>
              <a:t>politikker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Det mere </a:t>
            </a:r>
            <a:r>
              <a:rPr lang="en-US" dirty="0" err="1">
                <a:solidFill>
                  <a:srgbClr val="0070C0"/>
                </a:solidFill>
              </a:rPr>
              <a:t>komplekse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svar</a:t>
            </a:r>
            <a:r>
              <a:rPr lang="en-US" dirty="0">
                <a:solidFill>
                  <a:srgbClr val="0070C0"/>
                </a:solidFill>
              </a:rPr>
              <a:t> er at </a:t>
            </a:r>
            <a:r>
              <a:rPr lang="en-US" dirty="0" err="1">
                <a:solidFill>
                  <a:srgbClr val="0070C0"/>
                </a:solidFill>
              </a:rPr>
              <a:t>udvikle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algoritme</a:t>
            </a:r>
            <a:r>
              <a:rPr lang="en-US" dirty="0">
                <a:solidFill>
                  <a:srgbClr val="0070C0"/>
                </a:solidFill>
              </a:rPr>
              <a:t> der finder </a:t>
            </a:r>
            <a:r>
              <a:rPr lang="en-US" dirty="0" err="1">
                <a:solidFill>
                  <a:srgbClr val="0070C0"/>
                </a:solidFill>
              </a:rPr>
              <a:t>en</a:t>
            </a:r>
            <a:r>
              <a:rPr lang="en-US" dirty="0">
                <a:solidFill>
                  <a:srgbClr val="0070C0"/>
                </a:solidFill>
              </a:rPr>
              <a:t> optimal (</a:t>
            </a:r>
            <a:r>
              <a:rPr lang="en-US" dirty="0" err="1">
                <a:solidFill>
                  <a:srgbClr val="0070C0"/>
                </a:solidFill>
              </a:rPr>
              <a:t>s,S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 err="1">
                <a:solidFill>
                  <a:srgbClr val="0070C0"/>
                </a:solidFill>
              </a:rPr>
              <a:t>politik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Men </a:t>
            </a:r>
            <a:r>
              <a:rPr lang="en-US" dirty="0" err="1">
                <a:solidFill>
                  <a:srgbClr val="0070C0"/>
                </a:solidFill>
              </a:rPr>
              <a:t>måske</a:t>
            </a:r>
            <a:r>
              <a:rPr lang="en-US" dirty="0">
                <a:solidFill>
                  <a:srgbClr val="0070C0"/>
                </a:solidFill>
              </a:rPr>
              <a:t> er der </a:t>
            </a:r>
            <a:r>
              <a:rPr lang="en-US" dirty="0" err="1">
                <a:solidFill>
                  <a:srgbClr val="0070C0"/>
                </a:solidFill>
              </a:rPr>
              <a:t>andre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politik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typer</a:t>
            </a:r>
            <a:r>
              <a:rPr lang="en-US" dirty="0">
                <a:solidFill>
                  <a:srgbClr val="0070C0"/>
                </a:solidFill>
              </a:rPr>
              <a:t> der er mere </a:t>
            </a:r>
            <a:r>
              <a:rPr lang="en-US" dirty="0" err="1">
                <a:solidFill>
                  <a:srgbClr val="0070C0"/>
                </a:solidFill>
              </a:rPr>
              <a:t>optimale</a:t>
            </a:r>
            <a:r>
              <a:rPr lang="en-US" dirty="0">
                <a:solidFill>
                  <a:srgbClr val="0070C0"/>
                </a:solidFill>
              </a:rPr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Det </a:t>
            </a:r>
            <a:r>
              <a:rPr lang="en-US" dirty="0" err="1">
                <a:solidFill>
                  <a:srgbClr val="FFC000"/>
                </a:solidFill>
              </a:rPr>
              <a:t>komplekse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svar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falder</a:t>
            </a:r>
            <a:r>
              <a:rPr lang="en-US" dirty="0">
                <a:solidFill>
                  <a:srgbClr val="FFC000"/>
                </a:solidFill>
              </a:rPr>
              <a:t> under Markov </a:t>
            </a:r>
            <a:r>
              <a:rPr lang="en-US" dirty="0" err="1">
                <a:solidFill>
                  <a:srgbClr val="FFC000"/>
                </a:solidFill>
              </a:rPr>
              <a:t>beslutningsteori</a:t>
            </a:r>
            <a:r>
              <a:rPr lang="en-US" dirty="0">
                <a:solidFill>
                  <a:srgbClr val="FFC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2389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853</Words>
  <Application>Microsoft Office PowerPoint</Application>
  <PresentationFormat>Widescreen</PresentationFormat>
  <Paragraphs>131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Markov kæder</vt:lpstr>
      <vt:lpstr>Gennemgående eksempel: Daves photography store</vt:lpstr>
      <vt:lpstr>Fundamental egenskab ved Markov kæde</vt:lpstr>
      <vt:lpstr>Har vores case Markov egenskab?</vt:lpstr>
      <vt:lpstr>En grund-byggesten: overgangssansynligheder</vt:lpstr>
      <vt:lpstr>Hvornår er vores case en stationær Markov kæde? </vt:lpstr>
      <vt:lpstr>Konkretisering af case</vt:lpstr>
      <vt:lpstr>Lidt om Poisson fordeling</vt:lpstr>
      <vt:lpstr>Overgangssandsynlighederne i vores case</vt:lpstr>
      <vt:lpstr>Overgangssandsynlighederne i vores case</vt:lpstr>
      <vt:lpstr>Hvordan udvikler Markov kæde sig over tid  (på langt sigt)?</vt:lpstr>
      <vt:lpstr>Tilfældet n = 2</vt:lpstr>
      <vt:lpstr>Eksempler på n-skridts overgangsmatricer for vores case</vt:lpstr>
      <vt:lpstr>Eksempler på n-skridts overgangsmatricer for vores case</vt:lpstr>
      <vt:lpstr>Eksempler på n-skridts overgangsmatricer for vores case</vt:lpstr>
      <vt:lpstr>Langsigts egenskaber ved Markov kæderne</vt:lpstr>
      <vt:lpstr>Beregning af ligevægsandsynligheder</vt:lpstr>
      <vt:lpstr>Løsning af ligningssystem for vores case</vt:lpstr>
      <vt:lpstr>Fortolkning af ligevægtsandsynlighederne</vt:lpstr>
      <vt:lpstr>Eksisterer ligevægtssandsynligheder altid?</vt:lpstr>
      <vt:lpstr>Evaluering af økonomisk performance</vt:lpstr>
      <vt:lpstr>Evaluering af økonomisk performance</vt:lpstr>
      <vt:lpstr>Beregning af k(j)’er og slut evaluering</vt:lpstr>
      <vt:lpstr>Er den valgte politik optimal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Markov kæder</dc:title>
  <dc:creator>Christian Larsen</dc:creator>
  <cp:lastModifiedBy>Christian Larsen</cp:lastModifiedBy>
  <cp:revision>19</cp:revision>
  <dcterms:created xsi:type="dcterms:W3CDTF">2023-10-04T11:23:46Z</dcterms:created>
  <dcterms:modified xsi:type="dcterms:W3CDTF">2023-10-20T08:20:30Z</dcterms:modified>
</cp:coreProperties>
</file>