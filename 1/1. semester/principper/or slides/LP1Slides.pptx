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5D4D-4C75-1776-F27B-64C4BFFA7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B04A3-8130-D0C4-DAB2-2DB97043C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B7CAF-0714-F029-E768-E27B9053B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0565-FDBB-6164-A2AE-A2BB0CAB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8055-487E-DC86-C20D-87144946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0412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9ED6-F522-128C-0861-135DAAC9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92D84-7754-D0AA-2F3A-182068479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CD32F-F1D7-7127-18F8-0F9F972E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C355D-C607-9972-2486-594D32C6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700C9-0375-BF09-BAB6-97B37A02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557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7082-6889-1E27-8A07-0E114DAF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563EF-C4FC-5EA3-8AC3-F2938D518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C3627-3CED-57F9-BA88-DCCC0746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8A428-43C3-7248-E85F-BCD0786B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DE23F-832B-4108-ECCE-92DC97B3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700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E14C-53DD-B027-110E-D4EB0EA2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9EC2-30DA-DA02-C023-692041B31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1FA7A-71CC-04AF-1E1F-50B46B42A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B3CC4-6DBF-6894-770E-556CD4BB7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EFD9E-3904-1EB0-3AD2-693C64BD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C773C-CD2C-CBB7-E1B5-99F29C88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901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BB1D-57F1-23F3-6608-7F2F7DF2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54B4B-A03E-B22D-1E6F-D61AE3513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38626-BD78-FA35-F62E-6BBB8C2C4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96000-2222-7301-40D2-7F34B5C6A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AC25C-6C2F-FA92-78F4-7A3181A65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42050-AB0C-B5AB-921E-97A802F1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09CFF-2CC3-5D68-0523-E9F30E44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7868E-6F10-451E-FBB9-532E5D01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9332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AE2B-8637-7183-B4C4-371379C9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FDF5A-2B9A-76C2-C033-4117861F7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FDC2C-528D-2022-A752-BB7CC78A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6CBA8-A9D2-D986-A4D1-0E78C9BD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0620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F4A9F-9195-DBCA-D37F-F9F15583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947E6-F97E-CA6C-E671-ADDFCE4A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94FF8-6BBC-24A7-6023-472938F6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262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C937-5BAD-38C4-23DF-BD2B02D0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3C4B-6A77-339C-9FE9-6D89A5BE4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18B8F-1CA0-249D-2103-6AEA9B2A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6C657-5AD6-6D9A-7C21-6A130F83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CBDD5-AABE-366F-A40E-F9BECD4C8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407E1-EAD5-87AF-7B5F-1E90F6AA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508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6FBE-8599-F6F4-6A2F-AC03F6BC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8794-AAD9-2A26-90BA-E6895E3077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8C49A-AAE1-BD79-B32D-30BABDA02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B0C7B-D1BC-1428-E79C-1E4FB605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BF637-150D-B9A6-E5C3-4623389E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5CC77-C569-F6D5-9C1D-2906678D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570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A776-B4CC-0314-90E9-65CCABBA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D0204-1A77-BAE9-8D4E-717456D39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1239E-7202-6CFE-F700-BCB8552EB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49C50-5FC7-211B-6D6E-28290F24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3108-F6C7-CC88-74C4-26708CC7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132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90860B-7D86-5608-EB57-EE5AB1426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3F6E9-4A91-55BD-015B-E76CE2231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9E4FC-5F54-FB7A-31A8-E70FBFD9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93ACD-B996-1FFB-42BA-B3783DD7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3F84E-6ACA-DD33-178D-0D8B610D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719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0C5E0-2802-9C6F-3F9F-96859BD2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A084A-5052-794A-D680-7F84A7560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E5F88-3559-8441-A5E6-F31BED9D5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6C7F1-BF7D-4AE9-B87E-EEC594886A7A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02848-D219-2E19-1010-6F4F48197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DCC2-E202-7A0F-4769-BCFA1DCE4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CA15B-8E00-4123-896F-3804A0F07FE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319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1451-3E6B-9C3E-DA42-06D2DB5E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31494"/>
          </a:xfrm>
        </p:spPr>
        <p:txBody>
          <a:bodyPr/>
          <a:lstStyle/>
          <a:p>
            <a:pPr algn="ctr"/>
            <a:r>
              <a:rPr lang="en-US" b="1" dirty="0" err="1"/>
              <a:t>Lineær</a:t>
            </a:r>
            <a:r>
              <a:rPr lang="en-US" b="1" dirty="0"/>
              <a:t> </a:t>
            </a:r>
            <a:r>
              <a:rPr lang="en-US" b="1" dirty="0" err="1"/>
              <a:t>Progranmmering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4ED73-5A9C-F012-D25E-8721F6221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Den </a:t>
            </a:r>
            <a:r>
              <a:rPr lang="en-US" dirty="0" err="1"/>
              <a:t>mest</a:t>
            </a:r>
            <a:r>
              <a:rPr lang="en-US" dirty="0"/>
              <a:t> </a:t>
            </a:r>
            <a:r>
              <a:rPr lang="en-US" dirty="0" err="1"/>
              <a:t>klassiske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kendte</a:t>
            </a:r>
            <a:r>
              <a:rPr lang="en-US" dirty="0"/>
              <a:t> OR Teknik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Lad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gå</a:t>
            </a:r>
            <a:r>
              <a:rPr lang="en-US" dirty="0"/>
              <a:t> </a:t>
            </a:r>
            <a:r>
              <a:rPr lang="en-US" dirty="0" err="1"/>
              <a:t>lige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hårdt</a:t>
            </a:r>
            <a:r>
              <a:rPr lang="en-US" dirty="0"/>
              <a:t> med et </a:t>
            </a:r>
            <a:r>
              <a:rPr lang="en-US" dirty="0" err="1"/>
              <a:t>eksempel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43060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0110-04AB-6F60-1276-3E21892A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dirty="0"/>
              <a:t>WYNDOR GLASS CO.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C39E0A-392F-364F-9326-4123EF68A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389" y="2173705"/>
            <a:ext cx="8518358" cy="3914273"/>
          </a:xfrm>
        </p:spPr>
      </p:pic>
    </p:spTree>
    <p:extLst>
      <p:ext uri="{BB962C8B-B14F-4D97-AF65-F5344CB8AC3E}">
        <p14:creationId xmlns:p14="http://schemas.microsoft.com/office/powerpoint/2010/main" val="357649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1D70-B2F4-05AF-F34F-6F46E4A0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Hvilke</a:t>
            </a:r>
            <a:r>
              <a:rPr lang="en-US" b="1" dirty="0"/>
              <a:t> </a:t>
            </a:r>
            <a:r>
              <a:rPr lang="en-US" b="1" dirty="0" err="1"/>
              <a:t>oplysninger</a:t>
            </a:r>
            <a:r>
              <a:rPr lang="en-US" b="1" dirty="0"/>
              <a:t> </a:t>
            </a:r>
            <a:r>
              <a:rPr lang="en-US" b="1" dirty="0" err="1"/>
              <a:t>har</a:t>
            </a:r>
            <a:r>
              <a:rPr lang="en-US" b="1" dirty="0"/>
              <a:t> vi </a:t>
            </a:r>
            <a:r>
              <a:rPr lang="en-US" b="1" dirty="0" err="1"/>
              <a:t>brug</a:t>
            </a:r>
            <a:r>
              <a:rPr lang="en-US" b="1" dirty="0"/>
              <a:t> for </a:t>
            </a:r>
            <a:r>
              <a:rPr lang="en-US" b="1" dirty="0" err="1"/>
              <a:t>for</a:t>
            </a:r>
            <a:r>
              <a:rPr lang="en-US" b="1" dirty="0"/>
              <a:t> at </a:t>
            </a:r>
            <a:r>
              <a:rPr lang="en-US" b="1" dirty="0" err="1"/>
              <a:t>løse</a:t>
            </a:r>
            <a:r>
              <a:rPr lang="en-US" b="1" dirty="0"/>
              <a:t> </a:t>
            </a:r>
            <a:r>
              <a:rPr lang="en-US" b="1" dirty="0" err="1"/>
              <a:t>problemet</a:t>
            </a:r>
            <a:r>
              <a:rPr lang="en-US" b="1" dirty="0"/>
              <a:t>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702A2-9886-485A-BB8C-C8FA320C0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 </a:t>
            </a:r>
            <a:r>
              <a:rPr lang="en-US" dirty="0" err="1">
                <a:solidFill>
                  <a:srgbClr val="FF0000"/>
                </a:solidFill>
              </a:rPr>
              <a:t>Hvor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meget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ledig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kapacitet</a:t>
            </a:r>
            <a:r>
              <a:rPr lang="en-US" dirty="0">
                <a:solidFill>
                  <a:srgbClr val="FF0000"/>
                </a:solidFill>
              </a:rPr>
              <a:t> er der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tre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fabrikker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2. </a:t>
            </a:r>
            <a:r>
              <a:rPr lang="en-US" dirty="0" err="1">
                <a:solidFill>
                  <a:schemeClr val="accent1"/>
                </a:solidFill>
              </a:rPr>
              <a:t>Hvad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hvor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meget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kapacitet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forbruger</a:t>
            </a:r>
            <a:r>
              <a:rPr lang="en-US" dirty="0">
                <a:solidFill>
                  <a:schemeClr val="accent1"/>
                </a:solidFill>
              </a:rPr>
              <a:t> de to </a:t>
            </a:r>
            <a:r>
              <a:rPr lang="en-US" dirty="0" err="1">
                <a:solidFill>
                  <a:schemeClr val="accent1"/>
                </a:solidFill>
              </a:rPr>
              <a:t>produkter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på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hver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af</a:t>
            </a:r>
            <a:r>
              <a:rPr lang="en-US" dirty="0">
                <a:solidFill>
                  <a:schemeClr val="accent1"/>
                </a:solidFill>
              </a:rPr>
              <a:t> de </a:t>
            </a:r>
            <a:r>
              <a:rPr lang="en-US" dirty="0" err="1">
                <a:solidFill>
                  <a:schemeClr val="accent1"/>
                </a:solidFill>
              </a:rPr>
              <a:t>tre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fabrikker</a:t>
            </a:r>
            <a:r>
              <a:rPr lang="en-US" dirty="0">
                <a:solidFill>
                  <a:schemeClr val="accent1"/>
                </a:solidFill>
              </a:rPr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3. </a:t>
            </a:r>
            <a:r>
              <a:rPr lang="en-US" dirty="0" err="1">
                <a:solidFill>
                  <a:schemeClr val="accent6"/>
                </a:solidFill>
              </a:rPr>
              <a:t>Hvad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tjener</a:t>
            </a:r>
            <a:r>
              <a:rPr lang="en-US" dirty="0">
                <a:solidFill>
                  <a:schemeClr val="accent6"/>
                </a:solidFill>
              </a:rPr>
              <a:t> vi </a:t>
            </a:r>
            <a:r>
              <a:rPr lang="en-US" dirty="0" err="1">
                <a:solidFill>
                  <a:schemeClr val="accent6"/>
                </a:solidFill>
              </a:rPr>
              <a:t>på</a:t>
            </a:r>
            <a:r>
              <a:rPr lang="en-US" dirty="0">
                <a:solidFill>
                  <a:schemeClr val="accent6"/>
                </a:solidFill>
              </a:rPr>
              <a:t> de to </a:t>
            </a:r>
            <a:r>
              <a:rPr lang="en-US" dirty="0" err="1">
                <a:solidFill>
                  <a:schemeClr val="accent6"/>
                </a:solidFill>
              </a:rPr>
              <a:t>produkter</a:t>
            </a:r>
            <a:r>
              <a:rPr lang="en-US" dirty="0">
                <a:solidFill>
                  <a:schemeClr val="accent6"/>
                </a:solidFill>
              </a:rPr>
              <a:t>?</a:t>
            </a:r>
            <a:endParaRPr lang="da-DK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13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C01C-D582-075E-71C5-456D6591B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Svar </a:t>
            </a:r>
            <a:r>
              <a:rPr lang="en-US" b="1" dirty="0" err="1"/>
              <a:t>på</a:t>
            </a:r>
            <a:r>
              <a:rPr lang="en-US" b="1" dirty="0"/>
              <a:t> de </a:t>
            </a:r>
            <a:r>
              <a:rPr lang="en-US" b="1" dirty="0" err="1"/>
              <a:t>tre</a:t>
            </a:r>
            <a:r>
              <a:rPr lang="en-US" b="1" dirty="0"/>
              <a:t> </a:t>
            </a:r>
            <a:r>
              <a:rPr lang="en-US" b="1" dirty="0" err="1"/>
              <a:t>spørgsmål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08B1F-9238-BEF8-9284-61CD5B0A0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899" y="2106300"/>
            <a:ext cx="8790648" cy="34028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6AAFF3-6E58-6CD5-F7A1-D7E4E0AF5AED}"/>
              </a:ext>
            </a:extLst>
          </p:cNvPr>
          <p:cNvSpPr txBox="1"/>
          <p:nvPr/>
        </p:nvSpPr>
        <p:spPr>
          <a:xfrm>
            <a:off x="9633284" y="2106300"/>
            <a:ext cx="93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Spm</a:t>
            </a:r>
            <a:r>
              <a:rPr lang="en-US" dirty="0">
                <a:solidFill>
                  <a:srgbClr val="FF0000"/>
                </a:solidFill>
              </a:rPr>
              <a:t> 1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D2A3A0-311D-FDDD-8B55-CEDC8DA123B7}"/>
              </a:ext>
            </a:extLst>
          </p:cNvPr>
          <p:cNvCxnSpPr/>
          <p:nvPr/>
        </p:nvCxnSpPr>
        <p:spPr>
          <a:xfrm flipH="1">
            <a:off x="8646695" y="2582779"/>
            <a:ext cx="986589" cy="149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F0D23E-C0FF-271C-AA0D-7C749DE50363}"/>
              </a:ext>
            </a:extLst>
          </p:cNvPr>
          <p:cNvSpPr txBox="1"/>
          <p:nvPr/>
        </p:nvSpPr>
        <p:spPr>
          <a:xfrm>
            <a:off x="4580021" y="1580147"/>
            <a:ext cx="1892968" cy="376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Spm</a:t>
            </a:r>
            <a:r>
              <a:rPr lang="en-US" dirty="0">
                <a:solidFill>
                  <a:schemeClr val="accent1"/>
                </a:solidFill>
              </a:rPr>
              <a:t> 2</a:t>
            </a:r>
            <a:endParaRPr lang="da-DK" dirty="0">
              <a:solidFill>
                <a:schemeClr val="accent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998E8B-05DD-9273-D0C7-2489C6BC111D}"/>
              </a:ext>
            </a:extLst>
          </p:cNvPr>
          <p:cNvCxnSpPr/>
          <p:nvPr/>
        </p:nvCxnSpPr>
        <p:spPr>
          <a:xfrm flipH="1">
            <a:off x="4451684" y="1839852"/>
            <a:ext cx="280737" cy="2242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06B97A0-C8F2-8BEE-87F1-8F37EFB80D8B}"/>
              </a:ext>
            </a:extLst>
          </p:cNvPr>
          <p:cNvSpPr txBox="1"/>
          <p:nvPr/>
        </p:nvSpPr>
        <p:spPr>
          <a:xfrm>
            <a:off x="4098758" y="5924742"/>
            <a:ext cx="209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/>
                </a:solidFill>
              </a:rPr>
              <a:t>Spm</a:t>
            </a:r>
            <a:r>
              <a:rPr lang="en-US" dirty="0">
                <a:solidFill>
                  <a:schemeClr val="accent6"/>
                </a:solidFill>
              </a:rPr>
              <a:t> 3</a:t>
            </a:r>
            <a:endParaRPr lang="da-DK" dirty="0">
              <a:solidFill>
                <a:schemeClr val="accent6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EB2825-E2E6-DCB0-2D02-2AD9DA9B892B}"/>
              </a:ext>
            </a:extLst>
          </p:cNvPr>
          <p:cNvCxnSpPr/>
          <p:nvPr/>
        </p:nvCxnSpPr>
        <p:spPr>
          <a:xfrm flipV="1">
            <a:off x="4347411" y="5125453"/>
            <a:ext cx="385010" cy="858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2F146FE-4C16-9E27-C511-BA0BC79192F2}"/>
              </a:ext>
            </a:extLst>
          </p:cNvPr>
          <p:cNvSpPr txBox="1"/>
          <p:nvPr/>
        </p:nvSpPr>
        <p:spPr>
          <a:xfrm>
            <a:off x="5783179" y="5325980"/>
            <a:ext cx="55666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Nogle</a:t>
            </a:r>
            <a:r>
              <a:rPr lang="en-US" dirty="0"/>
              <a:t>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spørgsmål</a:t>
            </a:r>
            <a:r>
              <a:rPr lang="en-US" dirty="0"/>
              <a:t> er </a:t>
            </a:r>
            <a:r>
              <a:rPr lang="en-US" dirty="0" err="1"/>
              <a:t>nok</a:t>
            </a:r>
            <a:r>
              <a:rPr lang="en-US" dirty="0"/>
              <a:t> </a:t>
            </a:r>
            <a:r>
              <a:rPr lang="en-US" dirty="0" err="1"/>
              <a:t>lidt</a:t>
            </a:r>
            <a:r>
              <a:rPr lang="en-US" dirty="0"/>
              <a:t> mere </a:t>
            </a:r>
            <a:r>
              <a:rPr lang="en-US" dirty="0" err="1"/>
              <a:t>komlekse</a:t>
            </a:r>
            <a:r>
              <a:rPr lang="en-US" dirty="0"/>
              <a:t>. F. </a:t>
            </a:r>
            <a:r>
              <a:rPr lang="en-US" dirty="0" err="1"/>
              <a:t>eks</a:t>
            </a:r>
            <a:r>
              <a:rPr lang="en-US" dirty="0"/>
              <a:t>. </a:t>
            </a:r>
            <a:r>
              <a:rPr lang="en-US" dirty="0" err="1">
                <a:solidFill>
                  <a:srgbClr val="FF0000"/>
                </a:solidFill>
              </a:rPr>
              <a:t>Hvad</a:t>
            </a:r>
            <a:r>
              <a:rPr lang="en-US" dirty="0">
                <a:solidFill>
                  <a:srgbClr val="FF0000"/>
                </a:solidFill>
              </a:rPr>
              <a:t> er </a:t>
            </a:r>
            <a:r>
              <a:rPr lang="en-US" dirty="0" err="1">
                <a:solidFill>
                  <a:srgbClr val="FF0000"/>
                </a:solidFill>
              </a:rPr>
              <a:t>kapacitet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man bare </a:t>
            </a:r>
            <a:r>
              <a:rPr lang="en-US" dirty="0" err="1">
                <a:solidFill>
                  <a:srgbClr val="FF0000"/>
                </a:solidFill>
              </a:rPr>
              <a:t>opgøre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timer?</a:t>
            </a:r>
          </a:p>
          <a:p>
            <a:r>
              <a:rPr lang="en-US" dirty="0" err="1"/>
              <a:t>Ligeledes</a:t>
            </a:r>
            <a:r>
              <a:rPr lang="en-US" dirty="0"/>
              <a:t> </a:t>
            </a:r>
            <a:r>
              <a:rPr lang="en-US" dirty="0" err="1"/>
              <a:t>omkring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dækningsbidrag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 err="1">
                <a:solidFill>
                  <a:schemeClr val="accent1"/>
                </a:solidFill>
              </a:rPr>
              <a:t>hvordan</a:t>
            </a:r>
            <a:r>
              <a:rPr lang="en-US" dirty="0">
                <a:solidFill>
                  <a:schemeClr val="accent1"/>
                </a:solidFill>
              </a:rPr>
              <a:t> lave </a:t>
            </a:r>
            <a:r>
              <a:rPr lang="en-US" dirty="0" err="1">
                <a:solidFill>
                  <a:schemeClr val="accent1"/>
                </a:solidFill>
              </a:rPr>
              <a:t>kalkyle</a:t>
            </a:r>
            <a:r>
              <a:rPr lang="en-US" dirty="0">
                <a:solidFill>
                  <a:schemeClr val="accent1"/>
                </a:solidFill>
              </a:rPr>
              <a:t> for </a:t>
            </a:r>
            <a:r>
              <a:rPr lang="en-US" dirty="0" err="1">
                <a:solidFill>
                  <a:schemeClr val="accent1"/>
                </a:solidFill>
              </a:rPr>
              <a:t>dette</a:t>
            </a:r>
            <a:r>
              <a:rPr lang="en-US" dirty="0">
                <a:solidFill>
                  <a:schemeClr val="accent1"/>
                </a:solidFill>
              </a:rPr>
              <a:t>?</a:t>
            </a:r>
          </a:p>
          <a:p>
            <a:r>
              <a:rPr lang="en-US" dirty="0"/>
              <a:t>Dette </a:t>
            </a:r>
            <a:r>
              <a:rPr lang="en-US" dirty="0" err="1"/>
              <a:t>antydes</a:t>
            </a:r>
            <a:r>
              <a:rPr lang="en-US" dirty="0"/>
              <a:t> </a:t>
            </a:r>
            <a:r>
              <a:rPr lang="en-US" dirty="0" err="1"/>
              <a:t>også</a:t>
            </a:r>
            <a:r>
              <a:rPr lang="en-US" dirty="0"/>
              <a:t> p. 25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7759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663-5020-1E45-E368-EDE4F0C0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Formulere</a:t>
            </a:r>
            <a:r>
              <a:rPr lang="en-US" b="1" dirty="0"/>
              <a:t> </a:t>
            </a:r>
            <a:r>
              <a:rPr lang="en-US" b="1" dirty="0" err="1"/>
              <a:t>matematisk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D68BBC-6A47-95B8-DCB4-467864D0A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769" y="1624482"/>
            <a:ext cx="5586578" cy="13192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325DD8-9046-9BFF-B824-1E97173FC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545" y="3248526"/>
            <a:ext cx="6551665" cy="2783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17248B-7727-5A3D-48BD-3BC89B6C584A}"/>
              </a:ext>
            </a:extLst>
          </p:cNvPr>
          <p:cNvSpPr txBox="1"/>
          <p:nvPr/>
        </p:nvSpPr>
        <p:spPr>
          <a:xfrm>
            <a:off x="8149389" y="2422358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Men </a:t>
            </a:r>
            <a:r>
              <a:rPr lang="en-US" dirty="0" err="1">
                <a:solidFill>
                  <a:srgbClr val="FF0000"/>
                </a:solidFill>
              </a:rPr>
              <a:t>når</a:t>
            </a:r>
            <a:r>
              <a:rPr lang="en-US" dirty="0">
                <a:solidFill>
                  <a:srgbClr val="FF0000"/>
                </a:solidFill>
              </a:rPr>
              <a:t> alt er </a:t>
            </a:r>
            <a:r>
              <a:rPr lang="en-US" dirty="0" err="1">
                <a:solidFill>
                  <a:srgbClr val="FF0000"/>
                </a:solidFill>
              </a:rPr>
              <a:t>kogt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er </a:t>
            </a:r>
            <a:r>
              <a:rPr lang="en-US" dirty="0" err="1">
                <a:solidFill>
                  <a:srgbClr val="FF0000"/>
                </a:solidFill>
              </a:rPr>
              <a:t>resten</a:t>
            </a:r>
            <a:r>
              <a:rPr lang="en-US" dirty="0">
                <a:solidFill>
                  <a:srgbClr val="FF0000"/>
                </a:solidFill>
              </a:rPr>
              <a:t> “bare” </a:t>
            </a:r>
            <a:r>
              <a:rPr lang="en-US" dirty="0" err="1">
                <a:solidFill>
                  <a:srgbClr val="FF0000"/>
                </a:solidFill>
              </a:rPr>
              <a:t>matematik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38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C507-A4E0-1A9B-D6AF-BCF86A5E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07431"/>
          </a:xfrm>
        </p:spPr>
        <p:txBody>
          <a:bodyPr/>
          <a:lstStyle/>
          <a:p>
            <a:pPr algn="ctr"/>
            <a:r>
              <a:rPr lang="en-US" b="1" dirty="0" err="1"/>
              <a:t>Hvordan</a:t>
            </a:r>
            <a:r>
              <a:rPr lang="en-US" b="1" dirty="0"/>
              <a:t> </a:t>
            </a:r>
            <a:r>
              <a:rPr lang="en-US" b="1" dirty="0" err="1"/>
              <a:t>løser</a:t>
            </a:r>
            <a:r>
              <a:rPr lang="en-US" b="1" dirty="0"/>
              <a:t> vi det </a:t>
            </a:r>
            <a:r>
              <a:rPr lang="en-US" b="1" dirty="0" err="1"/>
              <a:t>lineære</a:t>
            </a:r>
            <a:r>
              <a:rPr lang="en-US" b="1" dirty="0"/>
              <a:t> program?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0BFD-EC64-569E-5AEF-8CD0F8252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1705"/>
            <a:ext cx="12192000" cy="544629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b="1" dirty="0"/>
              <a:t>to variable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vi </a:t>
            </a:r>
            <a:r>
              <a:rPr lang="en-US" dirty="0" err="1"/>
              <a:t>løse</a:t>
            </a:r>
            <a:r>
              <a:rPr lang="en-US" dirty="0"/>
              <a:t> det </a:t>
            </a:r>
            <a:r>
              <a:rPr lang="en-US" b="1" dirty="0" err="1"/>
              <a:t>grafisk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Populært</a:t>
            </a:r>
            <a:r>
              <a:rPr lang="en-US" dirty="0"/>
              <a:t> </a:t>
            </a:r>
            <a:r>
              <a:rPr lang="en-US" dirty="0" err="1"/>
              <a:t>sagt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skubbe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iso – </a:t>
            </a:r>
            <a:r>
              <a:rPr lang="en-US" dirty="0" err="1">
                <a:solidFill>
                  <a:srgbClr val="FF0000"/>
                </a:solidFill>
              </a:rPr>
              <a:t>profitlinje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langt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muligt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indtil</a:t>
            </a:r>
            <a:r>
              <a:rPr lang="en-US" dirty="0">
                <a:solidFill>
                  <a:srgbClr val="FF0000"/>
                </a:solidFill>
              </a:rPr>
              <a:t> den slipper det </a:t>
            </a:r>
            <a:r>
              <a:rPr lang="en-US" dirty="0" err="1">
                <a:solidFill>
                  <a:srgbClr val="FF0000"/>
                </a:solidFill>
              </a:rPr>
              <a:t>brugbare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område</a:t>
            </a:r>
            <a:r>
              <a:rPr lang="en-US" dirty="0">
                <a:solidFill>
                  <a:srgbClr val="FF0000"/>
                </a:solidFill>
              </a:rPr>
              <a:t>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Se næste slide (og </a:t>
            </a:r>
            <a:r>
              <a:rPr lang="da-DK" dirty="0" err="1"/>
              <a:t>Figure</a:t>
            </a:r>
            <a:r>
              <a:rPr lang="da-DK" dirty="0"/>
              <a:t> 3.2 –3.3)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2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CB67-F62E-AB6B-9FB1-C55EB0CB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1178"/>
          </a:xfrm>
        </p:spPr>
        <p:txBody>
          <a:bodyPr/>
          <a:lstStyle/>
          <a:p>
            <a:pPr algn="ctr"/>
            <a:r>
              <a:rPr lang="en-US" b="1" dirty="0"/>
              <a:t>Den </a:t>
            </a:r>
            <a:r>
              <a:rPr lang="en-US" b="1" dirty="0" err="1"/>
              <a:t>grafiske</a:t>
            </a:r>
            <a:r>
              <a:rPr lang="en-US" b="1" dirty="0"/>
              <a:t> </a:t>
            </a:r>
            <a:r>
              <a:rPr lang="en-US" b="1" dirty="0" err="1"/>
              <a:t>metode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219586-F60B-E51B-9703-6EC2EFF9B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548" y="1348205"/>
            <a:ext cx="7774405" cy="52165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D1A00F-7D8B-8703-B98A-FBD2E25E3FDC}"/>
              </a:ext>
            </a:extLst>
          </p:cNvPr>
          <p:cNvSpPr txBox="1"/>
          <p:nvPr/>
        </p:nvSpPr>
        <p:spPr>
          <a:xfrm>
            <a:off x="9729536" y="1804737"/>
            <a:ext cx="20373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Iso- </a:t>
            </a:r>
            <a:r>
              <a:rPr lang="en-US" dirty="0" err="1">
                <a:solidFill>
                  <a:srgbClr val="FF0000"/>
                </a:solidFill>
              </a:rPr>
              <a:t>profitlinjen</a:t>
            </a:r>
            <a:r>
              <a:rPr lang="en-US" dirty="0">
                <a:solidFill>
                  <a:srgbClr val="FF0000"/>
                </a:solidFill>
              </a:rPr>
              <a:t> “slipper” </a:t>
            </a:r>
            <a:r>
              <a:rPr lang="en-US" dirty="0" err="1">
                <a:solidFill>
                  <a:srgbClr val="FF0000"/>
                </a:solidFill>
              </a:rPr>
              <a:t>altid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et </a:t>
            </a:r>
            <a:r>
              <a:rPr lang="en-US" dirty="0" err="1">
                <a:solidFill>
                  <a:srgbClr val="FF0000"/>
                </a:solidFill>
              </a:rPr>
              <a:t>hjørne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punkt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evt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flere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løsninger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fordi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“</a:t>
            </a:r>
            <a:r>
              <a:rPr lang="en-US" dirty="0" err="1">
                <a:solidFill>
                  <a:schemeClr val="accent6"/>
                </a:solidFill>
              </a:rPr>
              <a:t>isoprofit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linjen</a:t>
            </a:r>
            <a:r>
              <a:rPr lang="en-US" dirty="0">
                <a:solidFill>
                  <a:schemeClr val="accent6"/>
                </a:solidFill>
              </a:rPr>
              <a:t> er parallel med </a:t>
            </a:r>
            <a:r>
              <a:rPr lang="en-US" dirty="0" err="1">
                <a:solidFill>
                  <a:schemeClr val="accent6"/>
                </a:solidFill>
              </a:rPr>
              <a:t>en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af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restriktionerrne</a:t>
            </a:r>
            <a:r>
              <a:rPr lang="en-US" dirty="0">
                <a:solidFill>
                  <a:schemeClr val="accent6"/>
                </a:solidFill>
              </a:rPr>
              <a:t>”  </a:t>
            </a:r>
            <a:r>
              <a:rPr lang="en-US" dirty="0">
                <a:solidFill>
                  <a:schemeClr val="accent1"/>
                </a:solidFill>
              </a:rPr>
              <a:t>– (men </a:t>
            </a:r>
            <a:r>
              <a:rPr lang="en-US" dirty="0" err="1">
                <a:solidFill>
                  <a:schemeClr val="accent1"/>
                </a:solidFill>
              </a:rPr>
              <a:t>så</a:t>
            </a:r>
            <a:r>
              <a:rPr lang="en-US" dirty="0">
                <a:solidFill>
                  <a:schemeClr val="accent1"/>
                </a:solidFill>
              </a:rPr>
              <a:t> er der </a:t>
            </a:r>
            <a:r>
              <a:rPr lang="en-US" dirty="0" err="1">
                <a:solidFill>
                  <a:schemeClr val="accent1"/>
                </a:solidFill>
              </a:rPr>
              <a:t>stadig</a:t>
            </a:r>
            <a:r>
              <a:rPr lang="en-US" dirty="0">
                <a:solidFill>
                  <a:schemeClr val="accent1"/>
                </a:solidFill>
              </a:rPr>
              <a:t> et </a:t>
            </a:r>
            <a:r>
              <a:rPr lang="en-US" dirty="0" err="1">
                <a:solidFill>
                  <a:schemeClr val="accent1"/>
                </a:solidFill>
              </a:rPr>
              <a:t>optimalt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hjørnepunkt</a:t>
            </a:r>
            <a:r>
              <a:rPr lang="en-US" dirty="0">
                <a:solidFill>
                  <a:schemeClr val="accent1"/>
                </a:solidFill>
              </a:rPr>
              <a:t>)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0697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306F-66B8-E6AA-8562-8AA87C7D3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23999"/>
          </a:xfrm>
        </p:spPr>
        <p:txBody>
          <a:bodyPr/>
          <a:lstStyle/>
          <a:p>
            <a:pPr algn="ctr"/>
            <a:r>
              <a:rPr lang="en-US" b="1" dirty="0"/>
              <a:t>Et </a:t>
            </a:r>
            <a:r>
              <a:rPr lang="en-US" b="1" dirty="0" err="1"/>
              <a:t>helt</a:t>
            </a:r>
            <a:r>
              <a:rPr lang="en-US" b="1" dirty="0"/>
              <a:t> </a:t>
            </a:r>
            <a:r>
              <a:rPr lang="en-US" b="1" dirty="0" err="1"/>
              <a:t>generelt</a:t>
            </a:r>
            <a:r>
              <a:rPr lang="en-US" b="1" dirty="0"/>
              <a:t> LP problem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2CC9E-2CDD-1EE9-1708-951F26F19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7368" y="1812758"/>
            <a:ext cx="7098631" cy="46361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4E5E81-3E83-EA8E-02B8-898441B0C10F}"/>
              </a:ext>
            </a:extLst>
          </p:cNvPr>
          <p:cNvSpPr txBox="1"/>
          <p:nvPr/>
        </p:nvSpPr>
        <p:spPr>
          <a:xfrm>
            <a:off x="10299032" y="2261937"/>
            <a:ext cx="14838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Både</a:t>
            </a:r>
            <a:r>
              <a:rPr lang="en-US" dirty="0">
                <a:solidFill>
                  <a:srgbClr val="FF0000"/>
                </a:solidFill>
              </a:rPr>
              <a:t> n: </a:t>
            </a:r>
            <a:r>
              <a:rPr lang="en-US" dirty="0" err="1">
                <a:solidFill>
                  <a:srgbClr val="FF0000"/>
                </a:solidFill>
              </a:rPr>
              <a:t>antal</a:t>
            </a:r>
            <a:r>
              <a:rPr lang="en-US" dirty="0">
                <a:solidFill>
                  <a:srgbClr val="FF0000"/>
                </a:solidFill>
              </a:rPr>
              <a:t> variable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m: </a:t>
            </a:r>
            <a:r>
              <a:rPr lang="en-US" dirty="0" err="1">
                <a:solidFill>
                  <a:srgbClr val="FF0000"/>
                </a:solidFill>
              </a:rPr>
              <a:t>antal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restriktioner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kunne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være</a:t>
            </a:r>
            <a:r>
              <a:rPr lang="en-US" dirty="0">
                <a:solidFill>
                  <a:srgbClr val="FF0000"/>
                </a:solidFill>
              </a:rPr>
              <a:t> store </a:t>
            </a:r>
            <a:r>
              <a:rPr lang="en-US" dirty="0" err="1">
                <a:solidFill>
                  <a:srgbClr val="FF0000"/>
                </a:solidFill>
              </a:rPr>
              <a:t>tal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>
                <a:solidFill>
                  <a:srgbClr val="FF0000"/>
                </a:solidFill>
              </a:rPr>
              <a:t>Eks</a:t>
            </a:r>
            <a:r>
              <a:rPr lang="en-US" dirty="0">
                <a:solidFill>
                  <a:srgbClr val="FF0000"/>
                </a:solidFill>
              </a:rPr>
              <a:t> n = 1500</a:t>
            </a:r>
          </a:p>
          <a:p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m = 1800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DA0AC-B2E9-68BB-EC26-C97813A82CE0}"/>
              </a:ext>
            </a:extLst>
          </p:cNvPr>
          <p:cNvSpPr txBox="1"/>
          <p:nvPr/>
        </p:nvSpPr>
        <p:spPr>
          <a:xfrm>
            <a:off x="352926" y="2783305"/>
            <a:ext cx="20774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Det </a:t>
            </a:r>
            <a:r>
              <a:rPr lang="en-US" dirty="0" err="1">
                <a:solidFill>
                  <a:schemeClr val="accent1"/>
                </a:solidFill>
              </a:rPr>
              <a:t>brugbare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område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kaldes</a:t>
            </a:r>
            <a:r>
              <a:rPr lang="en-US" dirty="0">
                <a:solidFill>
                  <a:schemeClr val="accent1"/>
                </a:solidFill>
              </a:rPr>
              <a:t> et </a:t>
            </a:r>
            <a:r>
              <a:rPr lang="en-US" dirty="0" err="1">
                <a:solidFill>
                  <a:schemeClr val="accent1"/>
                </a:solidFill>
              </a:rPr>
              <a:t>polyeder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 err="1">
                <a:solidFill>
                  <a:schemeClr val="accent1"/>
                </a:solidFill>
              </a:rPr>
              <a:t>altså</a:t>
            </a:r>
            <a:r>
              <a:rPr lang="en-US" dirty="0">
                <a:solidFill>
                  <a:schemeClr val="accent1"/>
                </a:solidFill>
              </a:rPr>
              <a:t> et </a:t>
            </a:r>
            <a:r>
              <a:rPr lang="en-US" dirty="0" err="1">
                <a:solidFill>
                  <a:schemeClr val="accent1"/>
                </a:solidFill>
              </a:rPr>
              <a:t>sæt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af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lineære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uligheder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Et </a:t>
            </a:r>
            <a:r>
              <a:rPr lang="en-US" dirty="0" err="1">
                <a:solidFill>
                  <a:schemeClr val="accent6"/>
                </a:solidFill>
              </a:rPr>
              <a:t>polyeder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har</a:t>
            </a:r>
            <a:r>
              <a:rPr lang="en-US" dirty="0">
                <a:solidFill>
                  <a:schemeClr val="accent6"/>
                </a:solidFill>
              </a:rPr>
              <a:t> et </a:t>
            </a:r>
            <a:r>
              <a:rPr lang="en-US" dirty="0" err="1">
                <a:solidFill>
                  <a:schemeClr val="accent6"/>
                </a:solidFill>
              </a:rPr>
              <a:t>endeligt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antal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hjørnepunkter</a:t>
            </a:r>
            <a:r>
              <a:rPr lang="en-US" dirty="0">
                <a:solidFill>
                  <a:schemeClr val="accent6"/>
                </a:solidFill>
              </a:rPr>
              <a:t>: der </a:t>
            </a:r>
            <a:r>
              <a:rPr lang="en-US" dirty="0" err="1">
                <a:solidFill>
                  <a:schemeClr val="accent6"/>
                </a:solidFill>
              </a:rPr>
              <a:t>hvor</a:t>
            </a:r>
            <a:r>
              <a:rPr lang="en-US" dirty="0">
                <a:solidFill>
                  <a:schemeClr val="accent6"/>
                </a:solidFill>
              </a:rPr>
              <a:t> den </a:t>
            </a:r>
            <a:r>
              <a:rPr lang="en-US" dirty="0" err="1">
                <a:solidFill>
                  <a:schemeClr val="accent6"/>
                </a:solidFill>
              </a:rPr>
              <a:t>optimale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løsning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skal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findes</a:t>
            </a:r>
            <a:endParaRPr lang="da-DK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054E9-612B-7020-56C5-88654AEA21A1}"/>
              </a:ext>
            </a:extLst>
          </p:cNvPr>
          <p:cNvSpPr txBox="1"/>
          <p:nvPr/>
        </p:nvSpPr>
        <p:spPr>
          <a:xfrm>
            <a:off x="778042" y="1138989"/>
            <a:ext cx="1652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Objektiv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funktion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eller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kriterie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funktion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som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altså</a:t>
            </a:r>
            <a:r>
              <a:rPr lang="en-US" dirty="0">
                <a:solidFill>
                  <a:srgbClr val="FFC000"/>
                </a:solidFill>
              </a:rPr>
              <a:t> er </a:t>
            </a:r>
            <a:r>
              <a:rPr lang="en-US" dirty="0" err="1">
                <a:solidFill>
                  <a:srgbClr val="FFC000"/>
                </a:solidFill>
              </a:rPr>
              <a:t>lineær</a:t>
            </a:r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C0E4FF-91FD-E24D-AB44-9AD6CEDE0644}"/>
              </a:ext>
            </a:extLst>
          </p:cNvPr>
          <p:cNvCxnSpPr/>
          <p:nvPr/>
        </p:nvCxnSpPr>
        <p:spPr>
          <a:xfrm>
            <a:off x="1989221" y="2494547"/>
            <a:ext cx="2815390" cy="52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7FEC0D-91EF-9940-0252-B5A54EC438F2}"/>
              </a:ext>
            </a:extLst>
          </p:cNvPr>
          <p:cNvCxnSpPr/>
          <p:nvPr/>
        </p:nvCxnSpPr>
        <p:spPr>
          <a:xfrm>
            <a:off x="2542674" y="4241684"/>
            <a:ext cx="2141621" cy="64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4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4F79-3CE4-278C-9C02-95CA33A5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690688"/>
          </a:xfrm>
        </p:spPr>
        <p:txBody>
          <a:bodyPr/>
          <a:lstStyle/>
          <a:p>
            <a:pPr algn="ctr"/>
            <a:r>
              <a:rPr lang="en-US" b="1" dirty="0" err="1"/>
              <a:t>Hvordan</a:t>
            </a:r>
            <a:r>
              <a:rPr lang="en-US" b="1" dirty="0"/>
              <a:t> </a:t>
            </a:r>
            <a:r>
              <a:rPr lang="en-US" b="1" dirty="0" err="1"/>
              <a:t>løses</a:t>
            </a:r>
            <a:r>
              <a:rPr lang="en-US" b="1" dirty="0"/>
              <a:t> et LP problem </a:t>
            </a:r>
            <a:r>
              <a:rPr lang="en-US" b="1" dirty="0" err="1"/>
              <a:t>generelt</a:t>
            </a:r>
            <a:r>
              <a:rPr lang="en-US" b="1" dirty="0"/>
              <a:t>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6B590-8D03-2313-2CC6-6AB79FFCC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Ved </a:t>
            </a:r>
            <a:r>
              <a:rPr lang="en-US" dirty="0" err="1"/>
              <a:t>hjælp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 err="1"/>
              <a:t>algoritme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Simpleksalgoritmen</a:t>
            </a:r>
            <a:r>
              <a:rPr lang="en-US" dirty="0"/>
              <a:t> </a:t>
            </a:r>
            <a:r>
              <a:rPr lang="en-US" dirty="0" err="1"/>
              <a:t>bevæger</a:t>
            </a:r>
            <a:r>
              <a:rPr lang="en-US" dirty="0"/>
              <a:t> sig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hjørnepunkt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hjørnepunkt</a:t>
            </a:r>
            <a:r>
              <a:rPr lang="en-US" dirty="0"/>
              <a:t>. </a:t>
            </a:r>
            <a:r>
              <a:rPr lang="en-US" dirty="0" err="1"/>
              <a:t>Hver</a:t>
            </a:r>
            <a:r>
              <a:rPr lang="en-US" dirty="0"/>
              <a:t> gang den er </a:t>
            </a:r>
            <a:r>
              <a:rPr lang="en-US" dirty="0" err="1"/>
              <a:t>i</a:t>
            </a:r>
            <a:r>
              <a:rPr lang="en-US" dirty="0"/>
              <a:t> et </a:t>
            </a:r>
            <a:r>
              <a:rPr lang="en-US" dirty="0" err="1"/>
              <a:t>hjørnepunkt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evalueres</a:t>
            </a:r>
            <a:r>
              <a:rPr lang="en-US" dirty="0">
                <a:solidFill>
                  <a:schemeClr val="accent6"/>
                </a:solidFill>
              </a:rPr>
              <a:t> om </a:t>
            </a:r>
            <a:r>
              <a:rPr lang="en-US" dirty="0" err="1">
                <a:solidFill>
                  <a:schemeClr val="accent6"/>
                </a:solidFill>
              </a:rPr>
              <a:t>dette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hjørnepunkt</a:t>
            </a:r>
            <a:r>
              <a:rPr lang="en-US" dirty="0">
                <a:solidFill>
                  <a:schemeClr val="accent6"/>
                </a:solidFill>
              </a:rPr>
              <a:t> er den </a:t>
            </a:r>
            <a:r>
              <a:rPr lang="en-US" dirty="0" err="1">
                <a:solidFill>
                  <a:schemeClr val="accent6"/>
                </a:solidFill>
              </a:rPr>
              <a:t>optimale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løsning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og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hvis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ikke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udpeges</a:t>
            </a:r>
            <a:r>
              <a:rPr lang="en-US" dirty="0">
                <a:solidFill>
                  <a:schemeClr val="accent6"/>
                </a:solidFill>
              </a:rPr>
              <a:t> et </a:t>
            </a:r>
            <a:r>
              <a:rPr lang="en-US" dirty="0" err="1">
                <a:solidFill>
                  <a:schemeClr val="accent6"/>
                </a:solidFill>
              </a:rPr>
              <a:t>nyt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og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bedre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hjørnepunkt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09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2B10-5FE9-C1D9-E52B-EF08391F8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63578"/>
          </a:xfrm>
        </p:spPr>
        <p:txBody>
          <a:bodyPr/>
          <a:lstStyle/>
          <a:p>
            <a:pPr algn="ctr"/>
            <a:r>
              <a:rPr lang="en-US" b="1" dirty="0" err="1"/>
              <a:t>Simpleks</a:t>
            </a:r>
            <a:r>
              <a:rPr lang="en-US" b="1" dirty="0"/>
              <a:t> </a:t>
            </a:r>
            <a:r>
              <a:rPr lang="en-US" b="1" dirty="0" err="1"/>
              <a:t>algoiritmen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2ACA2-B884-8E85-D186-B574FEF6B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Behøves</a:t>
            </a:r>
            <a:r>
              <a:rPr lang="en-US" dirty="0"/>
              <a:t> vi at </a:t>
            </a:r>
            <a:r>
              <a:rPr lang="en-US" dirty="0" err="1"/>
              <a:t>kende</a:t>
            </a:r>
            <a:r>
              <a:rPr lang="en-US" dirty="0"/>
              <a:t> </a:t>
            </a:r>
            <a:r>
              <a:rPr lang="en-US" dirty="0" err="1"/>
              <a:t>matematikken</a:t>
            </a:r>
            <a:r>
              <a:rPr lang="en-US" dirty="0"/>
              <a:t> bag </a:t>
            </a:r>
            <a:r>
              <a:rPr lang="en-US" dirty="0" err="1"/>
              <a:t>simpleksalgoritmen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Ja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nej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Altid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godt</a:t>
            </a:r>
            <a:r>
              <a:rPr lang="en-US" dirty="0">
                <a:solidFill>
                  <a:srgbClr val="FF0000"/>
                </a:solidFill>
              </a:rPr>
              <a:t> at </a:t>
            </a:r>
            <a:r>
              <a:rPr lang="en-US" dirty="0" err="1">
                <a:solidFill>
                  <a:srgbClr val="FF0000"/>
                </a:solidFill>
              </a:rPr>
              <a:t>kende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bagvedliggende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teori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har</a:t>
            </a:r>
            <a:r>
              <a:rPr lang="en-US" dirty="0">
                <a:solidFill>
                  <a:srgbClr val="FF0000"/>
                </a:solidFill>
              </a:rPr>
              <a:t> I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matematik</a:t>
            </a:r>
            <a:r>
              <a:rPr lang="en-US" dirty="0">
                <a:solidFill>
                  <a:srgbClr val="FF0000"/>
                </a:solidFill>
              </a:rPr>
              <a:t> – </a:t>
            </a:r>
            <a:r>
              <a:rPr lang="en-US" dirty="0" err="1">
                <a:solidFill>
                  <a:srgbClr val="FF0000"/>
                </a:solidFill>
              </a:rPr>
              <a:t>økonomer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rigtig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gode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forudsætninger</a:t>
            </a:r>
            <a:r>
              <a:rPr lang="en-US" dirty="0">
                <a:solidFill>
                  <a:srgbClr val="FF0000"/>
                </a:solidFill>
              </a:rPr>
              <a:t> for (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I </a:t>
            </a:r>
            <a:r>
              <a:rPr lang="en-US" dirty="0" err="1">
                <a:solidFill>
                  <a:srgbClr val="FF0000"/>
                </a:solidFill>
              </a:rPr>
              <a:t>lærer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senere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studiet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Men 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selvfølgelig</a:t>
            </a:r>
            <a:r>
              <a:rPr lang="en-US" dirty="0"/>
              <a:t> bare “</a:t>
            </a:r>
            <a:r>
              <a:rPr lang="en-US" b="1" dirty="0" err="1"/>
              <a:t>trykke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knap”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7549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AF4F-74DA-39C1-485D-ABADD0D6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998149"/>
          </a:xfrm>
        </p:spPr>
        <p:txBody>
          <a:bodyPr/>
          <a:lstStyle/>
          <a:p>
            <a:pPr algn="ctr"/>
            <a:r>
              <a:rPr lang="en-US" b="1" dirty="0"/>
              <a:t>“</a:t>
            </a:r>
            <a:r>
              <a:rPr lang="en-US" b="1" dirty="0" err="1"/>
              <a:t>Trykke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knap” – </a:t>
            </a:r>
            <a:r>
              <a:rPr lang="en-US" b="1" dirty="0" err="1"/>
              <a:t>bruge</a:t>
            </a:r>
            <a:r>
              <a:rPr lang="en-US" b="1" dirty="0"/>
              <a:t> Solver </a:t>
            </a:r>
            <a:r>
              <a:rPr lang="en-US" b="1" dirty="0" err="1"/>
              <a:t>i</a:t>
            </a:r>
            <a:r>
              <a:rPr lang="en-US" b="1" dirty="0"/>
              <a:t> Excel</a:t>
            </a:r>
            <a:endParaRPr lang="da-DK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48CF4-2E74-6F14-C49E-E2282060787F}"/>
              </a:ext>
            </a:extLst>
          </p:cNvPr>
          <p:cNvSpPr txBox="1"/>
          <p:nvPr/>
        </p:nvSpPr>
        <p:spPr>
          <a:xfrm>
            <a:off x="1339516" y="1179293"/>
            <a:ext cx="7403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</a:rPr>
              <a:t>Opstilling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så</a:t>
            </a:r>
            <a:r>
              <a:rPr lang="en-US" sz="3600" dirty="0">
                <a:solidFill>
                  <a:srgbClr val="FF0000"/>
                </a:solidFill>
              </a:rPr>
              <a:t> det </a:t>
            </a:r>
            <a:r>
              <a:rPr lang="en-US" sz="3600" dirty="0" err="1">
                <a:solidFill>
                  <a:srgbClr val="FF0000"/>
                </a:solidFill>
              </a:rPr>
              <a:t>ligner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Tabel</a:t>
            </a:r>
            <a:r>
              <a:rPr lang="en-US" sz="3600" dirty="0">
                <a:solidFill>
                  <a:srgbClr val="FF0000"/>
                </a:solidFill>
              </a:rPr>
              <a:t> 3.1</a:t>
            </a:r>
            <a:endParaRPr lang="da-DK" sz="3600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1543D4A-F9FC-D564-AF65-ED991DCD5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47" y="1825625"/>
            <a:ext cx="10812379" cy="4351338"/>
          </a:xfrm>
        </p:spPr>
      </p:pic>
    </p:spTree>
    <p:extLst>
      <p:ext uri="{BB962C8B-B14F-4D97-AF65-F5344CB8AC3E}">
        <p14:creationId xmlns:p14="http://schemas.microsoft.com/office/powerpoint/2010/main" val="1591313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4B5-4818-17AC-B24B-94403FB8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094"/>
          </a:xfrm>
        </p:spPr>
        <p:txBody>
          <a:bodyPr/>
          <a:lstStyle/>
          <a:p>
            <a:pPr algn="ctr"/>
            <a:r>
              <a:rPr lang="en-US" b="1" dirty="0"/>
              <a:t>“</a:t>
            </a:r>
            <a:r>
              <a:rPr lang="en-US" b="1" dirty="0" err="1"/>
              <a:t>Trykke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knap” – </a:t>
            </a:r>
            <a:r>
              <a:rPr lang="en-US" b="1" dirty="0" err="1"/>
              <a:t>bruge</a:t>
            </a:r>
            <a:r>
              <a:rPr lang="en-US" b="1" dirty="0"/>
              <a:t> Solver </a:t>
            </a:r>
            <a:r>
              <a:rPr lang="en-US" b="1" dirty="0" err="1"/>
              <a:t>i</a:t>
            </a:r>
            <a:r>
              <a:rPr lang="en-US" b="1" dirty="0"/>
              <a:t> Excel</a:t>
            </a:r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EA98F-4009-E4CE-6B24-937063FBC819}"/>
              </a:ext>
            </a:extLst>
          </p:cNvPr>
          <p:cNvSpPr txBox="1"/>
          <p:nvPr/>
        </p:nvSpPr>
        <p:spPr>
          <a:xfrm>
            <a:off x="786064" y="1483895"/>
            <a:ext cx="9713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De </a:t>
            </a:r>
            <a:r>
              <a:rPr lang="en-US" sz="2400" dirty="0" err="1">
                <a:solidFill>
                  <a:srgbClr val="FF0000"/>
                </a:solidFill>
              </a:rPr>
              <a:t>matematiske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summationer</a:t>
            </a:r>
            <a:r>
              <a:rPr lang="en-US" sz="2400" dirty="0">
                <a:solidFill>
                  <a:srgbClr val="FF0000"/>
                </a:solidFill>
              </a:rPr>
              <a:t> er </a:t>
            </a:r>
            <a:r>
              <a:rPr lang="en-US" sz="2400" dirty="0" err="1">
                <a:solidFill>
                  <a:srgbClr val="FF0000"/>
                </a:solidFill>
              </a:rPr>
              <a:t>skrevet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Excel sprog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D </a:t>
            </a:r>
            <a:r>
              <a:rPr lang="en-US" sz="2400" dirty="0" err="1">
                <a:solidFill>
                  <a:srgbClr val="FF0000"/>
                </a:solidFill>
              </a:rPr>
              <a:t>kolonnen</a:t>
            </a:r>
            <a:endParaRPr lang="da-DK" sz="2400" dirty="0">
              <a:solidFill>
                <a:srgbClr val="FF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6DDB2B7-E8BE-C56A-A002-F7D4E851E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2186572"/>
            <a:ext cx="11012905" cy="4351338"/>
          </a:xfrm>
        </p:spPr>
      </p:pic>
    </p:spTree>
    <p:extLst>
      <p:ext uri="{BB962C8B-B14F-4D97-AF65-F5344CB8AC3E}">
        <p14:creationId xmlns:p14="http://schemas.microsoft.com/office/powerpoint/2010/main" val="3031786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7B87F-8C69-83A6-F6A1-A98936F6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23999"/>
          </a:xfrm>
        </p:spPr>
        <p:txBody>
          <a:bodyPr/>
          <a:lstStyle/>
          <a:p>
            <a:pPr algn="ctr"/>
            <a:r>
              <a:rPr lang="en-US" b="1" dirty="0"/>
              <a:t>“</a:t>
            </a:r>
            <a:r>
              <a:rPr lang="en-US" b="1" dirty="0" err="1"/>
              <a:t>Trykke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knap” – </a:t>
            </a:r>
            <a:r>
              <a:rPr lang="en-US" b="1" dirty="0" err="1"/>
              <a:t>bruge</a:t>
            </a:r>
            <a:r>
              <a:rPr lang="en-US" b="1" dirty="0"/>
              <a:t> Solver </a:t>
            </a:r>
            <a:r>
              <a:rPr lang="en-US" b="1" dirty="0" err="1"/>
              <a:t>i</a:t>
            </a:r>
            <a:r>
              <a:rPr lang="en-US" b="1" dirty="0"/>
              <a:t> Excel</a:t>
            </a:r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8D57E-AE31-E7A0-DE3B-0B6F71E15A27}"/>
              </a:ext>
            </a:extLst>
          </p:cNvPr>
          <p:cNvSpPr txBox="1"/>
          <p:nvPr/>
        </p:nvSpPr>
        <p:spPr>
          <a:xfrm>
            <a:off x="1267327" y="1267327"/>
            <a:ext cx="9224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Opstilling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af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optimeringsproblemet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vha</a:t>
            </a:r>
            <a:r>
              <a:rPr lang="en-US" sz="2400" dirty="0">
                <a:solidFill>
                  <a:srgbClr val="FF0000"/>
                </a:solidFill>
              </a:rPr>
              <a:t> Solver (Data/Solver)</a:t>
            </a:r>
            <a:endParaRPr lang="da-DK" sz="2400" dirty="0">
              <a:solidFill>
                <a:srgbClr val="FF0000"/>
              </a:solidFill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B0BFF99-60DE-88A5-E659-ADEB4C1EE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105" y="1825625"/>
            <a:ext cx="10563727" cy="4351338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FC91FD-A1F0-EE78-661B-6C9316E78DFB}"/>
              </a:ext>
            </a:extLst>
          </p:cNvPr>
          <p:cNvSpPr txBox="1"/>
          <p:nvPr/>
        </p:nvSpPr>
        <p:spPr>
          <a:xfrm>
            <a:off x="2695074" y="4106779"/>
            <a:ext cx="27752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Og nu er det bare at </a:t>
            </a:r>
            <a:r>
              <a:rPr lang="en-US" sz="3200" dirty="0" err="1">
                <a:solidFill>
                  <a:srgbClr val="7030A0"/>
                </a:solidFill>
              </a:rPr>
              <a:t>trykke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 err="1">
                <a:solidFill>
                  <a:srgbClr val="7030A0"/>
                </a:solidFill>
              </a:rPr>
              <a:t>på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 err="1">
                <a:solidFill>
                  <a:srgbClr val="7030A0"/>
                </a:solidFill>
              </a:rPr>
              <a:t>en</a:t>
            </a:r>
            <a:r>
              <a:rPr lang="en-US" sz="3200" dirty="0">
                <a:solidFill>
                  <a:srgbClr val="7030A0"/>
                </a:solidFill>
              </a:rPr>
              <a:t> knap</a:t>
            </a:r>
            <a:endParaRPr lang="da-DK" sz="3200" dirty="0">
              <a:solidFill>
                <a:srgbClr val="7030A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F56E82-DC88-9FA1-2901-ABB7F0701A00}"/>
              </a:ext>
            </a:extLst>
          </p:cNvPr>
          <p:cNvCxnSpPr/>
          <p:nvPr/>
        </p:nvCxnSpPr>
        <p:spPr>
          <a:xfrm>
            <a:off x="4740442" y="5470358"/>
            <a:ext cx="4596063" cy="244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5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0D11E-A408-E85B-7F52-8AC5AAC1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Resultat</a:t>
            </a:r>
            <a:r>
              <a:rPr lang="en-US" b="1" dirty="0"/>
              <a:t> </a:t>
            </a:r>
            <a:r>
              <a:rPr lang="en-US" b="1" dirty="0" err="1"/>
              <a:t>fra</a:t>
            </a:r>
            <a:r>
              <a:rPr lang="en-US" b="1" dirty="0"/>
              <a:t> Solver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48F1C5-BBFE-A034-50FC-0FDDE6858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21" y="1347788"/>
            <a:ext cx="11077073" cy="5510212"/>
          </a:xfrm>
        </p:spPr>
      </p:pic>
    </p:spTree>
    <p:extLst>
      <p:ext uri="{BB962C8B-B14F-4D97-AF65-F5344CB8AC3E}">
        <p14:creationId xmlns:p14="http://schemas.microsoft.com/office/powerpoint/2010/main" val="230518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682E6-4DC9-F6C9-CF4F-559F81D3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59831"/>
          </a:xfrm>
        </p:spPr>
        <p:txBody>
          <a:bodyPr/>
          <a:lstStyle/>
          <a:p>
            <a:pPr algn="ctr"/>
            <a:r>
              <a:rPr lang="en-US" b="1" dirty="0" err="1"/>
              <a:t>Antagelser</a:t>
            </a:r>
            <a:r>
              <a:rPr lang="en-US" b="1" dirty="0"/>
              <a:t> for LP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4EC7-B5B4-1467-1521-AF7334ED9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2001" cy="5032374"/>
          </a:xfrm>
        </p:spPr>
        <p:txBody>
          <a:bodyPr/>
          <a:lstStyle/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</a:rPr>
              <a:t>LP er smart men kræver mange forudsætninger </a:t>
            </a:r>
            <a:r>
              <a:rPr lang="da-DK" dirty="0"/>
              <a:t>(HL, Sekt. 3.3)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rgbClr val="FF0000"/>
                </a:solidFill>
              </a:rPr>
              <a:t>Proportionalitet</a:t>
            </a:r>
          </a:p>
          <a:p>
            <a:pPr marL="0" indent="0">
              <a:buNone/>
            </a:pPr>
            <a:r>
              <a:rPr lang="da-DK" dirty="0" err="1">
                <a:solidFill>
                  <a:srgbClr val="FF0000"/>
                </a:solidFill>
              </a:rPr>
              <a:t>Additivitet</a:t>
            </a:r>
            <a:endParaRPr lang="da-DK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a-DK" dirty="0" err="1">
                <a:solidFill>
                  <a:srgbClr val="00B0F0"/>
                </a:solidFill>
              </a:rPr>
              <a:t>Divisibilitet</a:t>
            </a:r>
            <a:endParaRPr lang="da-DK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a-DK" dirty="0">
                <a:solidFill>
                  <a:srgbClr val="7030A0"/>
                </a:solidFill>
              </a:rPr>
              <a:t>Ingen usikkerhed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Man må altid overveje om </a:t>
            </a:r>
            <a:r>
              <a:rPr lang="da-DK" dirty="0">
                <a:solidFill>
                  <a:srgbClr val="FFC000"/>
                </a:solidFill>
              </a:rPr>
              <a:t>disse mulige forudsætningsbrud gør det meningsfuldt at udvikle en LP model </a:t>
            </a:r>
            <a:r>
              <a:rPr lang="da-DK" dirty="0"/>
              <a:t>eller man bør bruge andre modeller</a:t>
            </a:r>
            <a:endParaRPr lang="da-DK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88F9F7B0-C9B9-8AE5-AD9A-D525460BC730}"/>
              </a:ext>
            </a:extLst>
          </p:cNvPr>
          <p:cNvSpPr/>
          <p:nvPr/>
        </p:nvSpPr>
        <p:spPr>
          <a:xfrm>
            <a:off x="2414337" y="2919663"/>
            <a:ext cx="240631" cy="9224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733D3-E150-520B-6C75-C97FA5EA2999}"/>
              </a:ext>
            </a:extLst>
          </p:cNvPr>
          <p:cNvSpPr txBox="1"/>
          <p:nvPr/>
        </p:nvSpPr>
        <p:spPr>
          <a:xfrm>
            <a:off x="3633537" y="2919663"/>
            <a:ext cx="3585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Bruge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ikke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lineære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optimeringsmodeller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overspringes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8685AE-7DF3-A91B-0D78-E1A9F868D80B}"/>
              </a:ext>
            </a:extLst>
          </p:cNvPr>
          <p:cNvCxnSpPr/>
          <p:nvPr/>
        </p:nvCxnSpPr>
        <p:spPr>
          <a:xfrm flipH="1">
            <a:off x="2767263" y="3264568"/>
            <a:ext cx="842211" cy="116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1302679-014D-4FEB-6C10-D8F2AF604CE6}"/>
              </a:ext>
            </a:extLst>
          </p:cNvPr>
          <p:cNvSpPr txBox="1"/>
          <p:nvPr/>
        </p:nvSpPr>
        <p:spPr>
          <a:xfrm>
            <a:off x="4130842" y="3842084"/>
            <a:ext cx="406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Bruge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heltalsprogrammering</a:t>
            </a:r>
            <a:endParaRPr lang="da-DK" dirty="0">
              <a:solidFill>
                <a:srgbClr val="00B0F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A2A3E6-BC86-2079-3289-4C95EB049E3E}"/>
              </a:ext>
            </a:extLst>
          </p:cNvPr>
          <p:cNvCxnSpPr>
            <a:stCxn id="8" idx="1"/>
          </p:cNvCxnSpPr>
          <p:nvPr/>
        </p:nvCxnSpPr>
        <p:spPr>
          <a:xfrm flipH="1">
            <a:off x="1941095" y="4026750"/>
            <a:ext cx="2189747" cy="63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7D55E7-CCC4-B41A-514F-650C8E517E4C}"/>
              </a:ext>
            </a:extLst>
          </p:cNvPr>
          <p:cNvSpPr txBox="1"/>
          <p:nvPr/>
        </p:nvSpPr>
        <p:spPr>
          <a:xfrm flipH="1">
            <a:off x="4443661" y="4242954"/>
            <a:ext cx="3080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Bruge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Markovkæder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køteori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stokastisk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programmering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eller</a:t>
            </a:r>
            <a:r>
              <a:rPr lang="en-US" dirty="0">
                <a:solidFill>
                  <a:srgbClr val="7030A0"/>
                </a:solidFill>
              </a:rPr>
              <a:t> simulation </a:t>
            </a:r>
            <a:endParaRPr lang="da-DK" dirty="0">
              <a:solidFill>
                <a:srgbClr val="7030A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97C18A-7F3A-45BB-02E9-FD724B0C52FD}"/>
              </a:ext>
            </a:extLst>
          </p:cNvPr>
          <p:cNvCxnSpPr/>
          <p:nvPr/>
        </p:nvCxnSpPr>
        <p:spPr>
          <a:xfrm flipH="1">
            <a:off x="2767263" y="4531895"/>
            <a:ext cx="1676398" cy="80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21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D00B-9107-5D90-3109-785B185F6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07957"/>
          </a:xfrm>
        </p:spPr>
        <p:txBody>
          <a:bodyPr/>
          <a:lstStyle/>
          <a:p>
            <a:pPr algn="ctr"/>
            <a:r>
              <a:rPr lang="en-US" b="1" dirty="0" err="1"/>
              <a:t>Afslutning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fællesskab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F027B-B04C-F89E-8A5D-C8F613AA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klassen</a:t>
            </a:r>
            <a:r>
              <a:rPr lang="en-US" dirty="0"/>
              <a:t> </a:t>
            </a:r>
            <a:r>
              <a:rPr lang="en-US" dirty="0" err="1"/>
              <a:t>opstille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løse</a:t>
            </a:r>
            <a:r>
              <a:rPr lang="en-US" dirty="0"/>
              <a:t> Personal Scheduling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fællesskab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Der er </a:t>
            </a:r>
            <a:r>
              <a:rPr lang="en-US" dirty="0" err="1"/>
              <a:t>oploadet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Excel </a:t>
            </a:r>
            <a:r>
              <a:rPr lang="en-US" dirty="0" err="1"/>
              <a:t>skabelon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jer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62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550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Lineær Progranmmering</vt:lpstr>
      <vt:lpstr>WYNDOR GLASS CO.</vt:lpstr>
      <vt:lpstr>Hvilke oplysninger har vi brug for for at løse problemet?</vt:lpstr>
      <vt:lpstr>Svar på de tre spørgsmål</vt:lpstr>
      <vt:lpstr>Formulere matematisk</vt:lpstr>
      <vt:lpstr>Hvordan løser vi det lineære program?</vt:lpstr>
      <vt:lpstr>Den grafiske metode</vt:lpstr>
      <vt:lpstr>Et helt generelt LP problem</vt:lpstr>
      <vt:lpstr>Hvordan løses et LP problem generelt?</vt:lpstr>
      <vt:lpstr>Simpleks algoiritmen</vt:lpstr>
      <vt:lpstr>“Trykke på en knap” – bruge Solver i Excel</vt:lpstr>
      <vt:lpstr>“Trykke på en knap” – bruge Solver i Excel</vt:lpstr>
      <vt:lpstr>“Trykke på en knap” – bruge Solver i Excel</vt:lpstr>
      <vt:lpstr>Resultat fra Solver</vt:lpstr>
      <vt:lpstr>Antagelser for LP</vt:lpstr>
      <vt:lpstr>Afslutning i fællesskab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Lineær Progranmmering</dc:title>
  <dc:creator>Christian Larsen</dc:creator>
  <cp:lastModifiedBy>Christian Larsen</cp:lastModifiedBy>
  <cp:revision>20</cp:revision>
  <dcterms:created xsi:type="dcterms:W3CDTF">2023-09-22T10:40:56Z</dcterms:created>
  <dcterms:modified xsi:type="dcterms:W3CDTF">2023-10-18T09:42:54Z</dcterms:modified>
</cp:coreProperties>
</file>