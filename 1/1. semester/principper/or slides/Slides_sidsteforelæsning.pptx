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238C7-4A81-182C-2F06-C0D5DE35C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21018-0966-4D92-161D-657B539C0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FD556-F9B0-9D87-3E22-86B433D80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74F71-794D-1C79-640B-3CA451B1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3629C-1985-685B-44ED-6C80CE7E0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690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7205-93B2-247C-E79C-21656CE3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37D84-D958-DFD7-05D1-30653395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BD202-6995-B658-93BD-B6850CC4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B100A-AF58-34A3-4097-F902FB62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B6411-45C5-4D0D-D5C9-F8EFC5018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3684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FD53F-7387-2CA9-E9B1-8B3A583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A0D4A-CCD2-AEC6-6411-667ED921B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57BB7-2722-8E0D-BC82-DB04641F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E474A-7655-EDE6-7866-BBE4B339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674A6-EB1D-ACA2-66ED-C5430A1D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143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7CE7-2FAA-F409-DFA4-2B2256D5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F717-3715-D54E-7EB2-1F1C3B07F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57EA0-9A07-DB2C-A8E6-5B3DF7660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A4114-F2FC-1CAA-83D6-0D55A9B5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1CEC9-4EA2-FA59-9816-391B28A7E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B7744-AEE7-170D-E8FB-830012C0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12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3C70-6EB5-FAFF-D606-886527E6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00ADA-A69B-86A8-5655-B65B6943B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6BBA7-B6E7-CD82-2644-984A0010A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76389-D1D2-BFB0-A513-65542DAC0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02E67F-915D-7FDC-F864-A501A4349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C8B76-9081-9998-B66F-5EDEAAAF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C8341-68E8-2D2F-F9FC-E9ACCAAFD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45B1B0-BDE5-E015-0B8D-CDF32D4A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1316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5624B-A45D-845D-9A6A-213737A3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E53B8-DF76-339A-38C3-AAC25D4C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C64A0-8663-0980-3747-43E95E0F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3803E-EB25-9CE8-A8A2-0C033F9C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1426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8B1E8-7A0B-F988-B823-A1697CB1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EBEB6-1996-2753-607A-C52529CC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AFCB1-B3F1-6E8E-1646-0F9D890B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4578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80E6-1FD5-0DE4-1087-204F77B5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6689B-B787-CBD8-B9ED-6BD9D2D2B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5B931-AB60-5DB4-344B-B6FAA4B88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3FDFA-2D02-F957-35EE-A57F15D4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6A8CA-0EDD-E204-3331-ECD18AA5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8E7DB-899A-2FD1-636B-8FC56A4E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088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EA64-D602-2C43-FA4D-C3D456B2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180EE-B234-2E4F-7679-2D93E9E1E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35133-DEF1-2DC1-3E50-90EE02AE2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5EF10-5B0E-9122-F61F-E65B491D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AE91D-7EEF-9BF6-61D1-94339E61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AD016-5837-ACAE-F0E5-299595CC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609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E10B-4A23-9933-8C53-AD6D981A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16A89-C721-A1DA-C424-04754E4C0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31264-C73D-600F-EACE-748FEBE7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F96AB-BC13-814E-1D9A-7874EF37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04A73-72DE-1AFC-45CB-E5A3A2A8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081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A3DB4A-7EA4-A681-6573-A5EFDBDD4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39A1F-F48C-7502-D030-B3324BAC8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15C55-9EDB-0065-93EF-B6300B3F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6ECB2-2B62-641C-7073-F20071A7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F9D48-E756-5285-BA40-86E9863C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001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A7752-65D1-28FE-E6D3-2C8EEAA6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065D2-42FF-46D2-307B-7818EF5EA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6A930-90F9-10E5-84EA-E52F9DFEF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3CA3D-1582-4A50-B81B-294658A454C0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BAFAF-8A55-9B4E-6BE7-241B27C34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CC6EF-BBDE-6CC7-67C8-FFCB3BF0D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1E020-3668-464B-85EC-B97C6C79F63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973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forms.org/Explore/Operations-Research-Analytic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6F694-E3BD-9D75-C5E6-1E24524C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Sidste</a:t>
            </a:r>
            <a:r>
              <a:rPr lang="en-US" b="1" dirty="0"/>
              <a:t> </a:t>
            </a:r>
            <a:r>
              <a:rPr lang="en-US" b="1" dirty="0" err="1"/>
              <a:t>forelæsning</a:t>
            </a:r>
            <a:r>
              <a:rPr lang="en-US" b="1" dirty="0"/>
              <a:t>!!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7FB7F-42BF-81EB-E98A-964D336F5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6292"/>
            <a:ext cx="12192000" cy="536170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Lidt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opsamling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afrunding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Agenda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70C0"/>
                </a:solidFill>
              </a:rPr>
              <a:t>Hvad</a:t>
            </a:r>
            <a:r>
              <a:rPr lang="en-US" dirty="0">
                <a:solidFill>
                  <a:srgbClr val="0070C0"/>
                </a:solidFill>
              </a:rPr>
              <a:t> er simulation </a:t>
            </a:r>
            <a:r>
              <a:rPr lang="en-US" dirty="0" err="1">
                <a:solidFill>
                  <a:srgbClr val="0070C0"/>
                </a:solidFill>
              </a:rPr>
              <a:t>og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hvorfor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så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populært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Model versus </a:t>
            </a:r>
            <a:r>
              <a:rPr lang="en-US" dirty="0" err="1">
                <a:solidFill>
                  <a:srgbClr val="0070C0"/>
                </a:solidFill>
              </a:rPr>
              <a:t>virkelighed</a:t>
            </a:r>
            <a:r>
              <a:rPr lang="en-US" dirty="0">
                <a:solidFill>
                  <a:srgbClr val="0070C0"/>
                </a:solidFill>
              </a:rPr>
              <a:t>: Model </a:t>
            </a:r>
            <a:r>
              <a:rPr lang="en-US" dirty="0" err="1">
                <a:solidFill>
                  <a:srgbClr val="0070C0"/>
                </a:solidFill>
              </a:rPr>
              <a:t>verifikation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validering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70C0"/>
                </a:solidFill>
              </a:rPr>
              <a:t>Hvorfor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bruges</a:t>
            </a:r>
            <a:r>
              <a:rPr lang="en-US" dirty="0">
                <a:solidFill>
                  <a:srgbClr val="0070C0"/>
                </a:solidFill>
              </a:rPr>
              <a:t> term Business Analytics nu </a:t>
            </a:r>
            <a:r>
              <a:rPr lang="en-US" dirty="0" err="1">
                <a:solidFill>
                  <a:srgbClr val="0070C0"/>
                </a:solidFill>
              </a:rPr>
              <a:t>også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sammen</a:t>
            </a:r>
            <a:r>
              <a:rPr lang="en-US" dirty="0">
                <a:solidFill>
                  <a:srgbClr val="0070C0"/>
                </a:solidFill>
              </a:rPr>
              <a:t> med (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stedet</a:t>
            </a:r>
            <a:r>
              <a:rPr lang="en-US" dirty="0">
                <a:solidFill>
                  <a:srgbClr val="0070C0"/>
                </a:solidFill>
              </a:rPr>
              <a:t> for) OR 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da-DK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528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CCE3-25A4-18F3-7EF8-C4FB3F66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Hvad</a:t>
            </a:r>
            <a:r>
              <a:rPr lang="en-US" b="1" dirty="0"/>
              <a:t> er simulation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7ED61-BF2D-30E7-A9EE-10538042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Fra HL </a:t>
            </a:r>
            <a:r>
              <a:rPr lang="en-US" dirty="0" err="1"/>
              <a:t>Kapitel</a:t>
            </a:r>
            <a:r>
              <a:rPr lang="en-US" dirty="0"/>
              <a:t> 20: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52B8E-727A-7F81-1E46-78D94DF9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86" y="2802504"/>
            <a:ext cx="7665396" cy="32101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5CA435-D3CD-C283-4C41-91C34E7AAAF4}"/>
              </a:ext>
            </a:extLst>
          </p:cNvPr>
          <p:cNvSpPr txBox="1"/>
          <p:nvPr/>
        </p:nvSpPr>
        <p:spPr>
          <a:xfrm>
            <a:off x="8895347" y="2141621"/>
            <a:ext cx="23421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Det </a:t>
            </a:r>
            <a:r>
              <a:rPr lang="en-US" dirty="0" err="1">
                <a:solidFill>
                  <a:srgbClr val="FF0000"/>
                </a:solidFill>
              </a:rPr>
              <a:t>perfide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spørgsmål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hvis</a:t>
            </a:r>
            <a:r>
              <a:rPr lang="en-US" dirty="0">
                <a:solidFill>
                  <a:srgbClr val="FF0000"/>
                </a:solidFill>
              </a:rPr>
              <a:t> HL </a:t>
            </a:r>
            <a:r>
              <a:rPr lang="en-US" dirty="0" err="1">
                <a:solidFill>
                  <a:srgbClr val="FF0000"/>
                </a:solidFill>
              </a:rPr>
              <a:t>erkender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simulationsteknikkens</a:t>
            </a:r>
            <a:r>
              <a:rPr lang="en-US" dirty="0">
                <a:solidFill>
                  <a:srgbClr val="FF0000"/>
                </a:solidFill>
              </a:rPr>
              <a:t> store </a:t>
            </a:r>
            <a:r>
              <a:rPr lang="en-US" dirty="0" err="1">
                <a:solidFill>
                  <a:srgbClr val="FF0000"/>
                </a:solidFill>
              </a:rPr>
              <a:t>anvendelses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potentiale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hvorfor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først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noget</a:t>
            </a:r>
            <a:r>
              <a:rPr lang="en-US" dirty="0">
                <a:solidFill>
                  <a:srgbClr val="FF0000"/>
                </a:solidFill>
              </a:rPr>
              <a:t> om det I </a:t>
            </a:r>
            <a:r>
              <a:rPr lang="en-US" dirty="0" err="1">
                <a:solidFill>
                  <a:srgbClr val="FF0000"/>
                </a:solidFill>
              </a:rPr>
              <a:t>sidste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kapitel</a:t>
            </a:r>
            <a:r>
              <a:rPr lang="en-US" dirty="0">
                <a:solidFill>
                  <a:srgbClr val="FF0000"/>
                </a:solidFill>
              </a:rPr>
              <a:t>?  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615B9-42C6-2D43-522A-CB462E7B6629}"/>
              </a:ext>
            </a:extLst>
          </p:cNvPr>
          <p:cNvSpPr txBox="1"/>
          <p:nvPr/>
        </p:nvSpPr>
        <p:spPr>
          <a:xfrm>
            <a:off x="9079831" y="4444661"/>
            <a:ext cx="1804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Vi </a:t>
            </a:r>
            <a:r>
              <a:rPr lang="en-US" dirty="0" err="1">
                <a:solidFill>
                  <a:srgbClr val="0070C0"/>
                </a:solidFill>
              </a:rPr>
              <a:t>efterligner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virkeligheden</a:t>
            </a:r>
            <a:r>
              <a:rPr lang="en-US" dirty="0">
                <a:solidFill>
                  <a:srgbClr val="0070C0"/>
                </a:solidFill>
              </a:rPr>
              <a:t> I </a:t>
            </a:r>
            <a:r>
              <a:rPr lang="en-US" dirty="0" err="1">
                <a:solidFill>
                  <a:srgbClr val="0070C0"/>
                </a:solidFill>
              </a:rPr>
              <a:t>en</a:t>
            </a:r>
            <a:r>
              <a:rPr lang="en-US" dirty="0">
                <a:solidFill>
                  <a:srgbClr val="0070C0"/>
                </a:solidFill>
              </a:rPr>
              <a:t> computer model</a:t>
            </a:r>
            <a:endParaRPr lang="da-DK" dirty="0">
              <a:solidFill>
                <a:srgbClr val="0070C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B2DB0E-FABD-E6C8-CA56-14136AA6B860}"/>
              </a:ext>
            </a:extLst>
          </p:cNvPr>
          <p:cNvCxnSpPr/>
          <p:nvPr/>
        </p:nvCxnSpPr>
        <p:spPr>
          <a:xfrm flipH="1" flipV="1">
            <a:off x="6096000" y="3938337"/>
            <a:ext cx="2871537" cy="529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4294EC-A136-4DAA-D26D-BA834B8BB329}"/>
              </a:ext>
            </a:extLst>
          </p:cNvPr>
          <p:cNvCxnSpPr/>
          <p:nvPr/>
        </p:nvCxnSpPr>
        <p:spPr>
          <a:xfrm flipH="1">
            <a:off x="4668253" y="2727158"/>
            <a:ext cx="4227094" cy="44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507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8D00-5998-D1B3-07D3-03707002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690688"/>
          </a:xfrm>
        </p:spPr>
        <p:txBody>
          <a:bodyPr/>
          <a:lstStyle/>
          <a:p>
            <a:pPr algn="ctr"/>
            <a:r>
              <a:rPr lang="en-US" b="1" dirty="0" err="1"/>
              <a:t>Imitere</a:t>
            </a:r>
            <a:r>
              <a:rPr lang="en-US" b="1" dirty="0"/>
              <a:t> </a:t>
            </a:r>
            <a:r>
              <a:rPr lang="en-US" b="1" dirty="0" err="1"/>
              <a:t>virkeligheden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computer model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01E5-64AD-32CA-4196-4762AF5B2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8168"/>
            <a:ext cx="12192000" cy="52698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Man laver et </a:t>
            </a:r>
            <a:r>
              <a:rPr lang="en-US" dirty="0" err="1">
                <a:solidFill>
                  <a:srgbClr val="FF0000"/>
                </a:solidFill>
              </a:rPr>
              <a:t>kontrolleret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statistisk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eksperiment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computermodel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Og </a:t>
            </a:r>
            <a:r>
              <a:rPr lang="en-US" dirty="0" err="1">
                <a:solidFill>
                  <a:srgbClr val="00B050"/>
                </a:solidFill>
              </a:rPr>
              <a:t>ikke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så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fatalt</a:t>
            </a:r>
            <a:r>
              <a:rPr lang="en-US" dirty="0">
                <a:solidFill>
                  <a:srgbClr val="00B050"/>
                </a:solidFill>
              </a:rPr>
              <a:t> at </a:t>
            </a:r>
            <a:r>
              <a:rPr lang="en-US" dirty="0" err="1">
                <a:solidFill>
                  <a:srgbClr val="00B050"/>
                </a:solidFill>
              </a:rPr>
              <a:t>eksperimentere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når</a:t>
            </a:r>
            <a:r>
              <a:rPr lang="en-US" dirty="0">
                <a:solidFill>
                  <a:srgbClr val="00B050"/>
                </a:solidFill>
              </a:rPr>
              <a:t> det er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computermodellen</a:t>
            </a:r>
            <a:r>
              <a:rPr lang="en-US" dirty="0">
                <a:solidFill>
                  <a:srgbClr val="00B050"/>
                </a:solidFill>
              </a:rPr>
              <a:t>!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7030A0"/>
                </a:solidFill>
              </a:rPr>
              <a:t>Ofte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kaldet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næst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bedtste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løsning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da man </a:t>
            </a:r>
            <a:r>
              <a:rPr lang="en-US" dirty="0" err="1">
                <a:solidFill>
                  <a:srgbClr val="7030A0"/>
                </a:solidFill>
              </a:rPr>
              <a:t>ikke</a:t>
            </a:r>
            <a:r>
              <a:rPr lang="en-US" dirty="0">
                <a:solidFill>
                  <a:srgbClr val="7030A0"/>
                </a:solidFill>
              </a:rPr>
              <a:t> I same grad </a:t>
            </a:r>
            <a:r>
              <a:rPr lang="en-US" dirty="0" err="1">
                <a:solidFill>
                  <a:srgbClr val="7030A0"/>
                </a:solidFill>
              </a:rPr>
              <a:t>kan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optimere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vha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algorritmer</a:t>
            </a:r>
            <a:r>
              <a:rPr lang="en-US" dirty="0">
                <a:solidFill>
                  <a:srgbClr val="7030A0"/>
                </a:solidFill>
              </a:rPr>
              <a:t> men mere, men med mere </a:t>
            </a:r>
            <a:r>
              <a:rPr lang="en-US" dirty="0" err="1">
                <a:solidFill>
                  <a:srgbClr val="7030A0"/>
                </a:solidFill>
              </a:rPr>
              <a:t>realismegrad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kan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analysere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nogle</a:t>
            </a:r>
            <a:r>
              <a:rPr lang="en-US" dirty="0">
                <a:solidFill>
                  <a:srgbClr val="7030A0"/>
                </a:solidFill>
              </a:rPr>
              <a:t> given </a:t>
            </a:r>
            <a:r>
              <a:rPr lang="en-US" dirty="0" err="1">
                <a:solidFill>
                  <a:srgbClr val="7030A0"/>
                </a:solidFill>
              </a:rPr>
              <a:t>systemer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To </a:t>
            </a:r>
            <a:r>
              <a:rPr lang="en-US" b="1" dirty="0" err="1">
                <a:solidFill>
                  <a:srgbClr val="0070C0"/>
                </a:solidFill>
              </a:rPr>
              <a:t>eksempler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7030A0"/>
                </a:solidFill>
              </a:rPr>
              <a:t>Lagermodellen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fra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sidste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uge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som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en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simulationsmodel</a:t>
            </a:r>
            <a:r>
              <a:rPr lang="en-US" dirty="0">
                <a:solidFill>
                  <a:srgbClr val="7030A0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Er </a:t>
            </a:r>
            <a:r>
              <a:rPr lang="en-US" dirty="0" err="1">
                <a:solidFill>
                  <a:srgbClr val="7030A0"/>
                </a:solidFill>
              </a:rPr>
              <a:t>dimensionering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af</a:t>
            </a:r>
            <a:r>
              <a:rPr lang="en-US" dirty="0">
                <a:solidFill>
                  <a:srgbClr val="7030A0"/>
                </a:solidFill>
              </a:rPr>
              <a:t> et call center </a:t>
            </a:r>
            <a:r>
              <a:rPr lang="en-US" dirty="0" err="1">
                <a:solidFill>
                  <a:srgbClr val="7030A0"/>
                </a:solidFill>
              </a:rPr>
              <a:t>korrekt</a:t>
            </a:r>
            <a:r>
              <a:rPr lang="en-US" dirty="0">
                <a:solidFill>
                  <a:srgbClr val="7030A0"/>
                </a:solidFill>
              </a:rPr>
              <a:t>? (Se info </a:t>
            </a:r>
            <a:r>
              <a:rPr lang="en-US" dirty="0" err="1">
                <a:solidFill>
                  <a:srgbClr val="7030A0"/>
                </a:solidFill>
              </a:rPr>
              <a:t>materiale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Den </a:t>
            </a:r>
            <a:r>
              <a:rPr lang="en-US" dirty="0" err="1">
                <a:solidFill>
                  <a:srgbClr val="FF0000"/>
                </a:solidFill>
              </a:rPr>
              <a:t>første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laves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Excel (</a:t>
            </a:r>
            <a:r>
              <a:rPr lang="en-US" dirty="0" err="1">
                <a:solidFill>
                  <a:srgbClr val="FF0000"/>
                </a:solidFill>
              </a:rPr>
              <a:t>Oploadet</a:t>
            </a:r>
            <a:r>
              <a:rPr lang="en-US" dirty="0">
                <a:solidFill>
                  <a:srgbClr val="FF0000"/>
                </a:solidFill>
              </a:rPr>
              <a:t>). Den </a:t>
            </a:r>
            <a:r>
              <a:rPr lang="en-US" dirty="0" err="1">
                <a:solidFill>
                  <a:srgbClr val="FF0000"/>
                </a:solidFill>
              </a:rPr>
              <a:t>sidste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kræver</a:t>
            </a:r>
            <a:r>
              <a:rPr lang="en-US" dirty="0">
                <a:solidFill>
                  <a:srgbClr val="FF0000"/>
                </a:solidFill>
              </a:rPr>
              <a:t> et </a:t>
            </a:r>
            <a:r>
              <a:rPr lang="en-US" dirty="0" err="1">
                <a:solidFill>
                  <a:srgbClr val="FF0000"/>
                </a:solidFill>
              </a:rPr>
              <a:t>specielt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simuleringsværktøj</a:t>
            </a:r>
            <a:r>
              <a:rPr lang="en-US" dirty="0">
                <a:solidFill>
                  <a:srgbClr val="FF0000"/>
                </a:solidFill>
              </a:rPr>
              <a:t> Arena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meget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kort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blive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vist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klassen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108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1B95-E0D4-CF4B-CBFB-C6AAEB35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Fra </a:t>
            </a:r>
            <a:r>
              <a:rPr lang="en-US" b="1" dirty="0" err="1"/>
              <a:t>virkelighed</a:t>
            </a:r>
            <a:r>
              <a:rPr lang="en-US" b="1" dirty="0"/>
              <a:t> </a:t>
            </a:r>
            <a:r>
              <a:rPr lang="en-US" b="1" dirty="0" err="1"/>
              <a:t>til</a:t>
            </a:r>
            <a:r>
              <a:rPr lang="en-US" b="1" dirty="0"/>
              <a:t> model </a:t>
            </a:r>
            <a:r>
              <a:rPr lang="en-US" b="1" dirty="0" err="1"/>
              <a:t>og</a:t>
            </a:r>
            <a:r>
              <a:rPr lang="en-US" b="1" dirty="0"/>
              <a:t> </a:t>
            </a:r>
            <a:r>
              <a:rPr lang="en-US" b="1" dirty="0" err="1"/>
              <a:t>tilbage</a:t>
            </a:r>
            <a:r>
              <a:rPr lang="en-US" b="1" dirty="0"/>
              <a:t> </a:t>
            </a:r>
            <a:r>
              <a:rPr lang="en-US" b="1" dirty="0" err="1"/>
              <a:t>til</a:t>
            </a:r>
            <a:r>
              <a:rPr lang="en-US" b="1" dirty="0"/>
              <a:t> </a:t>
            </a:r>
            <a:r>
              <a:rPr lang="en-US" b="1" dirty="0" err="1"/>
              <a:t>virkelighed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BAF85-A75C-879F-AD3E-B8E626561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Læs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Kapitel</a:t>
            </a:r>
            <a:r>
              <a:rPr lang="en-US" dirty="0">
                <a:solidFill>
                  <a:srgbClr val="FF0000"/>
                </a:solidFill>
              </a:rPr>
              <a:t> 2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HL,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udgangspunkt</a:t>
            </a:r>
            <a:r>
              <a:rPr lang="en-US" dirty="0">
                <a:solidFill>
                  <a:srgbClr val="FF0000"/>
                </a:solidFill>
              </a:rPr>
              <a:t> i: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D5682-C7FC-51DE-B3C5-F6C4FDBA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44" y="2880069"/>
            <a:ext cx="9727660" cy="2188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03F964-B734-0BC1-F4EB-BCE7AD985A6A}"/>
              </a:ext>
            </a:extLst>
          </p:cNvPr>
          <p:cNvSpPr txBox="1"/>
          <p:nvPr/>
        </p:nvSpPr>
        <p:spPr>
          <a:xfrm>
            <a:off x="10154653" y="2880069"/>
            <a:ext cx="2037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Lærebøger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HL </a:t>
            </a:r>
            <a:r>
              <a:rPr lang="en-US" dirty="0" err="1">
                <a:solidFill>
                  <a:srgbClr val="FF0000"/>
                </a:solidFill>
              </a:rPr>
              <a:t>mest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optaget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2.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E7CCA2-EAE6-A9FB-B471-685D0E0274DB}"/>
              </a:ext>
            </a:extLst>
          </p:cNvPr>
          <p:cNvCxnSpPr>
            <a:stCxn id="8" idx="1"/>
          </p:cNvCxnSpPr>
          <p:nvPr/>
        </p:nvCxnSpPr>
        <p:spPr>
          <a:xfrm flipH="1">
            <a:off x="7146758" y="3203235"/>
            <a:ext cx="3007895" cy="225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9776F6-AEF2-D66A-8E95-A63925D8A21E}"/>
              </a:ext>
            </a:extLst>
          </p:cNvPr>
          <p:cNvSpPr txBox="1"/>
          <p:nvPr/>
        </p:nvSpPr>
        <p:spPr>
          <a:xfrm>
            <a:off x="10154653" y="4170947"/>
            <a:ext cx="17566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Model </a:t>
            </a:r>
            <a:r>
              <a:rPr lang="en-US" dirty="0" err="1">
                <a:solidFill>
                  <a:srgbClr val="00B0F0"/>
                </a:solidFill>
              </a:rPr>
              <a:t>verifikation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vedrører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primært</a:t>
            </a:r>
            <a:r>
              <a:rPr lang="en-US" dirty="0">
                <a:solidFill>
                  <a:srgbClr val="00B0F0"/>
                </a:solidFill>
              </a:rPr>
              <a:t> 3. 4. </a:t>
            </a:r>
            <a:r>
              <a:rPr lang="en-US" dirty="0" err="1">
                <a:solidFill>
                  <a:srgbClr val="00B0F0"/>
                </a:solidFill>
              </a:rPr>
              <a:t>ifht</a:t>
            </a:r>
            <a:r>
              <a:rPr lang="en-US" dirty="0">
                <a:solidFill>
                  <a:srgbClr val="00B0F0"/>
                </a:solidFill>
              </a:rPr>
              <a:t>. 2.</a:t>
            </a:r>
          </a:p>
          <a:p>
            <a:r>
              <a:rPr lang="en-US" dirty="0">
                <a:solidFill>
                  <a:srgbClr val="00B0F0"/>
                </a:solidFill>
              </a:rPr>
              <a:t>Er </a:t>
            </a:r>
            <a:r>
              <a:rPr lang="en-US" dirty="0" err="1">
                <a:solidFill>
                  <a:srgbClr val="00B0F0"/>
                </a:solidFill>
              </a:rPr>
              <a:t>vores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computermodel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teknisk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korrekt</a:t>
            </a:r>
            <a:r>
              <a:rPr lang="en-US" dirty="0">
                <a:solidFill>
                  <a:srgbClr val="00B0F0"/>
                </a:solidFill>
              </a:rPr>
              <a:t>  </a:t>
            </a:r>
            <a:endParaRPr lang="da-DK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88B44-A5D3-F062-F7CF-D7CC400C5AC3}"/>
              </a:ext>
            </a:extLst>
          </p:cNvPr>
          <p:cNvSpPr txBox="1"/>
          <p:nvPr/>
        </p:nvSpPr>
        <p:spPr>
          <a:xfrm>
            <a:off x="537409" y="5622758"/>
            <a:ext cx="5919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Validering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vedrører</a:t>
            </a:r>
            <a:r>
              <a:rPr lang="en-US" dirty="0">
                <a:solidFill>
                  <a:srgbClr val="00B050"/>
                </a:solidFill>
              </a:rPr>
              <a:t> det </a:t>
            </a:r>
            <a:r>
              <a:rPr lang="en-US" dirty="0" err="1">
                <a:solidFill>
                  <a:srgbClr val="00B050"/>
                </a:solidFill>
              </a:rPr>
              <a:t>helt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overordnede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 err="1">
                <a:solidFill>
                  <a:srgbClr val="00B050"/>
                </a:solidFill>
              </a:rPr>
              <a:t>Løser</a:t>
            </a:r>
            <a:r>
              <a:rPr lang="en-US" dirty="0">
                <a:solidFill>
                  <a:srgbClr val="00B050"/>
                </a:solidFill>
              </a:rPr>
              <a:t> vi </a:t>
            </a:r>
            <a:r>
              <a:rPr lang="en-US" dirty="0" err="1">
                <a:solidFill>
                  <a:srgbClr val="00B050"/>
                </a:solidFill>
              </a:rPr>
              <a:t>overhovedet</a:t>
            </a:r>
            <a:r>
              <a:rPr lang="en-US" dirty="0">
                <a:solidFill>
                  <a:srgbClr val="00B050"/>
                </a:solidFill>
              </a:rPr>
              <a:t> det vi </a:t>
            </a:r>
            <a:r>
              <a:rPr lang="en-US" dirty="0" err="1">
                <a:solidFill>
                  <a:srgbClr val="00B050"/>
                </a:solidFill>
              </a:rPr>
              <a:t>satte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os</a:t>
            </a:r>
            <a:r>
              <a:rPr lang="en-US" dirty="0">
                <a:solidFill>
                  <a:srgbClr val="00B050"/>
                </a:solidFill>
              </a:rPr>
              <a:t> for at </a:t>
            </a:r>
            <a:r>
              <a:rPr lang="en-US" dirty="0" err="1">
                <a:solidFill>
                  <a:srgbClr val="00B050"/>
                </a:solidFill>
              </a:rPr>
              <a:t>løse</a:t>
            </a:r>
            <a:r>
              <a:rPr lang="en-US" dirty="0">
                <a:solidFill>
                  <a:srgbClr val="00B050"/>
                </a:solidFill>
              </a:rPr>
              <a:t>. Eller </a:t>
            </a:r>
            <a:r>
              <a:rPr lang="en-US" dirty="0" err="1">
                <a:solidFill>
                  <a:srgbClr val="00B050"/>
                </a:solidFill>
              </a:rPr>
              <a:t>har</a:t>
            </a:r>
            <a:r>
              <a:rPr lang="en-US" dirty="0">
                <a:solidFill>
                  <a:srgbClr val="00B050"/>
                </a:solidFill>
              </a:rPr>
              <a:t> vi </a:t>
            </a:r>
            <a:r>
              <a:rPr lang="en-US" dirty="0" err="1">
                <a:solidFill>
                  <a:srgbClr val="00B050"/>
                </a:solidFill>
              </a:rPr>
              <a:t>forsimplet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så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meget</a:t>
            </a:r>
            <a:r>
              <a:rPr lang="en-US" dirty="0">
                <a:solidFill>
                  <a:srgbClr val="00B050"/>
                </a:solidFill>
              </a:rPr>
              <a:t>, for at </a:t>
            </a:r>
            <a:r>
              <a:rPr lang="en-US" dirty="0" err="1">
                <a:solidFill>
                  <a:srgbClr val="00B050"/>
                </a:solidFill>
              </a:rPr>
              <a:t>komme</a:t>
            </a:r>
            <a:r>
              <a:rPr lang="en-US" dirty="0">
                <a:solidFill>
                  <a:srgbClr val="00B050"/>
                </a:solidFill>
              </a:rPr>
              <a:t> i </a:t>
            </a:r>
            <a:r>
              <a:rPr lang="en-US" dirty="0" err="1">
                <a:solidFill>
                  <a:srgbClr val="00B050"/>
                </a:solidFill>
              </a:rPr>
              <a:t>mål</a:t>
            </a:r>
            <a:r>
              <a:rPr lang="en-US" dirty="0">
                <a:solidFill>
                  <a:srgbClr val="00B050"/>
                </a:solidFill>
              </a:rPr>
              <a:t> med </a:t>
            </a:r>
            <a:r>
              <a:rPr lang="en-US" dirty="0" err="1">
                <a:solidFill>
                  <a:srgbClr val="00B050"/>
                </a:solidFill>
              </a:rPr>
              <a:t>computermodel</a:t>
            </a:r>
            <a:r>
              <a:rPr lang="en-US" dirty="0">
                <a:solidFill>
                  <a:srgbClr val="00B050"/>
                </a:solidFill>
              </a:rPr>
              <a:t>, at dets </a:t>
            </a:r>
            <a:r>
              <a:rPr lang="en-US" dirty="0" err="1">
                <a:solidFill>
                  <a:srgbClr val="00B050"/>
                </a:solidFill>
              </a:rPr>
              <a:t>løsninger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ikke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rigtig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tåler</a:t>
            </a:r>
            <a:r>
              <a:rPr lang="en-US" dirty="0">
                <a:solidFill>
                  <a:srgbClr val="00B050"/>
                </a:solidFill>
              </a:rPr>
              <a:t> et </a:t>
            </a:r>
            <a:r>
              <a:rPr lang="en-US" dirty="0" err="1">
                <a:solidFill>
                  <a:srgbClr val="00B050"/>
                </a:solidFill>
              </a:rPr>
              <a:t>realitetstjek</a:t>
            </a:r>
            <a:endParaRPr lang="da-DK" dirty="0">
              <a:solidFill>
                <a:srgbClr val="00B050"/>
              </a:solidFill>
            </a:endParaRP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34C523F-B1D0-1DED-36BB-0604CE8950D3}"/>
              </a:ext>
            </a:extLst>
          </p:cNvPr>
          <p:cNvSpPr/>
          <p:nvPr/>
        </p:nvSpPr>
        <p:spPr>
          <a:xfrm>
            <a:off x="810126" y="4514763"/>
            <a:ext cx="344906" cy="34599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BEC667-70CA-3D15-C79D-5E246C1F979A}"/>
              </a:ext>
            </a:extLst>
          </p:cNvPr>
          <p:cNvCxnSpPr/>
          <p:nvPr/>
        </p:nvCxnSpPr>
        <p:spPr>
          <a:xfrm flipH="1">
            <a:off x="449179" y="3064042"/>
            <a:ext cx="705853" cy="274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277612-BFA8-6BC2-4BDA-54F435103C0F}"/>
              </a:ext>
            </a:extLst>
          </p:cNvPr>
          <p:cNvCxnSpPr>
            <a:stCxn id="15" idx="1"/>
          </p:cNvCxnSpPr>
          <p:nvPr/>
        </p:nvCxnSpPr>
        <p:spPr>
          <a:xfrm flipH="1">
            <a:off x="625642" y="4687761"/>
            <a:ext cx="184484" cy="1031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Left Brace 22">
            <a:extLst>
              <a:ext uri="{FF2B5EF4-FFF2-40B4-BE49-F238E27FC236}">
                <a16:creationId xmlns:a16="http://schemas.microsoft.com/office/drawing/2014/main" id="{45F77C0A-3C99-8CD4-D867-F522CA05C41C}"/>
              </a:ext>
            </a:extLst>
          </p:cNvPr>
          <p:cNvSpPr/>
          <p:nvPr/>
        </p:nvSpPr>
        <p:spPr>
          <a:xfrm>
            <a:off x="810126" y="3314408"/>
            <a:ext cx="513348" cy="10289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901B82-FC47-4C9A-8B01-BB1443A2580D}"/>
              </a:ext>
            </a:extLst>
          </p:cNvPr>
          <p:cNvCxnSpPr>
            <a:stCxn id="23" idx="1"/>
          </p:cNvCxnSpPr>
          <p:nvPr/>
        </p:nvCxnSpPr>
        <p:spPr>
          <a:xfrm>
            <a:off x="810126" y="3828904"/>
            <a:ext cx="9216190" cy="117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014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C463-0800-B201-BC75-E406584D7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Hvorfor</a:t>
            </a:r>
            <a:r>
              <a:rPr lang="en-US" b="1" dirty="0"/>
              <a:t> </a:t>
            </a:r>
            <a:r>
              <a:rPr lang="en-US" b="1" dirty="0" err="1"/>
              <a:t>bruges</a:t>
            </a:r>
            <a:r>
              <a:rPr lang="en-US" b="1" dirty="0"/>
              <a:t> term Business Analytics nu 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4FDFA-1083-533A-C64E-83B6F1A13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39516"/>
            <a:ext cx="12191999" cy="551848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En </a:t>
            </a:r>
            <a:r>
              <a:rPr lang="en-US" dirty="0" err="1">
                <a:solidFill>
                  <a:srgbClr val="FF0000"/>
                </a:solidFill>
              </a:rPr>
              <a:t>erkendelse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at alle OR </a:t>
            </a:r>
            <a:r>
              <a:rPr lang="en-US" dirty="0" err="1">
                <a:solidFill>
                  <a:srgbClr val="FF0000"/>
                </a:solidFill>
              </a:rPr>
              <a:t>projekter</a:t>
            </a:r>
            <a:r>
              <a:rPr lang="en-US" dirty="0">
                <a:solidFill>
                  <a:srgbClr val="FF0000"/>
                </a:solidFill>
              </a:rPr>
              <a:t> starter med at </a:t>
            </a:r>
            <a:r>
              <a:rPr lang="en-US" dirty="0" err="1">
                <a:solidFill>
                  <a:srgbClr val="FF0000"/>
                </a:solidFill>
              </a:rPr>
              <a:t>analysere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4000" dirty="0">
                <a:solidFill>
                  <a:srgbClr val="FF0000"/>
                </a:solidFill>
              </a:rPr>
              <a:t>DATA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tager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rigtig</a:t>
            </a:r>
            <a:r>
              <a:rPr lang="en-US" dirty="0">
                <a:solidFill>
                  <a:srgbClr val="FF0000"/>
                </a:solidFill>
              </a:rPr>
              <a:t> lang </a:t>
            </a:r>
            <a:r>
              <a:rPr lang="en-US" dirty="0" err="1">
                <a:solidFill>
                  <a:srgbClr val="FF0000"/>
                </a:solidFill>
              </a:rPr>
              <a:t>tid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Og DATA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være</a:t>
            </a:r>
            <a:r>
              <a:rPr lang="en-US" dirty="0">
                <a:solidFill>
                  <a:srgbClr val="FF0000"/>
                </a:solidFill>
              </a:rPr>
              <a:t> alt: </a:t>
            </a:r>
            <a:r>
              <a:rPr lang="en-US" dirty="0" err="1">
                <a:solidFill>
                  <a:srgbClr val="FF0000"/>
                </a:solidFill>
              </a:rPr>
              <a:t>hårde</a:t>
            </a:r>
            <a:r>
              <a:rPr lang="en-US" dirty="0">
                <a:solidFill>
                  <a:srgbClr val="FF0000"/>
                </a:solidFill>
              </a:rPr>
              <a:t> data </a:t>
            </a:r>
            <a:r>
              <a:rPr lang="en-US" dirty="0" err="1">
                <a:solidFill>
                  <a:srgbClr val="FF0000"/>
                </a:solidFill>
              </a:rPr>
              <a:t>fra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virksomhedens</a:t>
            </a:r>
            <a:r>
              <a:rPr lang="en-US" dirty="0">
                <a:solidFill>
                  <a:srgbClr val="FF0000"/>
                </a:solidFill>
              </a:rPr>
              <a:t> ERP system, data </a:t>
            </a:r>
            <a:r>
              <a:rPr lang="en-US" dirty="0" err="1">
                <a:solidFill>
                  <a:srgbClr val="FF0000"/>
                </a:solidFill>
              </a:rPr>
              <a:t>fra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sociale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medier</a:t>
            </a:r>
            <a:r>
              <a:rPr lang="en-US" dirty="0">
                <a:solidFill>
                  <a:srgbClr val="FF0000"/>
                </a:solidFill>
              </a:rPr>
              <a:t> etc.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a-DK" dirty="0">
                <a:solidFill>
                  <a:srgbClr val="0070C0"/>
                </a:solidFill>
              </a:rPr>
              <a:t>See</a:t>
            </a:r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hlinkClick r:id="rId2"/>
              </a:rPr>
              <a:t>https://www.informs.org/Explore/Operations-Research-Analytics</a:t>
            </a:r>
            <a:endParaRPr lang="da-DK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074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317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Sidste forelæsning!!</vt:lpstr>
      <vt:lpstr>Hvad er simulation</vt:lpstr>
      <vt:lpstr>Imitere virkeligheden i en computer model</vt:lpstr>
      <vt:lpstr>Fra virkelighed til model og tilbage til virkelighed</vt:lpstr>
      <vt:lpstr>Hvorfor bruges term Business Analytics nu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Sidste forelæsning!!</dc:title>
  <dc:creator>Christian Larsen</dc:creator>
  <cp:lastModifiedBy>Christian Larsen</cp:lastModifiedBy>
  <cp:revision>4</cp:revision>
  <dcterms:created xsi:type="dcterms:W3CDTF">2023-11-30T10:00:05Z</dcterms:created>
  <dcterms:modified xsi:type="dcterms:W3CDTF">2023-11-30T12:25:28Z</dcterms:modified>
</cp:coreProperties>
</file>